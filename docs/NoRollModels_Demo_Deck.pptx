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105ff25-24fe-dcd1-e090-b88de10c66b9}">
          <p14:sldIdLst>
            <p14:sldId id="256"/>
          </p14:sldIdLst>
        </p14:section>
        <p14:section name="Problem" id="{88d9153a-3c98-f375-740c-4c47bcb74388}">
          <p14:sldIdLst>
            <p14:sldId id="257"/>
          </p14:sldIdLst>
        </p14:section>
        <p14:section name="Solution" id="{ec293d98-bb36-c8e2-7291-e62dbef5f3b1}">
          <p14:sldIdLst>
            <p14:sldId id="258"/>
          </p14:sldIdLst>
        </p14:section>
        <p14:section name="Live demo" id="{ec6c7279-64bd-d1a6-5323-9812c49dd3d8}">
          <p14:sldIdLst>
            <p14:sldId id="259"/>
          </p14:sldIdLst>
        </p14:section>
        <p14:section name="Results" id="{8eff44f3-ca05-44f5-7111-8615d4016c42}">
          <p14:sldIdLst>
            <p14:sldId id="260"/>
          </p14:sldIdLst>
        </p14:section>
        <p14:section name="Features" id="{da4dca28-0dbb-7304-c8d8-29f05ab3c9a5}">
          <p14:sldIdLst>
            <p14:sldId id="261"/>
            <p14:sldId id="262"/>
            <p14:sldId id="263"/>
            <p14:sldId id="264"/>
          </p14:sldIdLst>
        </p14:section>
        <p14:section name="Close" id="{d526f39e-0745-9191-6a98-611205413e8a}">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Fastest</c:v>
                </c:pt>
              </c:strCache>
            </c:strRef>
          </c:tx>
          <c:spPr>
            <a:solidFill>
              <a:srgbClr val="64748B"/>
            </a:solidFill>
            <a:effectLst/>
          </c:spPr>
          <c:invertIfNegative val="0"/>
          <c:dLbls>
            <c:numFmt formatCode="0.0" sourceLinked="0"/>
            <c:txPr>
              <a:bodyPr/>
              <a:lstStyle/>
              <a:p>
                <a:pPr>
                  <a:defRPr b="0" i="0" strike="noStrike" sz="1300" u="none">
                    <a:solidFill>
                      <a:srgbClr val="13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Ride inside flagged areas (%)</c:v>
                  </c:pt>
                  <c:pt idx="1">
                    <c:v>Average street danger (0–100)</c:v>
                  </c:pt>
                  <c:pt idx="2">
                    <c:v>Ride on protected lanes (%)</c:v>
                  </c:pt>
                </c:lvl>
              </c:multiLvlStrCache>
            </c:multiLvlStrRef>
          </c:cat>
          <c:val>
            <c:numRef>
              <c:f>Sheet1!$B$2:$B$4</c:f>
              <c:numCache>
                <c:formatCode>General</c:formatCode>
                <c:ptCount val="3"/>
                <c:pt idx="0">
                  <c:v>30.2</c:v>
                </c:pt>
                <c:pt idx="1">
                  <c:v>63.2</c:v>
                </c:pt>
                <c:pt idx="2">
                  <c:v>14.2</c:v>
                </c:pt>
              </c:numCache>
            </c:numRef>
          </c:val>
        </c:ser>
        <c:ser>
          <c:idx val="1"/>
          <c:order val="1"/>
          <c:tx>
            <c:strRef>
              <c:f>Sheet1!$C$1</c:f>
              <c:strCache>
                <c:ptCount val="1"/>
                <c:pt idx="0">
                  <c:v>Safest + bike lanes</c:v>
                </c:pt>
              </c:strCache>
            </c:strRef>
          </c:tx>
          <c:spPr>
            <a:solidFill>
              <a:srgbClr val="0E9F6E"/>
            </a:solidFill>
            <a:effectLst/>
          </c:spPr>
          <c:invertIfNegative val="0"/>
          <c:dLbls>
            <c:numFmt formatCode="0.0" sourceLinked="0"/>
            <c:txPr>
              <a:bodyPr/>
              <a:lstStyle/>
              <a:p>
                <a:pPr>
                  <a:defRPr b="0" i="0" strike="noStrike" sz="1300" u="none">
                    <a:solidFill>
                      <a:srgbClr val="13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Ride inside flagged areas (%)</c:v>
                  </c:pt>
                  <c:pt idx="1">
                    <c:v>Average street danger (0–100)</c:v>
                  </c:pt>
                  <c:pt idx="2">
                    <c:v>Ride on protected lanes (%)</c:v>
                  </c:pt>
                </c:lvl>
              </c:multiLvlStrCache>
            </c:multiLvlStrRef>
          </c:cat>
          <c:val>
            <c:numRef>
              <c:f>Sheet1!$C$2:$C$4</c:f>
              <c:numCache>
                <c:formatCode>General</c:formatCode>
                <c:ptCount val="3"/>
                <c:pt idx="0">
                  <c:v>11.4</c:v>
                </c:pt>
                <c:pt idx="1">
                  <c:v>44.3</c:v>
                </c:pt>
                <c:pt idx="2">
                  <c:v>29.6</c:v>
                </c:pt>
              </c:numCache>
            </c:numRef>
          </c:val>
        </c:ser>
        <c:dLbls>
          <c:numFmt formatCode="0.0" sourceLinked="0"/>
          <c:txPr>
            <a:bodyPr/>
            <a:lstStyle/>
            <a:p>
              <a:pPr>
                <a:defRPr b="0" i="0" strike="noStrike" sz="1300" u="none">
                  <a:solidFill>
                    <a:srgbClr val="1320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B4A57"/>
                </a:solidFill>
                <a:latin typeface="+mn-lt"/>
              </a:defRPr>
            </a:pPr>
            <a:endParaRPr lang="en-US"/>
          </a:p>
        </c:txPr>
        <c:crossAx val="2094734552"/>
        <c:crosses val="autoZero"/>
        <c:auto val="1"/>
        <c:lblAlgn val="ctr"/>
        <c:noMultiLvlLbl val="1"/>
      </c:catAx>
      <c:valAx>
        <c:axId val="2094734552"/>
        <c:scaling>
          <c:orientation val="minMax"/>
          <c:max val="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B4A5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OPEN — say it slowly, look at the judges, not the screen.
"Every map app will tell you the fastest way to bike across San Francisco. We built the one that tells you the safest way — and proves it, street by street. We're No Roll Models."
(The picture is our 3D preview of a real route: real aerial photos, real terrain, the city's own LiDAR buildings, and the route riding a protected bike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[0:15–0:50] THE PROBLEM → THE INSIGHT (impact)
"In 2024, 1,103 cyclists were killed on US roads and almost 53,000 were injured — injuries went up 6%. 81% of cyclist deaths happen in cities.
But here's the insight our whole product is built on. San Francisco's own Vision Zero analysis found that just 4% of the city's street miles hold 55% of the severe and fatal bike injuries. Danger isn't everywhere. It's concentrated. And anything concentrated can be routed around.
Fastest-first navigation does the opposite. This is the fastest route from Pacific Heights to the Mission — more than half of it runs inside the neighbourhoods and crash hotspots you see in red and orange."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[0:50–1:20] HOW IT WORKS (practical + technical depth)
"So we didn't just wrap Google Directions. We built our own router on San Francisco's real open data: 3,558 real bike-injury crashes, SFMTA's official survey of every bike lane — which corrected OpenStreetMap on 32,000 street segments — every highway and fast arterial, every traffic signal, and terrain elevation at every intersection.
That becomes a 211,000-segment street graph we search in about a tenth of a second. You type two addresses and get three honest options: Fastest, Safest, and Safest plus bike lanes. Let me show you."
→ SWITCH TO THE LIVE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[1:20–3:20] LIVE DEMO — about 2 minutes. Plan one trip before you go on stage so the engine is warm. Type the addresses exactly as below and check the suggestion before pressing Enter.
1. (25s) Type "Pacific Heights" → first suggestion. Type "Mission Street &amp; 17th Street" → pick the 17th Street / Mission one. Leave it on Fastest. Click "Neighborhood view".
   SAY: "Here's the fastest route — and here are the 17 flagged neighbourhoods and the clusters of real crashes. The fastest route runs straight through SoMa and Civic Center, both Severe."
2. (35s) Change to "Ocean Beach" → "Ferry Building". Click "Safest + bike lanes".
   SAY: "Same trip, safer route. Average danger drops from 62 to 32, protected lanes go from 11% to 53% of the ride, and it never enters a flagged area. And look — it doesn't hide the cost: 26 minutes longer, and it tells you it still crossed 4 crash hotspots because no route avoids them all. A safety app that over-promises is worse than none."
   Optional: click "Compare routes side by side" for 5 seconds, then Close.
3. (20s) Click "Safest", point at "Steepest climb 21.8%". Turn on "Avoid hills".
   SAY: "This is San Francisco — the safest street can be a 22% wall. Avoid hills takes the steepest climb from 21.8% to 8.6%, halves the climbing, and the ride is actually 7 minutes quicker."
4. (25s) In the assistant box type: "Flat ride please, with boba and a park on the way" → Send.
   SAY: "You can just say what ride you want. The AI doesn't draw a route itself — it uses the same controls you do, so it can't break a safety rule, and every change shows up right here where you can undo it." Point at the new "For you ✨" card and the numbered stops.
5. (25s) Change to "Marina Green" → "Dolores Park". Click "Safest + bike lanes" → "View 3D tour" → press play.
   SAY: "And before you ride, you can preview it: real aerial photos, real terrain, the city's own LiDAR buildings. It calls out protected lanes as you reach them and shows the slope ahead." Close tour → "Confirm route" → point at turn-by-turn and "Start navigation".
→ BACK TO SLIDES (go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[3:20–3:45] RESULTS (impact)
"That wasn't one cherry-picked trip. We ran 8 cross-town trips through the router. On average, Safest plus bike lanes cuts the time you spend inside flagged areas by 62%, lowers average street danger by 30%, and doubles the share of the ride on protected lanes.
The cost is about 28% more ride time — and we show that cost on every single route, so riders choose with their eyes open."
(If asked: the 8 trips are Ocean Beach→Ferry Building, Pacific Heights→Mission, Marina Green→Dolores Park, Richmond→Potrero Hill, Noe Valley→North Beach, Ocean Beach→Mission, Marina Green→Potrero Hill, Richmond→Ferry Building. On a few short trips Safest matches Fastest closely — when there's no safer street nearby, we say so rather than inventing a detour.)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DEMO STEPS 2–3 (practical). Use if the live demo fails, or in Q&amp;A.
"Every route comes with a checklist of what it did and didn't do. Our rules are simple enough to read: never a Severe area; avoid the others unless the detour gets more than 40% longer, and then tell you where and why. And it only says it 'avoided' somewhere if the fastest route actually goes there — no fake safety claims.
San Francisco also has hills. Left alone, the safest route here climbs a 21.8% wall on Green Street. Turn on Avoid hills and the steepest climb is 8.6%, total climbing halves, and the ride is 7 minutes quicker. Low danger isn't the same as rideable."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DEMO STEP 4 (creative).
"Routing apps make you learn their settings. Ours lets you just say it: 'Flat ride please, with boba and a park on the way.' The assistant builds a 'For you' ride — Safest rules, avoids hills, with a boba stop and a park pinned on the map.
The creative part is how it's wired: the AI never draws a route. It can only use the same controls a rider uses, so it physically can't talk its way around a safety rule — and everything it changes is right there in the sidebar to inspect or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DEMO STEP 5 (creative — your wow moment; let the image breathe for a second before talking).
"Before you ride a route, you can fly it. Real aerial photography, real terrain, and the city's own LiDAR building heights. The tour calls out protected bike lanes as you reach them, and the panel shows the slope right here and what's coming — on the right that's a 17.7% block on Pierce Street, so you know before you're halfway up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RECAP (practical).
"And it's not a slideshow — you can ride it today. Confirm a route and you get turn-by-turn directions with live GPS in a phone browser. Miss a turn and it reroutes using the same safety choice you picked. You can compare every route side by side, save rides, and add photos from the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[3:45–4:10] CREDIBILITY + NEXT (impact at scale)
"This is built like a product: 411 automated tests, all passing, three routes in about a tenth of a second, and it runs entirely on open data — no paid datasets.
That's also why it scales. Next we'll switch from crash counts to crash rates, so a busy, well-protected lane isn't punished for being popular; add rider near-miss reports; and bring it to the next city — any city with open crash and bike-lane data, starting with Vision Zero cities."
(Honest answers if asked: the 17 neighbourhood risk tiers are hand-set today; the cars in the 3D tour are illustrative, and the app says so on screen; GPS needs the page open — background GPS needs the native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[4:10–4:20] CLOSE — stop talking after the last line.
"Google will always find you the fastest route. We think the safe route should be the default — with the trade-offs in plain sight. We're No Roll Models.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3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4023360"/>
            <a:ext cx="5303520" cy="12801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ONTENT">
    <p:bg>
      <p:bgPr>
        <a:solidFill>
          <a:srgbClr val="1320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640080" y="6355080"/>
            <a:ext cx="2743200" cy="274320"/>
          </a:xfrm>
          <a:prstGeom prst="rect">
            <a:avLst/>
          </a:prstGeom>
          <a:noFill/>
          <a:ln/>
        </p:spPr>
        <p:txBody>
          <a:bodyPr wrap="square" lIns="0" tIns="0" rIns="0" bIns="0" rtlCol="0" anchor="ctr"/>
          <a:lstStyle/>
          <a:p>
            <a:pPr indent="0" marL="0">
              <a:buNone/>
            </a:pPr>
            <a:r>
              <a:rPr lang="en-US" sz="1000" dirty="0">
                <a:solidFill>
                  <a:srgbClr val="64748B"/>
                </a:solidFill>
              </a:rPr>
              <a:t>No Roll Models</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4.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2011680"/>
          </a:xfrm>
          <a:prstGeom prst="rect">
            <a:avLst/>
          </a:prstGeom>
          <a:noFill/>
          <a:ln/>
        </p:spPr>
        <p:txBody>
          <a:bodyPr wrap="square" lIns="0" tIns="0" rIns="0" bIns="0" rtlCol="0" anchor="b"/>
          <a:lstStyle/>
          <a:p>
            <a:pPr algn="l" indent="0" marL="0">
              <a:buNone/>
            </a:pPr>
            <a:r>
              <a:rPr lang="en-US" sz="4400" b="1" dirty="0">
                <a:solidFill>
                  <a:schemeClr val="bg1"/>
                </a:solidFill>
              </a:rPr>
              <a:t>No Roll Models</a:t>
            </a:r>
            <a:endParaRPr lang="en-US" sz="4400" dirty="0"/>
          </a:p>
        </p:txBody>
      </p:sp>
      <p:sp>
        <p:nvSpPr>
          <p:cNvPr id="3" name="Text 0"/>
          <p:cNvSpPr/>
          <p:nvPr>
            <p:ph idx="101" type="body" hasCustomPrompt="1"/>
          </p:nvPr>
        </p:nvSpPr>
        <p:spPr>
          <a:xfrm>
            <a:off x="640080" y="4023360"/>
            <a:ext cx="5303520" cy="1280160"/>
          </a:xfrm>
          <a:prstGeom prst="rect">
            <a:avLst/>
          </a:prstGeom>
          <a:noFill/>
          <a:ln/>
        </p:spPr>
        <p:txBody>
          <a:bodyPr wrap="square" lIns="0" tIns="0" rIns="0" bIns="0" rtlCol="0" anchor="t"/>
          <a:lstStyle/>
          <a:p>
            <a:pPr indent="0" marL="0">
              <a:buNone/>
            </a:pPr>
            <a:r>
              <a:rPr lang="en-US" sz="2000" dirty="0">
                <a:solidFill>
                  <a:schemeClr val="bg2"/>
                </a:solidFill>
              </a:rPr>
              <a:t>The bike map that routes San Francisco for safety, not just speed</a:t>
            </a:r>
            <a:endParaRPr lang="en-US" sz="2000" dirty="0"/>
          </a:p>
        </p:txBody>
      </p:sp>
      <p:sp>
        <p:nvSpPr>
          <p:cNvPr id="4" name="Text 2"/>
          <p:cNvSpPr txBox="1"/>
          <p:nvPr/>
        </p:nvSpPr>
        <p:spPr>
          <a:xfrm>
            <a:off x="640080" y="5669280"/>
            <a:ext cx="5486400" cy="365760"/>
          </a:xfrm>
          <a:prstGeom prst="rect">
            <a:avLst/>
          </a:prstGeom>
          <a:noFill/>
          <a:ln/>
        </p:spPr>
        <p:txBody>
          <a:bodyPr wrap="square" lIns="0" tIns="0" rIns="0" bIns="0" rtlCol="0" anchor="ctr"/>
          <a:lstStyle/>
          <a:p>
            <a:pPr indent="0" marL="0">
              <a:buNone/>
            </a:pPr>
            <a:r>
              <a:rPr lang="en-US" sz="1400" dirty="0">
                <a:solidFill>
                  <a:srgbClr val="0E9F6E"/>
                </a:solidFill>
              </a:rPr>
              <a:t>Real city crash data · our own router · AI you can talk to</a:t>
            </a:r>
            <a:endParaRPr lang="en-US" sz="1400" dirty="0"/>
          </a:p>
        </p:txBody>
      </p:sp>
      <p:sp>
        <p:nvSpPr>
          <p:cNvPr id="5" name="3D tour on a protected path frame"/>
          <p:cNvSpPr/>
          <p:nvPr/>
        </p:nvSpPr>
        <p:spPr>
          <a:xfrm>
            <a:off x="6510528" y="978408"/>
            <a:ext cx="5129784" cy="3794532"/>
          </a:xfrm>
          <a:prstGeom prst="roundRect">
            <a:avLst>
              <a:gd name="adj" fmla="val 2892"/>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6" name="3D tour on a protected path" descr="3D tour on a protected path">    </p:cNvPr>
          <p:cNvPicPr>
            <a:picLocks noChangeAspect="1"/>
          </p:cNvPicPr>
          <p:nvPr/>
        </p:nvPicPr>
        <p:blipFill>
          <a:blip r:embed="rId1"/>
          <a:stretch>
            <a:fillRect/>
          </a:stretch>
        </p:blipFill>
        <p:spPr>
          <a:xfrm>
            <a:off x="6583680" y="1051560"/>
            <a:ext cx="4983480" cy="36482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riterion tag"/>
          <p:cNvSpPr txBox="1"/>
          <p:nvPr/>
        </p:nvSpPr>
        <p:spPr>
          <a:xfrm>
            <a:off x="640080" y="320040"/>
            <a:ext cx="1371600" cy="329184"/>
          </a:xfrm>
          <a:prstGeom prst="roundRect">
            <a:avLst>
              <a:gd name="adj" fmla="val 41667"/>
            </a:avLst>
          </a:prstGeom>
          <a:solidFill>
            <a:schemeClr val="accent1"/>
          </a:solidFill>
          <a:ln/>
        </p:spPr>
        <p:txBody>
          <a:bodyPr wrap="square" lIns="0" tIns="0" rIns="0" bIns="0" rtlCol="0" anchor="ctr"/>
          <a:lstStyle/>
          <a:p>
            <a:pPr algn="ctr" indent="0" marL="0">
              <a:buNone/>
            </a:pPr>
            <a:r>
              <a:rPr lang="en-US" sz="1200" b="1" spc="200" kern="0" dirty="0">
                <a:solidFill>
                  <a:schemeClr val="bg1"/>
                </a:solidFill>
              </a:rPr>
              <a:t>IMPACT</a:t>
            </a:r>
            <a:endParaRPr lang="en-US" sz="1200" dirty="0"/>
          </a:p>
        </p:txBody>
      </p:sp>
      <p:sp>
        <p:nvSpPr>
          <p:cNvPr id="3"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Bike danger is concentrated — so route around it</a:t>
            </a:r>
            <a:endParaRPr lang="en-US" sz="3200" dirty="0"/>
          </a:p>
        </p:txBody>
      </p:sp>
      <p:sp>
        <p:nvSpPr>
          <p:cNvPr id="4" name="Text 2"/>
          <p:cNvSpPr txBox="1"/>
          <p:nvPr/>
        </p:nvSpPr>
        <p:spPr>
          <a:xfrm>
            <a:off x="640080" y="1828800"/>
            <a:ext cx="4754880" cy="1143000"/>
          </a:xfrm>
          <a:prstGeom prst="rect">
            <a:avLst/>
          </a:prstGeom>
          <a:noFill/>
          <a:ln/>
        </p:spPr>
        <p:txBody>
          <a:bodyPr wrap="square" lIns="0" tIns="0" rIns="0" bIns="0" rtlCol="0" anchor="t"/>
          <a:lstStyle/>
          <a:p>
            <a:pPr indent="0" marL="0">
              <a:spcAft>
                <a:spcPts val="200"/>
              </a:spcAft>
              <a:buNone/>
            </a:pPr>
            <a:r>
              <a:rPr lang="en-US" sz="4000" b="1" dirty="0">
                <a:solidFill>
                  <a:schemeClr val="accent3"/>
                </a:solidFill>
              </a:rPr>
              <a:t>1,103</a:t>
            </a:r>
            <a:endParaRPr lang="en-US" sz="4000" dirty="0"/>
          </a:p>
          <a:p>
            <a:pPr indent="0" marL="0">
              <a:spcAft>
                <a:spcPts val="200"/>
              </a:spcAft>
              <a:buNone/>
            </a:pPr>
            <a:r>
              <a:rPr lang="en-US" sz="1500" dirty="0">
                <a:solidFill>
                  <a:schemeClr val="tx2"/>
                </a:solidFill>
              </a:rPr>
              <a:t>cyclists killed on US roads in 2024</a:t>
            </a:r>
            <a:endParaRPr lang="en-US" sz="4000" dirty="0"/>
          </a:p>
        </p:txBody>
      </p:sp>
      <p:sp>
        <p:nvSpPr>
          <p:cNvPr id="5" name="Text 3"/>
          <p:cNvSpPr txBox="1"/>
          <p:nvPr/>
        </p:nvSpPr>
        <p:spPr>
          <a:xfrm>
            <a:off x="640080" y="3017520"/>
            <a:ext cx="4754880" cy="1143000"/>
          </a:xfrm>
          <a:prstGeom prst="rect">
            <a:avLst/>
          </a:prstGeom>
          <a:noFill/>
          <a:ln/>
        </p:spPr>
        <p:txBody>
          <a:bodyPr wrap="square" lIns="0" tIns="0" rIns="0" bIns="0" rtlCol="0" anchor="t"/>
          <a:lstStyle/>
          <a:p>
            <a:pPr indent="0" marL="0">
              <a:spcAft>
                <a:spcPts val="200"/>
              </a:spcAft>
              <a:buNone/>
            </a:pPr>
            <a:r>
              <a:rPr lang="en-US" sz="4000" b="1" dirty="0">
                <a:solidFill>
                  <a:schemeClr val="accent3"/>
                </a:solidFill>
              </a:rPr>
              <a:t>52,887</a:t>
            </a:r>
            <a:endParaRPr lang="en-US" sz="4000" dirty="0"/>
          </a:p>
          <a:p>
            <a:pPr indent="0" marL="0">
              <a:spcAft>
                <a:spcPts val="200"/>
              </a:spcAft>
              <a:buNone/>
            </a:pPr>
            <a:r>
              <a:rPr lang="en-US" sz="1500" dirty="0">
                <a:solidFill>
                  <a:schemeClr val="tx2"/>
                </a:solidFill>
              </a:rPr>
              <a:t>cyclists injured in 2024 — up 6% from 2023</a:t>
            </a:r>
            <a:endParaRPr lang="en-US" sz="4000" dirty="0"/>
          </a:p>
        </p:txBody>
      </p:sp>
      <p:sp>
        <p:nvSpPr>
          <p:cNvPr id="6" name="Text 4"/>
          <p:cNvSpPr txBox="1"/>
          <p:nvPr/>
        </p:nvSpPr>
        <p:spPr>
          <a:xfrm>
            <a:off x="640080" y="4206240"/>
            <a:ext cx="4754880" cy="1143000"/>
          </a:xfrm>
          <a:prstGeom prst="rect">
            <a:avLst/>
          </a:prstGeom>
          <a:noFill/>
          <a:ln/>
        </p:spPr>
        <p:txBody>
          <a:bodyPr wrap="square" lIns="0" tIns="0" rIns="0" bIns="0" rtlCol="0" anchor="t"/>
          <a:lstStyle/>
          <a:p>
            <a:pPr indent="0" marL="0">
              <a:spcAft>
                <a:spcPts val="200"/>
              </a:spcAft>
              <a:buNone/>
            </a:pPr>
            <a:r>
              <a:rPr lang="en-US" sz="4000" b="1" dirty="0">
                <a:solidFill>
                  <a:schemeClr val="accent1"/>
                </a:solidFill>
              </a:rPr>
              <a:t>4% → 55%</a:t>
            </a:r>
            <a:endParaRPr lang="en-US" sz="4000" dirty="0"/>
          </a:p>
          <a:p>
            <a:pPr indent="0" marL="0">
              <a:spcAft>
                <a:spcPts val="200"/>
              </a:spcAft>
              <a:buNone/>
            </a:pPr>
            <a:r>
              <a:rPr lang="en-US" sz="1500" dirty="0">
                <a:solidFill>
                  <a:schemeClr val="tx2"/>
                </a:solidFill>
              </a:rPr>
              <a:t>4% of SF street miles hold 55% of severe and fatal bike injuries</a:t>
            </a:r>
            <a:endParaRPr lang="en-US" sz="4000" dirty="0"/>
          </a:p>
        </p:txBody>
      </p:sp>
      <p:sp>
        <p:nvSpPr>
          <p:cNvPr id="7" name="Text 5"/>
          <p:cNvSpPr txBox="1"/>
          <p:nvPr/>
        </p:nvSpPr>
        <p:spPr>
          <a:xfrm>
            <a:off x="640080" y="5623560"/>
            <a:ext cx="4937760" cy="457200"/>
          </a:xfrm>
          <a:prstGeom prst="rect">
            <a:avLst/>
          </a:prstGeom>
          <a:noFill/>
          <a:ln/>
        </p:spPr>
        <p:txBody>
          <a:bodyPr wrap="square" lIns="0" tIns="0" rIns="0" bIns="0" rtlCol="0" anchor="ctr"/>
          <a:lstStyle/>
          <a:p>
            <a:pPr indent="0" marL="0">
              <a:buNone/>
            </a:pPr>
            <a:r>
              <a:rPr lang="en-US" sz="1000" dirty="0">
                <a:solidFill>
                  <a:schemeClr val="accent5"/>
                </a:solidFill>
              </a:rPr>
              <a:t>Sources: NHTSA Traffic Safety Facts, 2024 Data: Bicyclists; SFMTA Vision Zero High Injury Network (cyclist corridors)</a:t>
            </a:r>
            <a:endParaRPr lang="en-US" sz="1000" dirty="0"/>
          </a:p>
        </p:txBody>
      </p:sp>
      <p:sp>
        <p:nvSpPr>
          <p:cNvPr id="8" name="Fastest route through flagged areas frame"/>
          <p:cNvSpPr/>
          <p:nvPr/>
        </p:nvSpPr>
        <p:spPr>
          <a:xfrm>
            <a:off x="5916168" y="1709928"/>
            <a:ext cx="5632704" cy="4535424"/>
          </a:xfrm>
          <a:prstGeom prst="roundRect">
            <a:avLst>
              <a:gd name="adj" fmla="val 2419"/>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9" name="Fastest route through flagged areas" descr="Fastest route through flagged areas">    </p:cNvPr>
          <p:cNvPicPr>
            <a:picLocks noChangeAspect="1"/>
          </p:cNvPicPr>
          <p:nvPr/>
        </p:nvPicPr>
        <p:blipFill>
          <a:blip r:embed="rId1"/>
          <a:stretch>
            <a:fillRect/>
          </a:stretch>
        </p:blipFill>
        <p:spPr>
          <a:xfrm>
            <a:off x="5989320" y="1783080"/>
            <a:ext cx="5486400" cy="4389120"/>
          </a:xfrm>
          <a:prstGeom prst="rect">
            <a:avLst/>
          </a:prstGeom>
        </p:spPr>
      </p:pic>
      <p:sp>
        <p:nvSpPr>
          <p:cNvPr id="10" name="Text 7"/>
          <p:cNvSpPr txBox="1"/>
          <p:nvPr/>
        </p:nvSpPr>
        <p:spPr>
          <a:xfrm>
            <a:off x="5989320" y="6217920"/>
            <a:ext cx="5120640" cy="274320"/>
          </a:xfrm>
          <a:prstGeom prst="rect">
            <a:avLst/>
          </a:prstGeom>
          <a:noFill/>
          <a:ln/>
        </p:spPr>
        <p:txBody>
          <a:bodyPr wrap="square" lIns="0" tIns="0" rIns="0" bIns="0" rtlCol="0" anchor="ctr"/>
          <a:lstStyle/>
          <a:p>
            <a:pPr indent="0" marL="0">
              <a:buNone/>
            </a:pPr>
            <a:r>
              <a:rPr lang="en-US" sz="1100" i="1" dirty="0">
                <a:solidFill>
                  <a:schemeClr val="tx2"/>
                </a:solidFill>
              </a:rPr>
              <a:t>Fastest route, Pacific Heights → Mission: more than half the ride inside flagged areas</a:t>
            </a:r>
            <a:endParaRPr lang="en-US" sz="11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riterion tag"/>
          <p:cNvSpPr txBox="1"/>
          <p:nvPr/>
        </p:nvSpPr>
        <p:spPr>
          <a:xfrm>
            <a:off x="640080" y="320040"/>
            <a:ext cx="1371600" cy="329184"/>
          </a:xfrm>
          <a:prstGeom prst="roundRect">
            <a:avLst>
              <a:gd name="adj" fmla="val 41667"/>
            </a:avLst>
          </a:prstGeom>
          <a:solidFill>
            <a:schemeClr val="accent2"/>
          </a:solidFill>
          <a:ln/>
        </p:spPr>
        <p:txBody>
          <a:bodyPr wrap="square" lIns="0" tIns="0" rIns="0" bIns="0" rtlCol="0" anchor="ctr"/>
          <a:lstStyle/>
          <a:p>
            <a:pPr algn="ctr" indent="0" marL="0">
              <a:buNone/>
            </a:pPr>
            <a:r>
              <a:rPr lang="en-US" sz="1200" b="1" spc="200" kern="0" dirty="0">
                <a:solidFill>
                  <a:schemeClr val="bg1"/>
                </a:solidFill>
              </a:rPr>
              <a:t>PRACTICAL</a:t>
            </a:r>
            <a:endParaRPr lang="en-US" sz="1200" dirty="0"/>
          </a:p>
        </p:txBody>
      </p:sp>
      <p:sp>
        <p:nvSpPr>
          <p:cNvPr id="3"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Our own bike router, built on SF's real data</a:t>
            </a:r>
            <a:endParaRPr lang="en-US" sz="3200" dirty="0"/>
          </a:p>
        </p:txBody>
      </p:sp>
      <p:sp>
        <p:nvSpPr>
          <p:cNvPr id="4" name="real bike-injury crashes (DataSF, 2019+) circle"/>
          <p:cNvSpPr/>
          <p:nvPr/>
        </p:nvSpPr>
        <p:spPr>
          <a:xfrm>
            <a:off x="640080" y="1874520"/>
            <a:ext cx="566928" cy="566928"/>
          </a:xfrm>
          <a:prstGeom prst="ellipse">
            <a:avLst/>
          </a:prstGeom>
          <a:solidFill>
            <a:schemeClr val="accent1"/>
          </a:solidFill>
          <a:ln/>
        </p:spPr>
      </p:sp>
      <p:pic>
        <p:nvPicPr>
          <p:cNvPr id="5" name="real bike-injury crashes (DataSF, 2019+) icon" descr="real bike-injury crashes (DataSF, 2019+)">    </p:cNvPr>
          <p:cNvPicPr>
            <a:picLocks noChangeAspect="1"/>
          </p:cNvPicPr>
          <p:nvPr/>
        </p:nvPicPr>
        <p:blipFill>
          <a:blip r:embed="rId1"/>
          <a:stretch>
            <a:fillRect/>
          </a:stretch>
        </p:blipFill>
        <p:spPr>
          <a:xfrm>
            <a:off x="781812" y="2016252"/>
            <a:ext cx="283464" cy="283464"/>
          </a:xfrm>
          <a:prstGeom prst="rect">
            <a:avLst/>
          </a:prstGeom>
        </p:spPr>
      </p:pic>
      <p:sp>
        <p:nvSpPr>
          <p:cNvPr id="6" name="Text 3"/>
          <p:cNvSpPr txBox="1"/>
          <p:nvPr/>
        </p:nvSpPr>
        <p:spPr>
          <a:xfrm>
            <a:off x="1353312" y="1801368"/>
            <a:ext cx="1920240" cy="914400"/>
          </a:xfrm>
          <a:prstGeom prst="rect">
            <a:avLst/>
          </a:prstGeom>
          <a:noFill/>
          <a:ln/>
        </p:spPr>
        <p:txBody>
          <a:bodyPr wrap="square" lIns="0" tIns="0" rIns="0" bIns="0" rtlCol="0" anchor="t"/>
          <a:lstStyle/>
          <a:p>
            <a:pPr indent="0" marL="0">
              <a:buNone/>
            </a:pPr>
            <a:r>
              <a:rPr lang="en-US" sz="2000" b="1" dirty="0">
                <a:solidFill>
                  <a:schemeClr val="tx1"/>
                </a:solidFill>
              </a:rPr>
              <a:t>3,558</a:t>
            </a:r>
            <a:endParaRPr lang="en-US" sz="2000" dirty="0"/>
          </a:p>
          <a:p>
            <a:pPr indent="0" marL="0">
              <a:buNone/>
            </a:pPr>
            <a:r>
              <a:rPr lang="en-US" sz="1300" dirty="0">
                <a:solidFill>
                  <a:schemeClr val="tx2"/>
                </a:solidFill>
              </a:rPr>
              <a:t>real bike-injury crashes (DataSF, 2019+)</a:t>
            </a:r>
            <a:endParaRPr lang="en-US" sz="2000" dirty="0"/>
          </a:p>
        </p:txBody>
      </p:sp>
      <p:sp>
        <p:nvSpPr>
          <p:cNvPr id="7" name="SFMTA-surveyed bike-lane segments circle"/>
          <p:cNvSpPr/>
          <p:nvPr/>
        </p:nvSpPr>
        <p:spPr>
          <a:xfrm>
            <a:off x="3383280" y="1874520"/>
            <a:ext cx="566928" cy="566928"/>
          </a:xfrm>
          <a:prstGeom prst="ellipse">
            <a:avLst/>
          </a:prstGeom>
          <a:solidFill>
            <a:schemeClr val="accent1"/>
          </a:solidFill>
          <a:ln/>
        </p:spPr>
      </p:sp>
      <p:pic>
        <p:nvPicPr>
          <p:cNvPr id="8" name="SFMTA-surveyed bike-lane segments icon" descr="SFMTA-surveyed bike-lane segments">    </p:cNvPr>
          <p:cNvPicPr>
            <a:picLocks noChangeAspect="1"/>
          </p:cNvPicPr>
          <p:nvPr/>
        </p:nvPicPr>
        <p:blipFill>
          <a:blip r:embed="rId2"/>
          <a:stretch>
            <a:fillRect/>
          </a:stretch>
        </p:blipFill>
        <p:spPr>
          <a:xfrm>
            <a:off x="3525012" y="2016252"/>
            <a:ext cx="283464" cy="283464"/>
          </a:xfrm>
          <a:prstGeom prst="rect">
            <a:avLst/>
          </a:prstGeom>
        </p:spPr>
      </p:pic>
      <p:sp>
        <p:nvSpPr>
          <p:cNvPr id="9" name="Text 5"/>
          <p:cNvSpPr txBox="1"/>
          <p:nvPr/>
        </p:nvSpPr>
        <p:spPr>
          <a:xfrm>
            <a:off x="4096512" y="1801368"/>
            <a:ext cx="1920240" cy="914400"/>
          </a:xfrm>
          <a:prstGeom prst="rect">
            <a:avLst/>
          </a:prstGeom>
          <a:noFill/>
          <a:ln/>
        </p:spPr>
        <p:txBody>
          <a:bodyPr wrap="square" lIns="0" tIns="0" rIns="0" bIns="0" rtlCol="0" anchor="t"/>
          <a:lstStyle/>
          <a:p>
            <a:pPr indent="0" marL="0">
              <a:buNone/>
            </a:pPr>
            <a:r>
              <a:rPr lang="en-US" sz="2000" b="1" dirty="0">
                <a:solidFill>
                  <a:schemeClr val="tx1"/>
                </a:solidFill>
              </a:rPr>
              <a:t>5,457</a:t>
            </a:r>
            <a:endParaRPr lang="en-US" sz="2000" dirty="0"/>
          </a:p>
          <a:p>
            <a:pPr indent="0" marL="0">
              <a:buNone/>
            </a:pPr>
            <a:r>
              <a:rPr lang="en-US" sz="1300" dirty="0">
                <a:solidFill>
                  <a:schemeClr val="tx2"/>
                </a:solidFill>
              </a:rPr>
              <a:t>SFMTA-surveyed bike-lane segments</a:t>
            </a:r>
            <a:endParaRPr lang="en-US" sz="2000" dirty="0"/>
          </a:p>
        </p:txBody>
      </p:sp>
      <p:sp>
        <p:nvSpPr>
          <p:cNvPr id="10" name="highways and fast arterials scored circle"/>
          <p:cNvSpPr/>
          <p:nvPr/>
        </p:nvSpPr>
        <p:spPr>
          <a:xfrm>
            <a:off x="640080" y="3017520"/>
            <a:ext cx="566928" cy="566928"/>
          </a:xfrm>
          <a:prstGeom prst="ellipse">
            <a:avLst/>
          </a:prstGeom>
          <a:solidFill>
            <a:schemeClr val="accent1"/>
          </a:solidFill>
          <a:ln/>
        </p:spPr>
      </p:sp>
      <p:pic>
        <p:nvPicPr>
          <p:cNvPr id="11" name="highways and fast arterials scored icon" descr="highways and fast arterials scored">    </p:cNvPr>
          <p:cNvPicPr>
            <a:picLocks noChangeAspect="1"/>
          </p:cNvPicPr>
          <p:nvPr/>
        </p:nvPicPr>
        <p:blipFill>
          <a:blip r:embed="rId3"/>
          <a:stretch>
            <a:fillRect/>
          </a:stretch>
        </p:blipFill>
        <p:spPr>
          <a:xfrm>
            <a:off x="781812" y="3159252"/>
            <a:ext cx="283464" cy="283464"/>
          </a:xfrm>
          <a:prstGeom prst="rect">
            <a:avLst/>
          </a:prstGeom>
        </p:spPr>
      </p:pic>
      <p:sp>
        <p:nvSpPr>
          <p:cNvPr id="12" name="Text 7"/>
          <p:cNvSpPr txBox="1"/>
          <p:nvPr/>
        </p:nvSpPr>
        <p:spPr>
          <a:xfrm>
            <a:off x="1353312" y="2944368"/>
            <a:ext cx="1920240" cy="914400"/>
          </a:xfrm>
          <a:prstGeom prst="rect">
            <a:avLst/>
          </a:prstGeom>
          <a:noFill/>
          <a:ln/>
        </p:spPr>
        <p:txBody>
          <a:bodyPr wrap="square" lIns="0" tIns="0" rIns="0" bIns="0" rtlCol="0" anchor="t"/>
          <a:lstStyle/>
          <a:p>
            <a:pPr indent="0" marL="0">
              <a:buNone/>
            </a:pPr>
            <a:r>
              <a:rPr lang="en-US" sz="2000" b="1" dirty="0">
                <a:solidFill>
                  <a:schemeClr val="tx1"/>
                </a:solidFill>
              </a:rPr>
              <a:t>5,566</a:t>
            </a:r>
            <a:endParaRPr lang="en-US" sz="2000" dirty="0"/>
          </a:p>
          <a:p>
            <a:pPr indent="0" marL="0">
              <a:buNone/>
            </a:pPr>
            <a:r>
              <a:rPr lang="en-US" sz="1300" dirty="0">
                <a:solidFill>
                  <a:schemeClr val="tx2"/>
                </a:solidFill>
              </a:rPr>
              <a:t>highways and fast arterials scored</a:t>
            </a:r>
            <a:endParaRPr lang="en-US" sz="2000" dirty="0"/>
          </a:p>
        </p:txBody>
      </p:sp>
      <p:sp>
        <p:nvSpPr>
          <p:cNvPr id="13" name="traffic signals that stop a rider circle"/>
          <p:cNvSpPr/>
          <p:nvPr/>
        </p:nvSpPr>
        <p:spPr>
          <a:xfrm>
            <a:off x="3383280" y="3017520"/>
            <a:ext cx="566928" cy="566928"/>
          </a:xfrm>
          <a:prstGeom prst="ellipse">
            <a:avLst/>
          </a:prstGeom>
          <a:solidFill>
            <a:schemeClr val="accent1"/>
          </a:solidFill>
          <a:ln/>
        </p:spPr>
      </p:sp>
      <p:pic>
        <p:nvPicPr>
          <p:cNvPr id="14" name="traffic signals that stop a rider icon" descr="traffic signals that stop a rider">    </p:cNvPr>
          <p:cNvPicPr>
            <a:picLocks noChangeAspect="1"/>
          </p:cNvPicPr>
          <p:nvPr/>
        </p:nvPicPr>
        <p:blipFill>
          <a:blip r:embed="rId4"/>
          <a:stretch>
            <a:fillRect/>
          </a:stretch>
        </p:blipFill>
        <p:spPr>
          <a:xfrm>
            <a:off x="3525012" y="3159252"/>
            <a:ext cx="283464" cy="283464"/>
          </a:xfrm>
          <a:prstGeom prst="rect">
            <a:avLst/>
          </a:prstGeom>
        </p:spPr>
      </p:pic>
      <p:sp>
        <p:nvSpPr>
          <p:cNvPr id="15" name="Text 9"/>
          <p:cNvSpPr txBox="1"/>
          <p:nvPr/>
        </p:nvSpPr>
        <p:spPr>
          <a:xfrm>
            <a:off x="4096512" y="2944368"/>
            <a:ext cx="1920240" cy="914400"/>
          </a:xfrm>
          <a:prstGeom prst="rect">
            <a:avLst/>
          </a:prstGeom>
          <a:noFill/>
          <a:ln/>
        </p:spPr>
        <p:txBody>
          <a:bodyPr wrap="square" lIns="0" tIns="0" rIns="0" bIns="0" rtlCol="0" anchor="t"/>
          <a:lstStyle/>
          <a:p>
            <a:pPr indent="0" marL="0">
              <a:buNone/>
            </a:pPr>
            <a:r>
              <a:rPr lang="en-US" sz="2000" b="1" dirty="0">
                <a:solidFill>
                  <a:schemeClr val="tx1"/>
                </a:solidFill>
              </a:rPr>
              <a:t>1,314</a:t>
            </a:r>
            <a:endParaRPr lang="en-US" sz="2000" dirty="0"/>
          </a:p>
          <a:p>
            <a:pPr indent="0" marL="0">
              <a:buNone/>
            </a:pPr>
            <a:r>
              <a:rPr lang="en-US" sz="1300" dirty="0">
                <a:solidFill>
                  <a:schemeClr val="tx2"/>
                </a:solidFill>
              </a:rPr>
              <a:t>traffic signals that stop a rider</a:t>
            </a:r>
            <a:endParaRPr lang="en-US" sz="2000" dirty="0"/>
          </a:p>
        </p:txBody>
      </p:sp>
      <p:sp>
        <p:nvSpPr>
          <p:cNvPr id="16" name="terrain elevation, so hills are real circle"/>
          <p:cNvSpPr/>
          <p:nvPr/>
        </p:nvSpPr>
        <p:spPr>
          <a:xfrm>
            <a:off x="640080" y="4160520"/>
            <a:ext cx="566928" cy="566928"/>
          </a:xfrm>
          <a:prstGeom prst="ellipse">
            <a:avLst/>
          </a:prstGeom>
          <a:solidFill>
            <a:schemeClr val="accent1"/>
          </a:solidFill>
          <a:ln/>
        </p:spPr>
      </p:sp>
      <p:pic>
        <p:nvPicPr>
          <p:cNvPr id="17" name="terrain elevation, so hills are real icon" descr="terrain elevation, so hills are real">    </p:cNvPr>
          <p:cNvPicPr>
            <a:picLocks noChangeAspect="1"/>
          </p:cNvPicPr>
          <p:nvPr/>
        </p:nvPicPr>
        <p:blipFill>
          <a:blip r:embed="rId5"/>
          <a:stretch>
            <a:fillRect/>
          </a:stretch>
        </p:blipFill>
        <p:spPr>
          <a:xfrm>
            <a:off x="781812" y="4302252"/>
            <a:ext cx="283464" cy="283464"/>
          </a:xfrm>
          <a:prstGeom prst="rect">
            <a:avLst/>
          </a:prstGeom>
        </p:spPr>
      </p:pic>
      <p:sp>
        <p:nvSpPr>
          <p:cNvPr id="18" name="Text 11"/>
          <p:cNvSpPr txBox="1"/>
          <p:nvPr/>
        </p:nvSpPr>
        <p:spPr>
          <a:xfrm>
            <a:off x="1353312" y="4087368"/>
            <a:ext cx="1920240" cy="914400"/>
          </a:xfrm>
          <a:prstGeom prst="rect">
            <a:avLst/>
          </a:prstGeom>
          <a:noFill/>
          <a:ln/>
        </p:spPr>
        <p:txBody>
          <a:bodyPr wrap="square" lIns="0" tIns="0" rIns="0" bIns="0" rtlCol="0" anchor="t"/>
          <a:lstStyle/>
          <a:p>
            <a:pPr indent="0" marL="0">
              <a:buNone/>
            </a:pPr>
            <a:r>
              <a:rPr lang="en-US" sz="2000" b="1" dirty="0">
                <a:solidFill>
                  <a:schemeClr val="tx1"/>
                </a:solidFill>
              </a:rPr>
              <a:t>Every corner</a:t>
            </a:r>
            <a:endParaRPr lang="en-US" sz="2000" dirty="0"/>
          </a:p>
          <a:p>
            <a:pPr indent="0" marL="0">
              <a:buNone/>
            </a:pPr>
            <a:r>
              <a:rPr lang="en-US" sz="1300" dirty="0">
                <a:solidFill>
                  <a:schemeClr val="tx2"/>
                </a:solidFill>
              </a:rPr>
              <a:t>terrain elevation, so hills are real</a:t>
            </a:r>
            <a:endParaRPr lang="en-US" sz="2000" dirty="0"/>
          </a:p>
        </p:txBody>
      </p:sp>
      <p:sp>
        <p:nvSpPr>
          <p:cNvPr id="19" name="LiDAR-measured buildings for 3D circle"/>
          <p:cNvSpPr/>
          <p:nvPr/>
        </p:nvSpPr>
        <p:spPr>
          <a:xfrm>
            <a:off x="3383280" y="4160520"/>
            <a:ext cx="566928" cy="566928"/>
          </a:xfrm>
          <a:prstGeom prst="ellipse">
            <a:avLst/>
          </a:prstGeom>
          <a:solidFill>
            <a:schemeClr val="accent1"/>
          </a:solidFill>
          <a:ln/>
        </p:spPr>
      </p:sp>
      <p:pic>
        <p:nvPicPr>
          <p:cNvPr id="20" name="LiDAR-measured buildings for 3D icon" descr="LiDAR-measured buildings for 3D">    </p:cNvPr>
          <p:cNvPicPr>
            <a:picLocks noChangeAspect="1"/>
          </p:cNvPicPr>
          <p:nvPr/>
        </p:nvPicPr>
        <p:blipFill>
          <a:blip r:embed="rId6"/>
          <a:stretch>
            <a:fillRect/>
          </a:stretch>
        </p:blipFill>
        <p:spPr>
          <a:xfrm>
            <a:off x="3525012" y="4302252"/>
            <a:ext cx="283464" cy="283464"/>
          </a:xfrm>
          <a:prstGeom prst="rect">
            <a:avLst/>
          </a:prstGeom>
        </p:spPr>
      </p:pic>
      <p:sp>
        <p:nvSpPr>
          <p:cNvPr id="21" name="Text 13"/>
          <p:cNvSpPr txBox="1"/>
          <p:nvPr/>
        </p:nvSpPr>
        <p:spPr>
          <a:xfrm>
            <a:off x="4096512" y="4087368"/>
            <a:ext cx="1920240" cy="914400"/>
          </a:xfrm>
          <a:prstGeom prst="rect">
            <a:avLst/>
          </a:prstGeom>
          <a:noFill/>
          <a:ln/>
        </p:spPr>
        <p:txBody>
          <a:bodyPr wrap="square" lIns="0" tIns="0" rIns="0" bIns="0" rtlCol="0" anchor="t"/>
          <a:lstStyle/>
          <a:p>
            <a:pPr indent="0" marL="0">
              <a:buNone/>
            </a:pPr>
            <a:r>
              <a:rPr lang="en-US" sz="2000" b="1" dirty="0">
                <a:solidFill>
                  <a:schemeClr val="tx1"/>
                </a:solidFill>
              </a:rPr>
              <a:t>177,023</a:t>
            </a:r>
            <a:endParaRPr lang="en-US" sz="2000" dirty="0"/>
          </a:p>
          <a:p>
            <a:pPr indent="0" marL="0">
              <a:buNone/>
            </a:pPr>
            <a:r>
              <a:rPr lang="en-US" sz="1300" dirty="0">
                <a:solidFill>
                  <a:schemeClr val="tx2"/>
                </a:solidFill>
              </a:rPr>
              <a:t>LiDAR-measured buildings for 3D</a:t>
            </a:r>
            <a:endParaRPr lang="en-US" sz="2000" dirty="0"/>
          </a:p>
        </p:txBody>
      </p:sp>
      <p:sp>
        <p:nvSpPr>
          <p:cNvPr id="22" name="Text 14"/>
          <p:cNvSpPr txBox="1"/>
          <p:nvPr/>
        </p:nvSpPr>
        <p:spPr>
          <a:xfrm>
            <a:off x="640080" y="5440680"/>
            <a:ext cx="5303520" cy="457200"/>
          </a:xfrm>
          <a:prstGeom prst="rect">
            <a:avLst/>
          </a:prstGeom>
          <a:noFill/>
          <a:ln/>
        </p:spPr>
        <p:txBody>
          <a:bodyPr wrap="square" lIns="0" tIns="0" rIns="0" bIns="0" rtlCol="0" anchor="ctr"/>
          <a:lstStyle/>
          <a:p>
            <a:pPr indent="0" marL="0">
              <a:buNone/>
            </a:pPr>
            <a:r>
              <a:rPr lang="en-US" sz="1500" b="1" dirty="0">
                <a:solidFill>
                  <a:schemeClr val="accent1"/>
                </a:solidFill>
              </a:rPr>
              <a:t>→ a 211,000-segment street graph, searched in about 0.1 s per trip</a:t>
            </a:r>
            <a:endParaRPr lang="en-US" sz="1500" dirty="0"/>
          </a:p>
        </p:txBody>
      </p:sp>
      <p:sp>
        <p:nvSpPr>
          <p:cNvPr id="23" name="Three route options frame"/>
          <p:cNvSpPr/>
          <p:nvPr/>
        </p:nvSpPr>
        <p:spPr>
          <a:xfrm>
            <a:off x="6190488" y="1709928"/>
            <a:ext cx="5358384" cy="4315968"/>
          </a:xfrm>
          <a:prstGeom prst="roundRect">
            <a:avLst>
              <a:gd name="adj" fmla="val 2542"/>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24" name="Three route options" descr="Three route options">    </p:cNvPr>
          <p:cNvPicPr>
            <a:picLocks noChangeAspect="1"/>
          </p:cNvPicPr>
          <p:nvPr/>
        </p:nvPicPr>
        <p:blipFill>
          <a:blip r:embed="rId7"/>
          <a:stretch>
            <a:fillRect/>
          </a:stretch>
        </p:blipFill>
        <p:spPr>
          <a:xfrm>
            <a:off x="6263640" y="1783080"/>
            <a:ext cx="5212080" cy="4169664"/>
          </a:xfrm>
          <a:prstGeom prst="rect">
            <a:avLst/>
          </a:prstGeom>
        </p:spPr>
      </p:pic>
      <p:sp>
        <p:nvSpPr>
          <p:cNvPr id="25" name="Text 16"/>
          <p:cNvSpPr txBox="1"/>
          <p:nvPr/>
        </p:nvSpPr>
        <p:spPr>
          <a:xfrm>
            <a:off x="6263640" y="6080760"/>
            <a:ext cx="5212080" cy="274320"/>
          </a:xfrm>
          <a:prstGeom prst="rect">
            <a:avLst/>
          </a:prstGeom>
          <a:noFill/>
          <a:ln/>
        </p:spPr>
        <p:txBody>
          <a:bodyPr wrap="square" lIns="0" tIns="0" rIns="0" bIns="0" rtlCol="0" anchor="ctr"/>
          <a:lstStyle/>
          <a:p>
            <a:pPr indent="0" marL="0">
              <a:buNone/>
            </a:pPr>
            <a:r>
              <a:rPr lang="en-US" sz="1200" dirty="0">
                <a:solidFill>
                  <a:schemeClr val="tx2"/>
                </a:solidFill>
              </a:rPr>
              <a:t>One trip, three honest options:  </a:t>
            </a:r>
            <a:pPr indent="0" marL="0">
              <a:buNone/>
            </a:pPr>
            <a:r>
              <a:rPr lang="en-US" sz="1200" b="1" dirty="0">
                <a:solidFill>
                  <a:schemeClr val="accent5"/>
                </a:solidFill>
              </a:rPr>
              <a:t>Fastest</a:t>
            </a:r>
            <a:pPr indent="0" marL="0">
              <a:buNone/>
            </a:pPr>
            <a:r>
              <a:rPr lang="en-US" sz="1200" dirty="0">
                <a:solidFill>
                  <a:schemeClr val="tx2"/>
                </a:solidFill>
              </a:rPr>
              <a:t> · </a:t>
            </a:r>
            <a:pPr indent="0" marL="0">
              <a:buNone/>
            </a:pPr>
            <a:r>
              <a:rPr lang="en-US" sz="1200" b="1" dirty="0">
                <a:solidFill>
                  <a:schemeClr val="accent2"/>
                </a:solidFill>
              </a:rPr>
              <a:t>Safest</a:t>
            </a:r>
            <a:pPr indent="0" marL="0">
              <a:buNone/>
            </a:pPr>
            <a:r>
              <a:rPr lang="en-US" sz="1200" dirty="0">
                <a:solidFill>
                  <a:schemeClr val="tx2"/>
                </a:solidFill>
              </a:rPr>
              <a:t> · </a:t>
            </a:r>
            <a:pPr indent="0" marL="0">
              <a:buNone/>
            </a:pPr>
            <a:r>
              <a:rPr lang="en-US" sz="1200" b="1" dirty="0">
                <a:solidFill>
                  <a:schemeClr val="accent1"/>
                </a:solidFill>
              </a:rPr>
              <a:t>Safest + bike lanes</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bg1"/>
                </a:solidFill>
              </a:rPr>
              <a:t>Live demo</a:t>
            </a:r>
            <a:endParaRPr lang="en-US" sz="3200" dirty="0"/>
          </a:p>
        </p:txBody>
      </p:sp>
      <p:sp>
        <p:nvSpPr>
          <p:cNvPr id="3" name="step 1"/>
          <p:cNvSpPr txBox="1"/>
          <p:nvPr/>
        </p:nvSpPr>
        <p:spPr>
          <a:xfrm>
            <a:off x="640080" y="1828800"/>
            <a:ext cx="566928" cy="566928"/>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4" name="Text 2"/>
          <p:cNvSpPr txBox="1"/>
          <p:nvPr/>
        </p:nvSpPr>
        <p:spPr>
          <a:xfrm>
            <a:off x="1463040" y="1755648"/>
            <a:ext cx="6035040" cy="777240"/>
          </a:xfrm>
          <a:prstGeom prst="rect">
            <a:avLst/>
          </a:prstGeom>
          <a:noFill/>
          <a:ln/>
        </p:spPr>
        <p:txBody>
          <a:bodyPr wrap="square" lIns="0" tIns="0" rIns="0" bIns="0" rtlCol="0" anchor="t"/>
          <a:lstStyle/>
          <a:p>
            <a:pPr indent="0" marL="0">
              <a:buNone/>
            </a:pPr>
            <a:r>
              <a:rPr lang="en-US" sz="2000" b="1" dirty="0">
                <a:solidFill>
                  <a:schemeClr val="bg1"/>
                </a:solidFill>
              </a:rPr>
              <a:t>Pacific Heights → 17th &amp; Mission</a:t>
            </a:r>
            <a:endParaRPr lang="en-US" sz="2000" dirty="0"/>
          </a:p>
          <a:p>
            <a:pPr indent="0" marL="0">
              <a:buNone/>
            </a:pPr>
            <a:r>
              <a:rPr lang="en-US" sz="1500" dirty="0">
                <a:solidFill>
                  <a:srgbClr val="C9D6D0"/>
                </a:solidFill>
              </a:rPr>
              <a:t>Fastest route + Neighborhood view: the problem, live</a:t>
            </a:r>
            <a:endParaRPr lang="en-US" sz="2000" dirty="0"/>
          </a:p>
        </p:txBody>
      </p:sp>
      <p:sp>
        <p:nvSpPr>
          <p:cNvPr id="5" name="step 2"/>
          <p:cNvSpPr txBox="1"/>
          <p:nvPr/>
        </p:nvSpPr>
        <p:spPr>
          <a:xfrm>
            <a:off x="640080" y="2697480"/>
            <a:ext cx="566928" cy="566928"/>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6" name="Text 4"/>
          <p:cNvSpPr txBox="1"/>
          <p:nvPr/>
        </p:nvSpPr>
        <p:spPr>
          <a:xfrm>
            <a:off x="1463040" y="2624328"/>
            <a:ext cx="6035040" cy="777240"/>
          </a:xfrm>
          <a:prstGeom prst="rect">
            <a:avLst/>
          </a:prstGeom>
          <a:noFill/>
          <a:ln/>
        </p:spPr>
        <p:txBody>
          <a:bodyPr wrap="square" lIns="0" tIns="0" rIns="0" bIns="0" rtlCol="0" anchor="t"/>
          <a:lstStyle/>
          <a:p>
            <a:pPr indent="0" marL="0">
              <a:buNone/>
            </a:pPr>
            <a:r>
              <a:rPr lang="en-US" sz="2000" b="1" dirty="0">
                <a:solidFill>
                  <a:schemeClr val="bg1"/>
                </a:solidFill>
              </a:rPr>
              <a:t>Ocean Beach → Ferry Building</a:t>
            </a:r>
            <a:endParaRPr lang="en-US" sz="2000" dirty="0"/>
          </a:p>
          <a:p>
            <a:pPr indent="0" marL="0">
              <a:buNone/>
            </a:pPr>
            <a:r>
              <a:rPr lang="en-US" sz="1500" dirty="0">
                <a:solidFill>
                  <a:srgbClr val="C9D6D0"/>
                </a:solidFill>
              </a:rPr>
              <a:t>Safest + bike lanes: what it avoided, what it cost</a:t>
            </a:r>
            <a:endParaRPr lang="en-US" sz="2000" dirty="0"/>
          </a:p>
        </p:txBody>
      </p:sp>
      <p:sp>
        <p:nvSpPr>
          <p:cNvPr id="7" name="step 3"/>
          <p:cNvSpPr txBox="1"/>
          <p:nvPr/>
        </p:nvSpPr>
        <p:spPr>
          <a:xfrm>
            <a:off x="640080" y="3566160"/>
            <a:ext cx="566928" cy="566928"/>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8" name="Text 6"/>
          <p:cNvSpPr txBox="1"/>
          <p:nvPr/>
        </p:nvSpPr>
        <p:spPr>
          <a:xfrm>
            <a:off x="1463040" y="3493008"/>
            <a:ext cx="6035040" cy="777240"/>
          </a:xfrm>
          <a:prstGeom prst="rect">
            <a:avLst/>
          </a:prstGeom>
          <a:noFill/>
          <a:ln/>
        </p:spPr>
        <p:txBody>
          <a:bodyPr wrap="square" lIns="0" tIns="0" rIns="0" bIns="0" rtlCol="0" anchor="t"/>
          <a:lstStyle/>
          <a:p>
            <a:pPr indent="0" marL="0">
              <a:buNone/>
            </a:pPr>
            <a:r>
              <a:rPr lang="en-US" sz="2000" b="1" dirty="0">
                <a:solidFill>
                  <a:schemeClr val="bg1"/>
                </a:solidFill>
              </a:rPr>
              <a:t>Turn on Avoid hills</a:t>
            </a:r>
            <a:endParaRPr lang="en-US" sz="2000" dirty="0"/>
          </a:p>
          <a:p>
            <a:pPr indent="0" marL="0">
              <a:buNone/>
            </a:pPr>
            <a:r>
              <a:rPr lang="en-US" sz="1500" dirty="0">
                <a:solidFill>
                  <a:srgbClr val="C9D6D0"/>
                </a:solidFill>
              </a:rPr>
              <a:t>Steepest climb 21.8% → 8.6%, and 7 min quicker</a:t>
            </a:r>
            <a:endParaRPr lang="en-US" sz="2000" dirty="0"/>
          </a:p>
        </p:txBody>
      </p:sp>
      <p:sp>
        <p:nvSpPr>
          <p:cNvPr id="9" name="step 4"/>
          <p:cNvSpPr txBox="1"/>
          <p:nvPr/>
        </p:nvSpPr>
        <p:spPr>
          <a:xfrm>
            <a:off x="640080" y="4434840"/>
            <a:ext cx="566928" cy="566928"/>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0" name="Text 8"/>
          <p:cNvSpPr txBox="1"/>
          <p:nvPr/>
        </p:nvSpPr>
        <p:spPr>
          <a:xfrm>
            <a:off x="1463040" y="4361688"/>
            <a:ext cx="6035040" cy="777240"/>
          </a:xfrm>
          <a:prstGeom prst="rect">
            <a:avLst/>
          </a:prstGeom>
          <a:noFill/>
          <a:ln/>
        </p:spPr>
        <p:txBody>
          <a:bodyPr wrap="square" lIns="0" tIns="0" rIns="0" bIns="0" rtlCol="0" anchor="t"/>
          <a:lstStyle/>
          <a:p>
            <a:pPr indent="0" marL="0">
              <a:buNone/>
            </a:pPr>
            <a:r>
              <a:rPr lang="en-US" sz="2000" b="1" dirty="0">
                <a:solidFill>
                  <a:schemeClr val="bg1"/>
                </a:solidFill>
              </a:rPr>
              <a:t>Ask the assistant</a:t>
            </a:r>
            <a:endParaRPr lang="en-US" sz="2000" dirty="0"/>
          </a:p>
          <a:p>
            <a:pPr indent="0" marL="0">
              <a:buNone/>
            </a:pPr>
            <a:r>
              <a:rPr lang="en-US" sz="1500" dirty="0">
                <a:solidFill>
                  <a:srgbClr val="C9D6D0"/>
                </a:solidFill>
              </a:rPr>
              <a:t>"Flat ride please, with boba and a park on the way"</a:t>
            </a:r>
            <a:endParaRPr lang="en-US" sz="2000" dirty="0"/>
          </a:p>
        </p:txBody>
      </p:sp>
      <p:sp>
        <p:nvSpPr>
          <p:cNvPr id="11" name="step 5"/>
          <p:cNvSpPr txBox="1"/>
          <p:nvPr/>
        </p:nvSpPr>
        <p:spPr>
          <a:xfrm>
            <a:off x="640080" y="5303520"/>
            <a:ext cx="566928" cy="566928"/>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2" name="Text 10"/>
          <p:cNvSpPr txBox="1"/>
          <p:nvPr/>
        </p:nvSpPr>
        <p:spPr>
          <a:xfrm>
            <a:off x="1463040" y="5230368"/>
            <a:ext cx="6035040" cy="777240"/>
          </a:xfrm>
          <a:prstGeom prst="rect">
            <a:avLst/>
          </a:prstGeom>
          <a:noFill/>
          <a:ln/>
        </p:spPr>
        <p:txBody>
          <a:bodyPr wrap="square" lIns="0" tIns="0" rIns="0" bIns="0" rtlCol="0" anchor="t"/>
          <a:lstStyle/>
          <a:p>
            <a:pPr indent="0" marL="0">
              <a:buNone/>
            </a:pPr>
            <a:r>
              <a:rPr lang="en-US" sz="2000" b="1" dirty="0">
                <a:solidFill>
                  <a:schemeClr val="bg1"/>
                </a:solidFill>
              </a:rPr>
              <a:t>Marina Green → Dolores Park</a:t>
            </a:r>
            <a:endParaRPr lang="en-US" sz="2000" dirty="0"/>
          </a:p>
          <a:p>
            <a:pPr indent="0" marL="0">
              <a:buNone/>
            </a:pPr>
            <a:r>
              <a:rPr lang="en-US" sz="1500" dirty="0">
                <a:solidFill>
                  <a:srgbClr val="C9D6D0"/>
                </a:solidFill>
              </a:rPr>
              <a:t>View 3D tour, then Confirm route → navigation</a:t>
            </a:r>
            <a:endParaRPr lang="en-US" sz="2000" dirty="0"/>
          </a:p>
        </p:txBody>
      </p:sp>
      <p:sp>
        <p:nvSpPr>
          <p:cNvPr id="13" name="Compare routes side by side frame"/>
          <p:cNvSpPr/>
          <p:nvPr/>
        </p:nvSpPr>
        <p:spPr>
          <a:xfrm>
            <a:off x="7790688" y="1755648"/>
            <a:ext cx="3849624" cy="2857373"/>
          </a:xfrm>
          <a:prstGeom prst="roundRect">
            <a:avLst>
              <a:gd name="adj" fmla="val 3840"/>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14" name="Compare routes side by side" descr="Compare routes side by side">    </p:cNvPr>
          <p:cNvPicPr>
            <a:picLocks noChangeAspect="1"/>
          </p:cNvPicPr>
          <p:nvPr/>
        </p:nvPicPr>
        <p:blipFill>
          <a:blip r:embed="rId1"/>
          <a:stretch>
            <a:fillRect/>
          </a:stretch>
        </p:blipFill>
        <p:spPr>
          <a:xfrm>
            <a:off x="7863840" y="1828800"/>
            <a:ext cx="3703320" cy="2711069"/>
          </a:xfrm>
          <a:prstGeom prst="rect">
            <a:avLst/>
          </a:prstGeom>
        </p:spPr>
      </p:pic>
      <p:sp>
        <p:nvSpPr>
          <p:cNvPr id="15" name="Text 12"/>
          <p:cNvSpPr txBox="1"/>
          <p:nvPr/>
        </p:nvSpPr>
        <p:spPr>
          <a:xfrm>
            <a:off x="7863840" y="4663440"/>
            <a:ext cx="3703320" cy="365760"/>
          </a:xfrm>
          <a:prstGeom prst="rect">
            <a:avLst/>
          </a:prstGeom>
          <a:noFill/>
          <a:ln/>
        </p:spPr>
        <p:txBody>
          <a:bodyPr wrap="square" lIns="0" tIns="0" rIns="0" bIns="0" rtlCol="0" anchor="ctr"/>
          <a:lstStyle/>
          <a:p>
            <a:pPr indent="0" marL="0">
              <a:buNone/>
            </a:pPr>
            <a:r>
              <a:rPr lang="en-US" sz="1200" i="1" dirty="0">
                <a:solidFill>
                  <a:srgbClr val="C9D6D0"/>
                </a:solidFill>
              </a:rPr>
              <a:t>Wi-Fi down? Slides 6–9 show every step</a:t>
            </a:r>
            <a:endParaRPr lang="en-US" sz="1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riterion tag"/>
          <p:cNvSpPr txBox="1"/>
          <p:nvPr/>
        </p:nvSpPr>
        <p:spPr>
          <a:xfrm>
            <a:off x="640080" y="320040"/>
            <a:ext cx="1371600" cy="329184"/>
          </a:xfrm>
          <a:prstGeom prst="roundRect">
            <a:avLst>
              <a:gd name="adj" fmla="val 41667"/>
            </a:avLst>
          </a:prstGeom>
          <a:solidFill>
            <a:schemeClr val="accent1"/>
          </a:solidFill>
          <a:ln/>
        </p:spPr>
        <p:txBody>
          <a:bodyPr wrap="square" lIns="0" tIns="0" rIns="0" bIns="0" rtlCol="0" anchor="ctr"/>
          <a:lstStyle/>
          <a:p>
            <a:pPr algn="ctr" indent="0" marL="0">
              <a:buNone/>
            </a:pPr>
            <a:r>
              <a:rPr lang="en-US" sz="1200" b="1" spc="200" kern="0" dirty="0">
                <a:solidFill>
                  <a:schemeClr val="bg1"/>
                </a:solidFill>
              </a:rPr>
              <a:t>IMPACT</a:t>
            </a:r>
            <a:endParaRPr lang="en-US" sz="1200" dirty="0"/>
          </a:p>
        </p:txBody>
      </p:sp>
      <p:sp>
        <p:nvSpPr>
          <p:cNvPr id="3"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Safer routes cut time in flagged areas by 62%</a:t>
            </a:r>
            <a:endParaRPr lang="en-US" sz="3200" dirty="0"/>
          </a:p>
        </p:txBody>
      </p:sp>
      <p:graphicFrame>
        <p:nvGraphicFramePr>
          <p:cNvPr id="4" name="Fastest vs Safest + bike lanes across 8 trips" descr=""/>
          <p:cNvGraphicFramePr/>
          <p:nvPr/>
        </p:nvGraphicFramePr>
        <p:xfrm>
          <a:off x="640080" y="1737360"/>
          <a:ext cx="676656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955280" y="1783080"/>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1"/>
                </a:solidFill>
              </a:rPr>
              <a:t>−62%</a:t>
            </a:r>
            <a:endParaRPr lang="en-US" sz="3000" dirty="0"/>
          </a:p>
          <a:p>
            <a:pPr indent="0" marL="0">
              <a:spcAft>
                <a:spcPts val="200"/>
              </a:spcAft>
              <a:buNone/>
            </a:pPr>
            <a:r>
              <a:rPr lang="en-US" sz="1500" dirty="0">
                <a:solidFill>
                  <a:schemeClr val="tx2"/>
                </a:solidFill>
              </a:rPr>
              <a:t>time spent inside flagged areas</a:t>
            </a:r>
            <a:endParaRPr lang="en-US" sz="3000" dirty="0"/>
          </a:p>
        </p:txBody>
      </p:sp>
      <p:sp>
        <p:nvSpPr>
          <p:cNvPr id="6" name="Text 3"/>
          <p:cNvSpPr txBox="1"/>
          <p:nvPr/>
        </p:nvSpPr>
        <p:spPr>
          <a:xfrm>
            <a:off x="7955280" y="2807208"/>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1"/>
                </a:solidFill>
              </a:rPr>
              <a:t>−30%</a:t>
            </a:r>
            <a:endParaRPr lang="en-US" sz="3000" dirty="0"/>
          </a:p>
          <a:p>
            <a:pPr indent="0" marL="0">
              <a:spcAft>
                <a:spcPts val="200"/>
              </a:spcAft>
              <a:buNone/>
            </a:pPr>
            <a:r>
              <a:rPr lang="en-US" sz="1500" dirty="0">
                <a:solidFill>
                  <a:schemeClr val="tx2"/>
                </a:solidFill>
              </a:rPr>
              <a:t>average street danger</a:t>
            </a:r>
            <a:endParaRPr lang="en-US" sz="3000" dirty="0"/>
          </a:p>
        </p:txBody>
      </p:sp>
      <p:sp>
        <p:nvSpPr>
          <p:cNvPr id="7" name="Text 4"/>
          <p:cNvSpPr txBox="1"/>
          <p:nvPr/>
        </p:nvSpPr>
        <p:spPr>
          <a:xfrm>
            <a:off x="7955280" y="3831336"/>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1"/>
                </a:solidFill>
              </a:rPr>
              <a:t>2.1×</a:t>
            </a:r>
            <a:endParaRPr lang="en-US" sz="3000" dirty="0"/>
          </a:p>
          <a:p>
            <a:pPr indent="0" marL="0">
              <a:spcAft>
                <a:spcPts val="200"/>
              </a:spcAft>
              <a:buNone/>
            </a:pPr>
            <a:r>
              <a:rPr lang="en-US" sz="1500" dirty="0">
                <a:solidFill>
                  <a:schemeClr val="tx2"/>
                </a:solidFill>
              </a:rPr>
              <a:t>share of the ride on protected lanes</a:t>
            </a:r>
            <a:endParaRPr lang="en-US" sz="3000" dirty="0"/>
          </a:p>
        </p:txBody>
      </p:sp>
      <p:sp>
        <p:nvSpPr>
          <p:cNvPr id="8" name="Text 5"/>
          <p:cNvSpPr txBox="1"/>
          <p:nvPr/>
        </p:nvSpPr>
        <p:spPr>
          <a:xfrm>
            <a:off x="7955280" y="4855464"/>
            <a:ext cx="3657600" cy="1143000"/>
          </a:xfrm>
          <a:prstGeom prst="rect">
            <a:avLst/>
          </a:prstGeom>
          <a:noFill/>
          <a:ln/>
        </p:spPr>
        <p:txBody>
          <a:bodyPr wrap="square" lIns="0" tIns="0" rIns="0" bIns="0" rtlCol="0" anchor="t"/>
          <a:lstStyle/>
          <a:p>
            <a:pPr indent="0" marL="0">
              <a:spcAft>
                <a:spcPts val="200"/>
              </a:spcAft>
              <a:buNone/>
            </a:pPr>
            <a:r>
              <a:rPr lang="en-US" sz="3000" b="1" dirty="0">
                <a:solidFill>
                  <a:schemeClr val="accent2"/>
                </a:solidFill>
              </a:rPr>
              <a:t>+28%</a:t>
            </a:r>
            <a:endParaRPr lang="en-US" sz="3000" dirty="0"/>
          </a:p>
          <a:p>
            <a:pPr indent="0" marL="0">
              <a:spcAft>
                <a:spcPts val="200"/>
              </a:spcAft>
              <a:buNone/>
            </a:pPr>
            <a:r>
              <a:rPr lang="en-US" sz="1500" dirty="0">
                <a:solidFill>
                  <a:schemeClr val="tx2"/>
                </a:solidFill>
              </a:rPr>
              <a:t>ride time — the honest cost, shown on every route</a:t>
            </a:r>
            <a:endParaRPr lang="en-US" sz="3000" dirty="0"/>
          </a:p>
        </p:txBody>
      </p:sp>
      <p:sp>
        <p:nvSpPr>
          <p:cNvPr id="9" name="Text 6"/>
          <p:cNvSpPr txBox="1"/>
          <p:nvPr/>
        </p:nvSpPr>
        <p:spPr>
          <a:xfrm>
            <a:off x="640080" y="5943600"/>
            <a:ext cx="6766560" cy="274320"/>
          </a:xfrm>
          <a:prstGeom prst="rect">
            <a:avLst/>
          </a:prstGeom>
          <a:noFill/>
          <a:ln/>
        </p:spPr>
        <p:txBody>
          <a:bodyPr wrap="square" lIns="0" tIns="0" rIns="0" bIns="0" rtlCol="0" anchor="ctr"/>
          <a:lstStyle/>
          <a:p>
            <a:pPr indent="0" marL="0">
              <a:buNone/>
            </a:pPr>
            <a:r>
              <a:rPr lang="en-US" sz="1000" dirty="0">
                <a:solidFill>
                  <a:schemeClr val="accent5"/>
                </a:solidFill>
              </a:rPr>
              <a:t>Measured through our router on 8 cross-town San Francisco trips, averaged per trip</a:t>
            </a:r>
            <a:endParaRPr lang="en-US" sz="1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riterion tag"/>
          <p:cNvSpPr txBox="1"/>
          <p:nvPr/>
        </p:nvSpPr>
        <p:spPr>
          <a:xfrm>
            <a:off x="640080" y="320040"/>
            <a:ext cx="1371600" cy="329184"/>
          </a:xfrm>
          <a:prstGeom prst="roundRect">
            <a:avLst>
              <a:gd name="adj" fmla="val 41667"/>
            </a:avLst>
          </a:prstGeom>
          <a:solidFill>
            <a:schemeClr val="accent2"/>
          </a:solidFill>
          <a:ln/>
        </p:spPr>
        <p:txBody>
          <a:bodyPr wrap="square" lIns="0" tIns="0" rIns="0" bIns="0" rtlCol="0" anchor="ctr"/>
          <a:lstStyle/>
          <a:p>
            <a:pPr algn="ctr" indent="0" marL="0">
              <a:buNone/>
            </a:pPr>
            <a:r>
              <a:rPr lang="en-US" sz="1200" b="1" spc="200" kern="0" dirty="0">
                <a:solidFill>
                  <a:schemeClr val="bg1"/>
                </a:solidFill>
              </a:rPr>
              <a:t>PRACTICAL</a:t>
            </a:r>
            <a:endParaRPr lang="en-US" sz="1200" dirty="0"/>
          </a:p>
        </p:txBody>
      </p:sp>
      <p:sp>
        <p:nvSpPr>
          <p:cNvPr id="3"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It says what it avoided — and what it cost</a:t>
            </a:r>
            <a:endParaRPr lang="en-US" sz="3200" dirty="0"/>
          </a:p>
        </p:txBody>
      </p:sp>
      <p:sp>
        <p:nvSpPr>
          <p:cNvPr id="4" name="Route explanation checklist frame"/>
          <p:cNvSpPr/>
          <p:nvPr/>
        </p:nvSpPr>
        <p:spPr>
          <a:xfrm>
            <a:off x="658368" y="1709928"/>
            <a:ext cx="4352544" cy="4278170"/>
          </a:xfrm>
          <a:prstGeom prst="roundRect">
            <a:avLst>
              <a:gd name="adj" fmla="val 2565"/>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5" name="Route explanation checklist" descr="Route explanation checklist">    </p:cNvPr>
          <p:cNvPicPr>
            <a:picLocks noChangeAspect="1"/>
          </p:cNvPicPr>
          <p:nvPr/>
        </p:nvPicPr>
        <p:blipFill>
          <a:blip r:embed="rId1"/>
          <a:stretch>
            <a:fillRect/>
          </a:stretch>
        </p:blipFill>
        <p:spPr>
          <a:xfrm>
            <a:off x="731520" y="1783080"/>
            <a:ext cx="4206240" cy="4131866"/>
          </a:xfrm>
          <a:prstGeom prst="rect">
            <a:avLst/>
          </a:prstGeom>
        </p:spPr>
      </p:pic>
      <p:sp>
        <p:nvSpPr>
          <p:cNvPr id="6" name="Text 3"/>
          <p:cNvSpPr txBox="1"/>
          <p:nvPr/>
        </p:nvSpPr>
        <p:spPr>
          <a:xfrm>
            <a:off x="5486400" y="1783080"/>
            <a:ext cx="6035040" cy="411480"/>
          </a:xfrm>
          <a:prstGeom prst="rect">
            <a:avLst/>
          </a:prstGeom>
          <a:noFill/>
          <a:ln/>
        </p:spPr>
        <p:txBody>
          <a:bodyPr wrap="square" lIns="0" tIns="0" rIns="0" bIns="0" rtlCol="0" anchor="ctr"/>
          <a:lstStyle/>
          <a:p>
            <a:pPr indent="0" marL="0">
              <a:buNone/>
            </a:pPr>
            <a:r>
              <a:rPr lang="en-US" sz="2000" b="1" dirty="0">
                <a:solidFill>
                  <a:schemeClr val="tx1"/>
                </a:solidFill>
              </a:rPr>
              <a:t>Rules a rider can read</a:t>
            </a:r>
            <a:endParaRPr lang="en-US" sz="2000" dirty="0"/>
          </a:p>
        </p:txBody>
      </p:sp>
      <p:sp>
        <p:nvSpPr>
          <p:cNvPr id="7" name="Text 4"/>
          <p:cNvSpPr txBox="1"/>
          <p:nvPr/>
        </p:nvSpPr>
        <p:spPr>
          <a:xfrm>
            <a:off x="5486400" y="2240280"/>
            <a:ext cx="60350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Never enters a Severe area</a:t>
            </a:r>
            <a:endParaRPr lang="en-US" sz="1500" dirty="0"/>
          </a:p>
          <a:p>
            <a:pPr marL="342900" indent="-342900">
              <a:spcAft>
                <a:spcPts val="600"/>
              </a:spcAft>
              <a:buSzPct val="100000"/>
              <a:buChar char="•"/>
            </a:pPr>
            <a:r>
              <a:rPr lang="en-US" sz="1500" dirty="0">
                <a:solidFill>
                  <a:schemeClr val="tx2"/>
                </a:solidFill>
              </a:rPr>
              <a:t>Avoids High and Elevated areas unless that makes the ride 40%+ longer — then says where and why</a:t>
            </a:r>
            <a:endParaRPr lang="en-US" sz="1500" dirty="0"/>
          </a:p>
          <a:p>
            <a:pPr marL="342900" indent="-342900">
              <a:spcAft>
                <a:spcPts val="600"/>
              </a:spcAft>
              <a:buSzPct val="100000"/>
              <a:buChar char="•"/>
            </a:pPr>
            <a:r>
              <a:rPr lang="en-US" sz="1500" dirty="0">
                <a:solidFill>
                  <a:schemeClr val="tx2"/>
                </a:solidFill>
              </a:rPr>
              <a:t>Only claims it "avoided" an area if the fastest route actually goes through it</a:t>
            </a:r>
            <a:endParaRPr lang="en-US" sz="1500" dirty="0"/>
          </a:p>
        </p:txBody>
      </p:sp>
      <p:sp>
        <p:nvSpPr>
          <p:cNvPr id="8" name="Avoid hills card"/>
          <p:cNvSpPr/>
          <p:nvPr/>
        </p:nvSpPr>
        <p:spPr>
          <a:xfrm>
            <a:off x="5486400" y="3977640"/>
            <a:ext cx="6035040" cy="1965960"/>
          </a:xfrm>
          <a:prstGeom prst="roundRect">
            <a:avLst>
              <a:gd name="adj" fmla="val 5581"/>
            </a:avLst>
          </a:prstGeom>
          <a:solidFill>
            <a:schemeClr val="bg2"/>
          </a:solidFill>
          <a:ln/>
        </p:spPr>
      </p:sp>
      <p:sp>
        <p:nvSpPr>
          <p:cNvPr id="9" name="Avoid hills circle"/>
          <p:cNvSpPr/>
          <p:nvPr/>
        </p:nvSpPr>
        <p:spPr>
          <a:xfrm>
            <a:off x="5715000" y="4206240"/>
            <a:ext cx="548640" cy="548640"/>
          </a:xfrm>
          <a:prstGeom prst="ellipse">
            <a:avLst/>
          </a:prstGeom>
          <a:solidFill>
            <a:schemeClr val="accent2"/>
          </a:solidFill>
          <a:ln/>
        </p:spPr>
      </p:sp>
      <p:pic>
        <p:nvPicPr>
          <p:cNvPr id="10" name="Avoid hills icon" descr="Avoid hills">    </p:cNvPr>
          <p:cNvPicPr>
            <a:picLocks noChangeAspect="1"/>
          </p:cNvPicPr>
          <p:nvPr/>
        </p:nvPicPr>
        <p:blipFill>
          <a:blip r:embed="rId2"/>
          <a:stretch>
            <a:fillRect/>
          </a:stretch>
        </p:blipFill>
        <p:spPr>
          <a:xfrm>
            <a:off x="5852160" y="4343400"/>
            <a:ext cx="274320" cy="274320"/>
          </a:xfrm>
          <a:prstGeom prst="rect">
            <a:avLst/>
          </a:prstGeom>
        </p:spPr>
      </p:pic>
      <p:sp>
        <p:nvSpPr>
          <p:cNvPr id="11" name="Text 7"/>
          <p:cNvSpPr txBox="1"/>
          <p:nvPr/>
        </p:nvSpPr>
        <p:spPr>
          <a:xfrm>
            <a:off x="6446520" y="4224528"/>
            <a:ext cx="4937760" cy="457200"/>
          </a:xfrm>
          <a:prstGeom prst="rect">
            <a:avLst/>
          </a:prstGeom>
          <a:noFill/>
          <a:ln/>
        </p:spPr>
        <p:txBody>
          <a:bodyPr wrap="square" lIns="0" tIns="0" rIns="0" bIns="0" rtlCol="0" anchor="ctr"/>
          <a:lstStyle/>
          <a:p>
            <a:pPr indent="0" marL="0">
              <a:buNone/>
            </a:pPr>
            <a:r>
              <a:rPr lang="en-US" sz="1600" b="1" dirty="0">
                <a:solidFill>
                  <a:schemeClr val="tx1"/>
                </a:solidFill>
              </a:rPr>
              <a:t>Avoid hills — Ocean Beach → Ferry Building</a:t>
            </a:r>
            <a:endParaRPr lang="en-US" sz="1600" dirty="0"/>
          </a:p>
        </p:txBody>
      </p:sp>
      <p:sp>
        <p:nvSpPr>
          <p:cNvPr id="12" name="Text 8"/>
          <p:cNvSpPr txBox="1"/>
          <p:nvPr/>
        </p:nvSpPr>
        <p:spPr>
          <a:xfrm>
            <a:off x="5715000" y="4892040"/>
            <a:ext cx="1874520" cy="868680"/>
          </a:xfrm>
          <a:prstGeom prst="rect">
            <a:avLst/>
          </a:prstGeom>
          <a:noFill/>
          <a:ln/>
        </p:spPr>
        <p:txBody>
          <a:bodyPr wrap="square" lIns="0" tIns="0" rIns="0" bIns="0" rtlCol="0" anchor="t"/>
          <a:lstStyle/>
          <a:p>
            <a:pPr indent="0" marL="0">
              <a:buNone/>
            </a:pPr>
            <a:r>
              <a:rPr lang="en-US" sz="2000" b="1" dirty="0">
                <a:solidFill>
                  <a:schemeClr val="accent2"/>
                </a:solidFill>
              </a:rPr>
              <a:t>21.8% → 8.6%</a:t>
            </a:r>
            <a:endParaRPr lang="en-US" sz="2000" dirty="0"/>
          </a:p>
          <a:p>
            <a:pPr indent="0" marL="0">
              <a:buNone/>
            </a:pPr>
            <a:r>
              <a:rPr lang="en-US" sz="1300" dirty="0">
                <a:solidFill>
                  <a:schemeClr val="tx2"/>
                </a:solidFill>
              </a:rPr>
              <a:t>steepest climb</a:t>
            </a:r>
            <a:endParaRPr lang="en-US" sz="2000" dirty="0"/>
          </a:p>
        </p:txBody>
      </p:sp>
      <p:sp>
        <p:nvSpPr>
          <p:cNvPr id="13" name="Text 9"/>
          <p:cNvSpPr txBox="1"/>
          <p:nvPr/>
        </p:nvSpPr>
        <p:spPr>
          <a:xfrm>
            <a:off x="7635240" y="4892040"/>
            <a:ext cx="1874520" cy="868680"/>
          </a:xfrm>
          <a:prstGeom prst="rect">
            <a:avLst/>
          </a:prstGeom>
          <a:noFill/>
          <a:ln/>
        </p:spPr>
        <p:txBody>
          <a:bodyPr wrap="square" lIns="0" tIns="0" rIns="0" bIns="0" rtlCol="0" anchor="t"/>
          <a:lstStyle/>
          <a:p>
            <a:pPr indent="0" marL="0">
              <a:buNone/>
            </a:pPr>
            <a:r>
              <a:rPr lang="en-US" sz="2000" b="1" dirty="0">
                <a:solidFill>
                  <a:schemeClr val="accent2"/>
                </a:solidFill>
              </a:rPr>
              <a:t>1,027 → 518 ft</a:t>
            </a:r>
            <a:endParaRPr lang="en-US" sz="2000" dirty="0"/>
          </a:p>
          <a:p>
            <a:pPr indent="0" marL="0">
              <a:buNone/>
            </a:pPr>
            <a:r>
              <a:rPr lang="en-US" sz="1300" dirty="0">
                <a:solidFill>
                  <a:schemeClr val="tx2"/>
                </a:solidFill>
              </a:rPr>
              <a:t>total climbing</a:t>
            </a:r>
            <a:endParaRPr lang="en-US" sz="2000" dirty="0"/>
          </a:p>
        </p:txBody>
      </p:sp>
      <p:sp>
        <p:nvSpPr>
          <p:cNvPr id="14" name="Text 10"/>
          <p:cNvSpPr txBox="1"/>
          <p:nvPr/>
        </p:nvSpPr>
        <p:spPr>
          <a:xfrm>
            <a:off x="9555480" y="4892040"/>
            <a:ext cx="1874520" cy="868680"/>
          </a:xfrm>
          <a:prstGeom prst="rect">
            <a:avLst/>
          </a:prstGeom>
          <a:noFill/>
          <a:ln/>
        </p:spPr>
        <p:txBody>
          <a:bodyPr wrap="square" lIns="0" tIns="0" rIns="0" bIns="0" rtlCol="0" anchor="t"/>
          <a:lstStyle/>
          <a:p>
            <a:pPr indent="0" marL="0">
              <a:buNone/>
            </a:pPr>
            <a:r>
              <a:rPr lang="en-US" sz="2000" b="1" dirty="0">
                <a:solidFill>
                  <a:schemeClr val="accent2"/>
                </a:solidFill>
              </a:rPr>
              <a:t>7 min</a:t>
            </a:r>
            <a:endParaRPr lang="en-US" sz="2000" dirty="0"/>
          </a:p>
          <a:p>
            <a:pPr indent="0" marL="0">
              <a:buNone/>
            </a:pPr>
            <a:r>
              <a:rPr lang="en-US" sz="1300" dirty="0">
                <a:solidFill>
                  <a:schemeClr val="tx2"/>
                </a:solidFill>
              </a:rPr>
              <a:t>quicker, too</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riterion tag"/>
          <p:cNvSpPr txBox="1"/>
          <p:nvPr/>
        </p:nvSpPr>
        <p:spPr>
          <a:xfrm>
            <a:off x="640080" y="320040"/>
            <a:ext cx="1371600" cy="329184"/>
          </a:xfrm>
          <a:prstGeom prst="roundRect">
            <a:avLst>
              <a:gd name="adj" fmla="val 41667"/>
            </a:avLst>
          </a:prstGeom>
          <a:solidFill>
            <a:schemeClr val="accent4"/>
          </a:solidFill>
          <a:ln/>
        </p:spPr>
        <p:txBody>
          <a:bodyPr wrap="square" lIns="0" tIns="0" rIns="0" bIns="0" rtlCol="0" anchor="ctr"/>
          <a:lstStyle/>
          <a:p>
            <a:pPr algn="ctr" indent="0" marL="0">
              <a:buNone/>
            </a:pPr>
            <a:r>
              <a:rPr lang="en-US" sz="1200" b="1" spc="200" kern="0" dirty="0">
                <a:solidFill>
                  <a:schemeClr val="bg1"/>
                </a:solidFill>
              </a:rPr>
              <a:t>CREATIVE</a:t>
            </a:r>
            <a:endParaRPr lang="en-US" sz="1200" dirty="0"/>
          </a:p>
        </p:txBody>
      </p:sp>
      <p:sp>
        <p:nvSpPr>
          <p:cNvPr id="3"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Just say what kind of ride you want</a:t>
            </a:r>
            <a:endParaRPr lang="en-US" sz="3200" dirty="0"/>
          </a:p>
        </p:txBody>
      </p:sp>
      <p:sp>
        <p:nvSpPr>
          <p:cNvPr id="4" name="Route assistant conversation frame"/>
          <p:cNvSpPr/>
          <p:nvPr/>
        </p:nvSpPr>
        <p:spPr>
          <a:xfrm>
            <a:off x="658368" y="1709928"/>
            <a:ext cx="4078224" cy="3797112"/>
          </a:xfrm>
          <a:prstGeom prst="roundRect">
            <a:avLst>
              <a:gd name="adj" fmla="val 2890"/>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5" name="Route assistant conversation" descr="Route assistant conversation">    </p:cNvPr>
          <p:cNvPicPr>
            <a:picLocks noChangeAspect="1"/>
          </p:cNvPicPr>
          <p:nvPr/>
        </p:nvPicPr>
        <p:blipFill>
          <a:blip r:embed="rId1"/>
          <a:stretch>
            <a:fillRect/>
          </a:stretch>
        </p:blipFill>
        <p:spPr>
          <a:xfrm>
            <a:off x="731520" y="1783080"/>
            <a:ext cx="3931920" cy="3650808"/>
          </a:xfrm>
          <a:prstGeom prst="rect">
            <a:avLst/>
          </a:prstGeom>
        </p:spPr>
      </p:pic>
      <p:sp>
        <p:nvSpPr>
          <p:cNvPr id="6" name="Assistant's For you route with stops frame"/>
          <p:cNvSpPr/>
          <p:nvPr/>
        </p:nvSpPr>
        <p:spPr>
          <a:xfrm>
            <a:off x="5001768" y="1709928"/>
            <a:ext cx="3300984" cy="3784920"/>
          </a:xfrm>
          <a:prstGeom prst="roundRect">
            <a:avLst>
              <a:gd name="adj" fmla="val 3324"/>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7" name="Assistant's For you route with stops" descr="Assistant's For you route with stops">    </p:cNvPr>
          <p:cNvPicPr>
            <a:picLocks noChangeAspect="1"/>
          </p:cNvPicPr>
          <p:nvPr/>
        </p:nvPicPr>
        <p:blipFill>
          <a:blip r:embed="rId2"/>
          <a:stretch>
            <a:fillRect/>
          </a:stretch>
        </p:blipFill>
        <p:spPr>
          <a:xfrm>
            <a:off x="5074920" y="1783080"/>
            <a:ext cx="3154680" cy="3638616"/>
          </a:xfrm>
          <a:prstGeom prst="rect">
            <a:avLst/>
          </a:prstGeom>
        </p:spPr>
      </p:pic>
      <p:sp>
        <p:nvSpPr>
          <p:cNvPr id="8" name="Same controls as you circle"/>
          <p:cNvSpPr/>
          <p:nvPr/>
        </p:nvSpPr>
        <p:spPr>
          <a:xfrm>
            <a:off x="8641080" y="1783080"/>
            <a:ext cx="502920" cy="502920"/>
          </a:xfrm>
          <a:prstGeom prst="ellipse">
            <a:avLst/>
          </a:prstGeom>
          <a:solidFill>
            <a:schemeClr val="accent4"/>
          </a:solidFill>
          <a:ln/>
        </p:spPr>
      </p:sp>
      <p:pic>
        <p:nvPicPr>
          <p:cNvPr id="9" name="Same controls as you icon" descr="Same controls as you">    </p:cNvPr>
          <p:cNvPicPr>
            <a:picLocks noChangeAspect="1"/>
          </p:cNvPicPr>
          <p:nvPr/>
        </p:nvPicPr>
        <p:blipFill>
          <a:blip r:embed="rId3"/>
          <a:stretch>
            <a:fillRect/>
          </a:stretch>
        </p:blipFill>
        <p:spPr>
          <a:xfrm>
            <a:off x="8766810" y="1908810"/>
            <a:ext cx="251460" cy="251460"/>
          </a:xfrm>
          <a:prstGeom prst="rect">
            <a:avLst/>
          </a:prstGeom>
        </p:spPr>
      </p:pic>
      <p:sp>
        <p:nvSpPr>
          <p:cNvPr id="10" name="Text 5"/>
          <p:cNvSpPr txBox="1"/>
          <p:nvPr/>
        </p:nvSpPr>
        <p:spPr>
          <a:xfrm>
            <a:off x="9281160" y="1737360"/>
            <a:ext cx="2377440" cy="1188720"/>
          </a:xfrm>
          <a:prstGeom prst="rect">
            <a:avLst/>
          </a:prstGeom>
          <a:noFill/>
          <a:ln/>
        </p:spPr>
        <p:txBody>
          <a:bodyPr wrap="square" lIns="0" tIns="0" rIns="0" bIns="0" rtlCol="0" anchor="t"/>
          <a:lstStyle/>
          <a:p>
            <a:pPr indent="0" marL="0">
              <a:buNone/>
            </a:pPr>
            <a:r>
              <a:rPr lang="en-US" sz="1600" b="1" dirty="0">
                <a:solidFill>
                  <a:schemeClr val="tx1"/>
                </a:solidFill>
              </a:rPr>
              <a:t>Same controls as you</a:t>
            </a:r>
            <a:endParaRPr lang="en-US" sz="1600" dirty="0"/>
          </a:p>
          <a:p>
            <a:pPr indent="0" marL="0">
              <a:buNone/>
            </a:pPr>
            <a:r>
              <a:rPr lang="en-US" sz="1300" dirty="0">
                <a:solidFill>
                  <a:schemeClr val="tx2"/>
                </a:solidFill>
              </a:rPr>
              <a:t>The AI can't break a safety rule — it can only flip the switches a rider can</a:t>
            </a:r>
            <a:endParaRPr lang="en-US" sz="1600" dirty="0"/>
          </a:p>
        </p:txBody>
      </p:sp>
      <p:sp>
        <p:nvSpPr>
          <p:cNvPr id="11" name="Visible and undoable circle"/>
          <p:cNvSpPr/>
          <p:nvPr/>
        </p:nvSpPr>
        <p:spPr>
          <a:xfrm>
            <a:off x="8641080" y="3108960"/>
            <a:ext cx="502920" cy="502920"/>
          </a:xfrm>
          <a:prstGeom prst="ellipse">
            <a:avLst/>
          </a:prstGeom>
          <a:solidFill>
            <a:schemeClr val="accent4"/>
          </a:solidFill>
          <a:ln/>
        </p:spPr>
      </p:sp>
      <p:pic>
        <p:nvPicPr>
          <p:cNvPr id="12" name="Visible and undoable icon" descr="Visible and undoable">    </p:cNvPr>
          <p:cNvPicPr>
            <a:picLocks noChangeAspect="1"/>
          </p:cNvPicPr>
          <p:nvPr/>
        </p:nvPicPr>
        <p:blipFill>
          <a:blip r:embed="rId4"/>
          <a:stretch>
            <a:fillRect/>
          </a:stretch>
        </p:blipFill>
        <p:spPr>
          <a:xfrm>
            <a:off x="8766810" y="3234690"/>
            <a:ext cx="251460" cy="251460"/>
          </a:xfrm>
          <a:prstGeom prst="rect">
            <a:avLst/>
          </a:prstGeom>
        </p:spPr>
      </p:pic>
      <p:sp>
        <p:nvSpPr>
          <p:cNvPr id="13" name="Text 7"/>
          <p:cNvSpPr txBox="1"/>
          <p:nvPr/>
        </p:nvSpPr>
        <p:spPr>
          <a:xfrm>
            <a:off x="9281160" y="3063240"/>
            <a:ext cx="2377440" cy="1188720"/>
          </a:xfrm>
          <a:prstGeom prst="rect">
            <a:avLst/>
          </a:prstGeom>
          <a:noFill/>
          <a:ln/>
        </p:spPr>
        <p:txBody>
          <a:bodyPr wrap="square" lIns="0" tIns="0" rIns="0" bIns="0" rtlCol="0" anchor="t"/>
          <a:lstStyle/>
          <a:p>
            <a:pPr indent="0" marL="0">
              <a:buNone/>
            </a:pPr>
            <a:r>
              <a:rPr lang="en-US" sz="1600" b="1" dirty="0">
                <a:solidFill>
                  <a:schemeClr val="tx1"/>
                </a:solidFill>
              </a:rPr>
              <a:t>Visible and undoable</a:t>
            </a:r>
            <a:endParaRPr lang="en-US" sz="1600" dirty="0"/>
          </a:p>
          <a:p>
            <a:pPr indent="0" marL="0">
              <a:buNone/>
            </a:pPr>
            <a:r>
              <a:rPr lang="en-US" sz="1300" dirty="0">
                <a:solidFill>
                  <a:schemeClr val="tx2"/>
                </a:solidFill>
              </a:rPr>
              <a:t>Every change it makes shows up in the sidebar</a:t>
            </a:r>
            <a:endParaRPr lang="en-US" sz="1600" dirty="0"/>
          </a:p>
        </p:txBody>
      </p:sp>
      <p:sp>
        <p:nvSpPr>
          <p:cNvPr id="14" name="Real places circle"/>
          <p:cNvSpPr/>
          <p:nvPr/>
        </p:nvSpPr>
        <p:spPr>
          <a:xfrm>
            <a:off x="8641080" y="4434840"/>
            <a:ext cx="502920" cy="502920"/>
          </a:xfrm>
          <a:prstGeom prst="ellipse">
            <a:avLst/>
          </a:prstGeom>
          <a:solidFill>
            <a:schemeClr val="accent4"/>
          </a:solidFill>
          <a:ln/>
        </p:spPr>
      </p:sp>
      <p:pic>
        <p:nvPicPr>
          <p:cNvPr id="15" name="Real places icon" descr="Real places">    </p:cNvPr>
          <p:cNvPicPr>
            <a:picLocks noChangeAspect="1"/>
          </p:cNvPicPr>
          <p:nvPr/>
        </p:nvPicPr>
        <p:blipFill>
          <a:blip r:embed="rId5"/>
          <a:stretch>
            <a:fillRect/>
          </a:stretch>
        </p:blipFill>
        <p:spPr>
          <a:xfrm>
            <a:off x="8766810" y="4560570"/>
            <a:ext cx="251460" cy="251460"/>
          </a:xfrm>
          <a:prstGeom prst="rect">
            <a:avLst/>
          </a:prstGeom>
        </p:spPr>
      </p:pic>
      <p:sp>
        <p:nvSpPr>
          <p:cNvPr id="16" name="Text 9"/>
          <p:cNvSpPr txBox="1"/>
          <p:nvPr/>
        </p:nvSpPr>
        <p:spPr>
          <a:xfrm>
            <a:off x="9281160" y="4389120"/>
            <a:ext cx="2377440" cy="1188720"/>
          </a:xfrm>
          <a:prstGeom prst="rect">
            <a:avLst/>
          </a:prstGeom>
          <a:noFill/>
          <a:ln/>
        </p:spPr>
        <p:txBody>
          <a:bodyPr wrap="square" lIns="0" tIns="0" rIns="0" bIns="0" rtlCol="0" anchor="t"/>
          <a:lstStyle/>
          <a:p>
            <a:pPr indent="0" marL="0">
              <a:buNone/>
            </a:pPr>
            <a:r>
              <a:rPr lang="en-US" sz="1600" b="1" dirty="0">
                <a:solidFill>
                  <a:schemeClr val="tx1"/>
                </a:solidFill>
              </a:rPr>
              <a:t>Real places</a:t>
            </a:r>
            <a:endParaRPr lang="en-US" sz="1600" dirty="0"/>
          </a:p>
          <a:p>
            <a:pPr indent="0" marL="0">
              <a:buNone/>
            </a:pPr>
            <a:r>
              <a:rPr lang="en-US" sz="1300" dirty="0">
                <a:solidFill>
                  <a:schemeClr val="tx2"/>
                </a:solidFill>
              </a:rPr>
              <a:t>3,712 spots from OpenStreetMap — never one inside a Severe area</a:t>
            </a:r>
            <a:endParaRPr lang="en-US" sz="1600" dirty="0"/>
          </a:p>
        </p:txBody>
      </p:sp>
      <p:sp>
        <p:nvSpPr>
          <p:cNvPr id="17" name="Text 10"/>
          <p:cNvSpPr txBox="1"/>
          <p:nvPr/>
        </p:nvSpPr>
        <p:spPr>
          <a:xfrm>
            <a:off x="731520" y="5760720"/>
            <a:ext cx="7498080" cy="365760"/>
          </a:xfrm>
          <a:prstGeom prst="rect">
            <a:avLst/>
          </a:prstGeom>
          <a:noFill/>
          <a:ln/>
        </p:spPr>
        <p:txBody>
          <a:bodyPr wrap="square" lIns="0" tIns="0" rIns="0" bIns="0" rtlCol="0" anchor="ctr"/>
          <a:lstStyle/>
          <a:p>
            <a:pPr indent="0" marL="0">
              <a:buNone/>
            </a:pPr>
            <a:r>
              <a:rPr lang="en-US" sz="1400" i="1" dirty="0">
                <a:solidFill>
                  <a:schemeClr val="tx2"/>
                </a:solidFill>
              </a:rPr>
              <a:t>One sentence → a "For you" ride: Safest rules, no big hills, a boba stop and a park, 5.4 mi</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bg1"/>
                </a:solidFill>
              </a:rPr>
              <a:t>Preview the ride before you ride it</a:t>
            </a:r>
            <a:endParaRPr lang="en-US" sz="3200" dirty="0"/>
          </a:p>
        </p:txBody>
      </p:sp>
      <p:sp>
        <p:nvSpPr>
          <p:cNvPr id="3" name="criterion tag"/>
          <p:cNvSpPr txBox="1"/>
          <p:nvPr/>
        </p:nvSpPr>
        <p:spPr>
          <a:xfrm>
            <a:off x="640080" y="320040"/>
            <a:ext cx="1371600" cy="329184"/>
          </a:xfrm>
          <a:prstGeom prst="roundRect">
            <a:avLst>
              <a:gd name="adj" fmla="val 41667"/>
            </a:avLst>
          </a:prstGeom>
          <a:solidFill>
            <a:schemeClr val="accent4"/>
          </a:solidFill>
          <a:ln/>
        </p:spPr>
        <p:txBody>
          <a:bodyPr wrap="square" lIns="0" tIns="0" rIns="0" bIns="0" rtlCol="0" anchor="ctr"/>
          <a:lstStyle/>
          <a:p>
            <a:pPr algn="ctr" indent="0" marL="0">
              <a:buNone/>
            </a:pPr>
            <a:r>
              <a:rPr lang="en-US" sz="1200" b="1" spc="200" kern="0" dirty="0">
                <a:solidFill>
                  <a:schemeClr val="bg1"/>
                </a:solidFill>
              </a:rPr>
              <a:t>CREATIVE</a:t>
            </a:r>
            <a:endParaRPr lang="en-US" sz="1200" dirty="0"/>
          </a:p>
        </p:txBody>
      </p:sp>
      <p:sp>
        <p:nvSpPr>
          <p:cNvPr id="4" name="3D tour protected lane callout frame"/>
          <p:cNvSpPr/>
          <p:nvPr/>
        </p:nvSpPr>
        <p:spPr>
          <a:xfrm>
            <a:off x="658368" y="1527048"/>
            <a:ext cx="5404104" cy="3995352"/>
          </a:xfrm>
          <a:prstGeom prst="roundRect">
            <a:avLst>
              <a:gd name="adj" fmla="val 2746"/>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5" name="3D tour protected lane callout" descr="3D tour protected lane callout">    </p:cNvPr>
          <p:cNvPicPr>
            <a:picLocks noChangeAspect="1"/>
          </p:cNvPicPr>
          <p:nvPr/>
        </p:nvPicPr>
        <p:blipFill>
          <a:blip r:embed="rId1"/>
          <a:stretch>
            <a:fillRect/>
          </a:stretch>
        </p:blipFill>
        <p:spPr>
          <a:xfrm>
            <a:off x="731520" y="1600200"/>
            <a:ext cx="5257800" cy="3849048"/>
          </a:xfrm>
          <a:prstGeom prst="rect">
            <a:avLst/>
          </a:prstGeom>
        </p:spPr>
      </p:pic>
      <p:sp>
        <p:nvSpPr>
          <p:cNvPr id="6" name="3D tour steep climb frame"/>
          <p:cNvSpPr/>
          <p:nvPr/>
        </p:nvSpPr>
        <p:spPr>
          <a:xfrm>
            <a:off x="6190488" y="1527048"/>
            <a:ext cx="5404104" cy="3995352"/>
          </a:xfrm>
          <a:prstGeom prst="roundRect">
            <a:avLst>
              <a:gd name="adj" fmla="val 2746"/>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7" name="3D tour steep climb" descr="3D tour steep climb">    </p:cNvPr>
          <p:cNvPicPr>
            <a:picLocks noChangeAspect="1"/>
          </p:cNvPicPr>
          <p:nvPr/>
        </p:nvPicPr>
        <p:blipFill>
          <a:blip r:embed="rId2"/>
          <a:stretch>
            <a:fillRect/>
          </a:stretch>
        </p:blipFill>
        <p:spPr>
          <a:xfrm>
            <a:off x="6263640" y="1600200"/>
            <a:ext cx="5257800" cy="3849048"/>
          </a:xfrm>
          <a:prstGeom prst="rect">
            <a:avLst/>
          </a:prstGeom>
        </p:spPr>
      </p:pic>
      <p:sp>
        <p:nvSpPr>
          <p:cNvPr id="8" name="Text 4"/>
          <p:cNvSpPr txBox="1"/>
          <p:nvPr/>
        </p:nvSpPr>
        <p:spPr>
          <a:xfrm>
            <a:off x="731520" y="5632128"/>
            <a:ext cx="5257800" cy="365760"/>
          </a:xfrm>
          <a:prstGeom prst="rect">
            <a:avLst/>
          </a:prstGeom>
          <a:noFill/>
          <a:ln/>
        </p:spPr>
        <p:txBody>
          <a:bodyPr wrap="square" lIns="0" tIns="0" rIns="0" bIns="0" rtlCol="0" anchor="ctr"/>
          <a:lstStyle/>
          <a:p>
            <a:pPr indent="0" marL="0">
              <a:buNone/>
            </a:pPr>
            <a:r>
              <a:rPr lang="en-US" sz="1500" b="1" dirty="0">
                <a:solidFill>
                  <a:schemeClr val="bg1"/>
                </a:solidFill>
              </a:rPr>
              <a:t>Calls out protected lanes the moment you reach them</a:t>
            </a:r>
            <a:endParaRPr lang="en-US" sz="1500" dirty="0"/>
          </a:p>
        </p:txBody>
      </p:sp>
      <p:sp>
        <p:nvSpPr>
          <p:cNvPr id="9" name="Text 5"/>
          <p:cNvSpPr txBox="1"/>
          <p:nvPr/>
        </p:nvSpPr>
        <p:spPr>
          <a:xfrm>
            <a:off x="6263640" y="5632128"/>
            <a:ext cx="5257800" cy="365760"/>
          </a:xfrm>
          <a:prstGeom prst="rect">
            <a:avLst/>
          </a:prstGeom>
          <a:noFill/>
          <a:ln/>
        </p:spPr>
        <p:txBody>
          <a:bodyPr wrap="square" lIns="0" tIns="0" rIns="0" bIns="0" rtlCol="0" anchor="ctr"/>
          <a:lstStyle/>
          <a:p>
            <a:pPr indent="0" marL="0">
              <a:buNone/>
            </a:pPr>
            <a:r>
              <a:rPr lang="en-US" sz="1500" b="1" dirty="0">
                <a:solidFill>
                  <a:schemeClr val="bg1"/>
                </a:solidFill>
              </a:rPr>
              <a:t>Shows the slope ahead — this block is a 17.7% climb</a:t>
            </a:r>
            <a:endParaRPr lang="en-US" sz="1500" dirty="0"/>
          </a:p>
        </p:txBody>
      </p:sp>
      <p:sp>
        <p:nvSpPr>
          <p:cNvPr id="10" name="Text 6"/>
          <p:cNvSpPr txBox="1"/>
          <p:nvPr/>
        </p:nvSpPr>
        <p:spPr>
          <a:xfrm>
            <a:off x="731520" y="5989320"/>
            <a:ext cx="10789920" cy="320040"/>
          </a:xfrm>
          <a:prstGeom prst="rect">
            <a:avLst/>
          </a:prstGeom>
          <a:noFill/>
          <a:ln/>
        </p:spPr>
        <p:txBody>
          <a:bodyPr wrap="square" lIns="0" tIns="0" rIns="0" bIns="0" rtlCol="0" anchor="ctr"/>
          <a:lstStyle/>
          <a:p>
            <a:pPr indent="0" marL="0">
              <a:buNone/>
            </a:pPr>
            <a:r>
              <a:rPr lang="en-US" sz="1300" dirty="0">
                <a:solidFill>
                  <a:srgbClr val="C9D6D0"/>
                </a:solidFill>
              </a:rPr>
              <a:t>Real aerial photos · real terrain · San Francisco's own LiDAR building heights</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riterion tag"/>
          <p:cNvSpPr txBox="1"/>
          <p:nvPr/>
        </p:nvSpPr>
        <p:spPr>
          <a:xfrm>
            <a:off x="640080" y="320040"/>
            <a:ext cx="1371600" cy="329184"/>
          </a:xfrm>
          <a:prstGeom prst="roundRect">
            <a:avLst>
              <a:gd name="adj" fmla="val 41667"/>
            </a:avLst>
          </a:prstGeom>
          <a:solidFill>
            <a:schemeClr val="accent2"/>
          </a:solidFill>
          <a:ln/>
        </p:spPr>
        <p:txBody>
          <a:bodyPr wrap="square" lIns="0" tIns="0" rIns="0" bIns="0" rtlCol="0" anchor="ctr"/>
          <a:lstStyle/>
          <a:p>
            <a:pPr algn="ctr" indent="0" marL="0">
              <a:buNone/>
            </a:pPr>
            <a:r>
              <a:rPr lang="en-US" sz="1200" b="1" spc="200" kern="0" dirty="0">
                <a:solidFill>
                  <a:schemeClr val="bg1"/>
                </a:solidFill>
              </a:rPr>
              <a:t>PRACTICAL</a:t>
            </a:r>
            <a:endParaRPr lang="en-US" sz="1200" dirty="0"/>
          </a:p>
        </p:txBody>
      </p:sp>
      <p:sp>
        <p:nvSpPr>
          <p:cNvPr id="3"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From plan to the street</a:t>
            </a:r>
            <a:endParaRPr lang="en-US" sz="3200" dirty="0"/>
          </a:p>
        </p:txBody>
      </p:sp>
      <p:sp>
        <p:nvSpPr>
          <p:cNvPr id="4" name="Turn-by-turn navigation frame"/>
          <p:cNvSpPr/>
          <p:nvPr/>
        </p:nvSpPr>
        <p:spPr>
          <a:xfrm>
            <a:off x="658368" y="1709928"/>
            <a:ext cx="5998464" cy="4430462"/>
          </a:xfrm>
          <a:prstGeom prst="roundRect">
            <a:avLst>
              <a:gd name="adj" fmla="val 2477"/>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5" name="Turn-by-turn navigation" descr="Turn-by-turn navigation">    </p:cNvPr>
          <p:cNvPicPr>
            <a:picLocks noChangeAspect="1"/>
          </p:cNvPicPr>
          <p:nvPr/>
        </p:nvPicPr>
        <p:blipFill>
          <a:blip r:embed="rId1"/>
          <a:stretch>
            <a:fillRect/>
          </a:stretch>
        </p:blipFill>
        <p:spPr>
          <a:xfrm>
            <a:off x="731520" y="1783080"/>
            <a:ext cx="5852160" cy="4284158"/>
          </a:xfrm>
          <a:prstGeom prst="rect">
            <a:avLst/>
          </a:prstGeom>
        </p:spPr>
      </p:pic>
      <p:sp>
        <p:nvSpPr>
          <p:cNvPr id="6" name="Turn-by-turn with live GPS circle"/>
          <p:cNvSpPr/>
          <p:nvPr/>
        </p:nvSpPr>
        <p:spPr>
          <a:xfrm>
            <a:off x="7132320" y="1783080"/>
            <a:ext cx="502920" cy="502920"/>
          </a:xfrm>
          <a:prstGeom prst="ellipse">
            <a:avLst/>
          </a:prstGeom>
          <a:solidFill>
            <a:schemeClr val="accent2"/>
          </a:solidFill>
          <a:ln/>
        </p:spPr>
      </p:sp>
      <p:pic>
        <p:nvPicPr>
          <p:cNvPr id="7" name="Turn-by-turn with live GPS icon" descr="Turn-by-turn with live GPS">    </p:cNvPr>
          <p:cNvPicPr>
            <a:picLocks noChangeAspect="1"/>
          </p:cNvPicPr>
          <p:nvPr/>
        </p:nvPicPr>
        <p:blipFill>
          <a:blip r:embed="rId2"/>
          <a:stretch>
            <a:fillRect/>
          </a:stretch>
        </p:blipFill>
        <p:spPr>
          <a:xfrm>
            <a:off x="7258050" y="1908810"/>
            <a:ext cx="251460" cy="251460"/>
          </a:xfrm>
          <a:prstGeom prst="rect">
            <a:avLst/>
          </a:prstGeom>
        </p:spPr>
      </p:pic>
      <p:sp>
        <p:nvSpPr>
          <p:cNvPr id="8" name="Text 4"/>
          <p:cNvSpPr txBox="1"/>
          <p:nvPr/>
        </p:nvSpPr>
        <p:spPr>
          <a:xfrm>
            <a:off x="7772400" y="1737360"/>
            <a:ext cx="3840480" cy="914400"/>
          </a:xfrm>
          <a:prstGeom prst="rect">
            <a:avLst/>
          </a:prstGeom>
          <a:noFill/>
          <a:ln/>
        </p:spPr>
        <p:txBody>
          <a:bodyPr wrap="square" lIns="0" tIns="0" rIns="0" bIns="0" rtlCol="0" anchor="t"/>
          <a:lstStyle/>
          <a:p>
            <a:pPr indent="0" marL="0">
              <a:buNone/>
            </a:pPr>
            <a:r>
              <a:rPr lang="en-US" sz="1600" b="1" dirty="0">
                <a:solidFill>
                  <a:schemeClr val="tx1"/>
                </a:solidFill>
              </a:rPr>
              <a:t>Turn-by-turn with live GPS</a:t>
            </a:r>
            <a:endParaRPr lang="en-US" sz="1600" dirty="0"/>
          </a:p>
          <a:p>
            <a:pPr indent="0" marL="0">
              <a:buNone/>
            </a:pPr>
            <a:r>
              <a:rPr lang="en-US" sz="1300" dirty="0">
                <a:solidFill>
                  <a:schemeClr val="tx2"/>
                </a:solidFill>
              </a:rPr>
              <a:t>Works in a phone browser today</a:t>
            </a:r>
            <a:endParaRPr lang="en-US" sz="1600" dirty="0"/>
          </a:p>
        </p:txBody>
      </p:sp>
      <p:sp>
        <p:nvSpPr>
          <p:cNvPr id="9" name="Reroutes keep your choice circle"/>
          <p:cNvSpPr/>
          <p:nvPr/>
        </p:nvSpPr>
        <p:spPr>
          <a:xfrm>
            <a:off x="7132320" y="2807208"/>
            <a:ext cx="502920" cy="502920"/>
          </a:xfrm>
          <a:prstGeom prst="ellipse">
            <a:avLst/>
          </a:prstGeom>
          <a:solidFill>
            <a:schemeClr val="accent2"/>
          </a:solidFill>
          <a:ln/>
        </p:spPr>
      </p:sp>
      <p:pic>
        <p:nvPicPr>
          <p:cNvPr id="10" name="Reroutes keep your choice icon" descr="Reroutes keep your choice">    </p:cNvPr>
          <p:cNvPicPr>
            <a:picLocks noChangeAspect="1"/>
          </p:cNvPicPr>
          <p:nvPr/>
        </p:nvPicPr>
        <p:blipFill>
          <a:blip r:embed="rId3"/>
          <a:stretch>
            <a:fillRect/>
          </a:stretch>
        </p:blipFill>
        <p:spPr>
          <a:xfrm>
            <a:off x="7258050" y="2932938"/>
            <a:ext cx="251460" cy="251460"/>
          </a:xfrm>
          <a:prstGeom prst="rect">
            <a:avLst/>
          </a:prstGeom>
        </p:spPr>
      </p:pic>
      <p:sp>
        <p:nvSpPr>
          <p:cNvPr id="11" name="Text 6"/>
          <p:cNvSpPr txBox="1"/>
          <p:nvPr/>
        </p:nvSpPr>
        <p:spPr>
          <a:xfrm>
            <a:off x="7772400" y="2761488"/>
            <a:ext cx="3840480" cy="914400"/>
          </a:xfrm>
          <a:prstGeom prst="rect">
            <a:avLst/>
          </a:prstGeom>
          <a:noFill/>
          <a:ln/>
        </p:spPr>
        <p:txBody>
          <a:bodyPr wrap="square" lIns="0" tIns="0" rIns="0" bIns="0" rtlCol="0" anchor="t"/>
          <a:lstStyle/>
          <a:p>
            <a:pPr indent="0" marL="0">
              <a:buNone/>
            </a:pPr>
            <a:r>
              <a:rPr lang="en-US" sz="1600" b="1" dirty="0">
                <a:solidFill>
                  <a:schemeClr val="tx1"/>
                </a:solidFill>
              </a:rPr>
              <a:t>Reroutes keep your choice</a:t>
            </a:r>
            <a:endParaRPr lang="en-US" sz="1600" dirty="0"/>
          </a:p>
          <a:p>
            <a:pPr indent="0" marL="0">
              <a:buNone/>
            </a:pPr>
            <a:r>
              <a:rPr lang="en-US" sz="1300" dirty="0">
                <a:solidFill>
                  <a:schemeClr val="tx2"/>
                </a:solidFill>
              </a:rPr>
              <a:t>Go off route and it still plans the safe way back</a:t>
            </a:r>
            <a:endParaRPr lang="en-US" sz="1600" dirty="0"/>
          </a:p>
        </p:txBody>
      </p:sp>
      <p:sp>
        <p:nvSpPr>
          <p:cNvPr id="12" name="Compare side by side circle"/>
          <p:cNvSpPr/>
          <p:nvPr/>
        </p:nvSpPr>
        <p:spPr>
          <a:xfrm>
            <a:off x="7132320" y="3831336"/>
            <a:ext cx="502920" cy="502920"/>
          </a:xfrm>
          <a:prstGeom prst="ellipse">
            <a:avLst/>
          </a:prstGeom>
          <a:solidFill>
            <a:schemeClr val="accent2"/>
          </a:solidFill>
          <a:ln/>
        </p:spPr>
      </p:sp>
      <p:pic>
        <p:nvPicPr>
          <p:cNvPr id="13" name="Compare side by side icon" descr="Compare side by side">    </p:cNvPr>
          <p:cNvPicPr>
            <a:picLocks noChangeAspect="1"/>
          </p:cNvPicPr>
          <p:nvPr/>
        </p:nvPicPr>
        <p:blipFill>
          <a:blip r:embed="rId4"/>
          <a:stretch>
            <a:fillRect/>
          </a:stretch>
        </p:blipFill>
        <p:spPr>
          <a:xfrm>
            <a:off x="7258050" y="3957066"/>
            <a:ext cx="251460" cy="251460"/>
          </a:xfrm>
          <a:prstGeom prst="rect">
            <a:avLst/>
          </a:prstGeom>
        </p:spPr>
      </p:pic>
      <p:sp>
        <p:nvSpPr>
          <p:cNvPr id="14" name="Text 8"/>
          <p:cNvSpPr txBox="1"/>
          <p:nvPr/>
        </p:nvSpPr>
        <p:spPr>
          <a:xfrm>
            <a:off x="7772400" y="3785616"/>
            <a:ext cx="3840480" cy="914400"/>
          </a:xfrm>
          <a:prstGeom prst="rect">
            <a:avLst/>
          </a:prstGeom>
          <a:noFill/>
          <a:ln/>
        </p:spPr>
        <p:txBody>
          <a:bodyPr wrap="square" lIns="0" tIns="0" rIns="0" bIns="0" rtlCol="0" anchor="t"/>
          <a:lstStyle/>
          <a:p>
            <a:pPr indent="0" marL="0">
              <a:buNone/>
            </a:pPr>
            <a:r>
              <a:rPr lang="en-US" sz="1600" b="1" dirty="0">
                <a:solidFill>
                  <a:schemeClr val="tx1"/>
                </a:solidFill>
              </a:rPr>
              <a:t>Compare side by side</a:t>
            </a:r>
            <a:endParaRPr lang="en-US" sz="1600" dirty="0"/>
          </a:p>
          <a:p>
            <a:pPr indent="0" marL="0">
              <a:buNone/>
            </a:pPr>
            <a:r>
              <a:rPr lang="en-US" sz="1300" dirty="0">
                <a:solidFill>
                  <a:schemeClr val="tx2"/>
                </a:solidFill>
              </a:rPr>
              <a:t>Every stat, one shared hill scale, best value starred</a:t>
            </a:r>
            <a:endParaRPr lang="en-US" sz="1600" dirty="0"/>
          </a:p>
        </p:txBody>
      </p:sp>
      <p:sp>
        <p:nvSpPr>
          <p:cNvPr id="15" name="Save rides, add photos circle"/>
          <p:cNvSpPr/>
          <p:nvPr/>
        </p:nvSpPr>
        <p:spPr>
          <a:xfrm>
            <a:off x="7132320" y="4855464"/>
            <a:ext cx="502920" cy="502920"/>
          </a:xfrm>
          <a:prstGeom prst="ellipse">
            <a:avLst/>
          </a:prstGeom>
          <a:solidFill>
            <a:schemeClr val="accent2"/>
          </a:solidFill>
          <a:ln/>
        </p:spPr>
      </p:sp>
      <p:pic>
        <p:nvPicPr>
          <p:cNvPr id="16" name="Save rides, add photos icon" descr="Save rides, add photos">    </p:cNvPr>
          <p:cNvPicPr>
            <a:picLocks noChangeAspect="1"/>
          </p:cNvPicPr>
          <p:nvPr/>
        </p:nvPicPr>
        <p:blipFill>
          <a:blip r:embed="rId5"/>
          <a:stretch>
            <a:fillRect/>
          </a:stretch>
        </p:blipFill>
        <p:spPr>
          <a:xfrm>
            <a:off x="7258050" y="4981194"/>
            <a:ext cx="251460" cy="251460"/>
          </a:xfrm>
          <a:prstGeom prst="rect">
            <a:avLst/>
          </a:prstGeom>
        </p:spPr>
      </p:pic>
      <p:sp>
        <p:nvSpPr>
          <p:cNvPr id="17" name="Text 10"/>
          <p:cNvSpPr txBox="1"/>
          <p:nvPr/>
        </p:nvSpPr>
        <p:spPr>
          <a:xfrm>
            <a:off x="7772400" y="4809744"/>
            <a:ext cx="3840480" cy="914400"/>
          </a:xfrm>
          <a:prstGeom prst="rect">
            <a:avLst/>
          </a:prstGeom>
          <a:noFill/>
          <a:ln/>
        </p:spPr>
        <p:txBody>
          <a:bodyPr wrap="square" lIns="0" tIns="0" rIns="0" bIns="0" rtlCol="0" anchor="t"/>
          <a:lstStyle/>
          <a:p>
            <a:pPr indent="0" marL="0">
              <a:buNone/>
            </a:pPr>
            <a:r>
              <a:rPr lang="en-US" sz="1600" b="1" dirty="0">
                <a:solidFill>
                  <a:schemeClr val="tx1"/>
                </a:solidFill>
              </a:rPr>
              <a:t>Save rides, add photos</a:t>
            </a:r>
            <a:endParaRPr lang="en-US" sz="1600" dirty="0"/>
          </a:p>
          <a:p>
            <a:pPr indent="0" marL="0">
              <a:buNone/>
            </a:pPr>
            <a:r>
              <a:rPr lang="en-US" sz="1300" dirty="0">
                <a:solidFill>
                  <a:schemeClr val="tx2"/>
                </a:solidFill>
              </a:rPr>
              <a:t>Routes, stops and ride photos kept together</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10881360" cy="731520"/>
          </a:xfrm>
          <a:prstGeom prst="rect">
            <a:avLst/>
          </a:prstGeom>
          <a:noFill/>
          <a:ln/>
        </p:spPr>
        <p:txBody>
          <a:bodyPr wrap="square" lIns="0" tIns="0" rIns="0" bIns="0" rtlCol="0" anchor="ctr"/>
          <a:lstStyle/>
          <a:p>
            <a:pPr algn="l" indent="0" marL="0">
              <a:buNone/>
            </a:pPr>
            <a:r>
              <a:rPr lang="en-US" sz="3200" b="1" dirty="0">
                <a:solidFill>
                  <a:schemeClr val="tx1"/>
                </a:solidFill>
              </a:rPr>
              <a:t>Built like a product — and ready for the next city</a:t>
            </a:r>
            <a:endParaRPr lang="en-US" sz="3200" dirty="0"/>
          </a:p>
        </p:txBody>
      </p:sp>
      <p:sp>
        <p:nvSpPr>
          <p:cNvPr id="3" name="automated tests, all passing"/>
          <p:cNvSpPr/>
          <p:nvPr/>
        </p:nvSpPr>
        <p:spPr>
          <a:xfrm>
            <a:off x="640080" y="1783080"/>
            <a:ext cx="4937760" cy="1143000"/>
          </a:xfrm>
          <a:prstGeom prst="roundRect">
            <a:avLst>
              <a:gd name="adj" fmla="val 9600"/>
            </a:avLst>
          </a:prstGeom>
          <a:solidFill>
            <a:schemeClr val="bg2"/>
          </a:solidFill>
          <a:ln/>
        </p:spPr>
      </p:sp>
      <p:sp>
        <p:nvSpPr>
          <p:cNvPr id="4" name="Text 2"/>
          <p:cNvSpPr txBox="1"/>
          <p:nvPr/>
        </p:nvSpPr>
        <p:spPr>
          <a:xfrm>
            <a:off x="914400" y="1783080"/>
            <a:ext cx="4572000" cy="1143000"/>
          </a:xfrm>
          <a:prstGeom prst="rect">
            <a:avLst/>
          </a:prstGeom>
          <a:noFill/>
          <a:ln/>
        </p:spPr>
        <p:txBody>
          <a:bodyPr wrap="square" lIns="0" tIns="0" rIns="0" bIns="0" rtlCol="0" anchor="ctr"/>
          <a:lstStyle/>
          <a:p>
            <a:pPr indent="0" marL="0">
              <a:buNone/>
            </a:pPr>
            <a:r>
              <a:rPr lang="en-US" sz="3200" b="1" dirty="0">
                <a:solidFill>
                  <a:schemeClr val="accent1"/>
                </a:solidFill>
              </a:rPr>
              <a:t>411  </a:t>
            </a:r>
            <a:pPr indent="0" marL="0">
              <a:buNone/>
            </a:pPr>
            <a:r>
              <a:rPr lang="en-US" sz="1600" dirty="0">
                <a:solidFill>
                  <a:schemeClr val="tx2"/>
                </a:solidFill>
              </a:rPr>
              <a:t>automated tests, all passing</a:t>
            </a:r>
            <a:endParaRPr lang="en-US" sz="3200" dirty="0"/>
          </a:p>
        </p:txBody>
      </p:sp>
      <p:sp>
        <p:nvSpPr>
          <p:cNvPr id="5" name="to plan three routes"/>
          <p:cNvSpPr/>
          <p:nvPr/>
        </p:nvSpPr>
        <p:spPr>
          <a:xfrm>
            <a:off x="640080" y="3154680"/>
            <a:ext cx="4937760" cy="1143000"/>
          </a:xfrm>
          <a:prstGeom prst="roundRect">
            <a:avLst>
              <a:gd name="adj" fmla="val 9600"/>
            </a:avLst>
          </a:prstGeom>
          <a:solidFill>
            <a:schemeClr val="bg2"/>
          </a:solidFill>
          <a:ln/>
        </p:spPr>
      </p:sp>
      <p:sp>
        <p:nvSpPr>
          <p:cNvPr id="6" name="Text 4"/>
          <p:cNvSpPr txBox="1"/>
          <p:nvPr/>
        </p:nvSpPr>
        <p:spPr>
          <a:xfrm>
            <a:off x="914400" y="3154680"/>
            <a:ext cx="4572000" cy="1143000"/>
          </a:xfrm>
          <a:prstGeom prst="rect">
            <a:avLst/>
          </a:prstGeom>
          <a:noFill/>
          <a:ln/>
        </p:spPr>
        <p:txBody>
          <a:bodyPr wrap="square" lIns="0" tIns="0" rIns="0" bIns="0" rtlCol="0" anchor="ctr"/>
          <a:lstStyle/>
          <a:p>
            <a:pPr indent="0" marL="0">
              <a:buNone/>
            </a:pPr>
            <a:r>
              <a:rPr lang="en-US" sz="3200" b="1" dirty="0">
                <a:solidFill>
                  <a:schemeClr val="accent1"/>
                </a:solidFill>
              </a:rPr>
              <a:t>~0.1 s  </a:t>
            </a:r>
            <a:pPr indent="0" marL="0">
              <a:buNone/>
            </a:pPr>
            <a:r>
              <a:rPr lang="en-US" sz="1600" dirty="0">
                <a:solidFill>
                  <a:schemeClr val="tx2"/>
                </a:solidFill>
              </a:rPr>
              <a:t>to plan three routes</a:t>
            </a:r>
            <a:endParaRPr lang="en-US" sz="3200" dirty="0"/>
          </a:p>
        </p:txBody>
      </p:sp>
      <p:sp>
        <p:nvSpPr>
          <p:cNvPr id="7" name="open datasets, no paid data"/>
          <p:cNvSpPr/>
          <p:nvPr/>
        </p:nvSpPr>
        <p:spPr>
          <a:xfrm>
            <a:off x="640080" y="4526280"/>
            <a:ext cx="4937760" cy="1143000"/>
          </a:xfrm>
          <a:prstGeom prst="roundRect">
            <a:avLst>
              <a:gd name="adj" fmla="val 9600"/>
            </a:avLst>
          </a:prstGeom>
          <a:solidFill>
            <a:schemeClr val="bg2"/>
          </a:solidFill>
          <a:ln/>
        </p:spPr>
      </p:sp>
      <p:sp>
        <p:nvSpPr>
          <p:cNvPr id="8" name="Text 6"/>
          <p:cNvSpPr txBox="1"/>
          <p:nvPr/>
        </p:nvSpPr>
        <p:spPr>
          <a:xfrm>
            <a:off x="914400" y="4526280"/>
            <a:ext cx="4572000" cy="1143000"/>
          </a:xfrm>
          <a:prstGeom prst="rect">
            <a:avLst/>
          </a:prstGeom>
          <a:noFill/>
          <a:ln/>
        </p:spPr>
        <p:txBody>
          <a:bodyPr wrap="square" lIns="0" tIns="0" rIns="0" bIns="0" rtlCol="0" anchor="ctr"/>
          <a:lstStyle/>
          <a:p>
            <a:pPr indent="0" marL="0">
              <a:buNone/>
            </a:pPr>
            <a:r>
              <a:rPr lang="en-US" sz="3200" b="1" dirty="0">
                <a:solidFill>
                  <a:schemeClr val="accent1"/>
                </a:solidFill>
              </a:rPr>
              <a:t>6  </a:t>
            </a:r>
            <a:pPr indent="0" marL="0">
              <a:buNone/>
            </a:pPr>
            <a:r>
              <a:rPr lang="en-US" sz="1600" dirty="0">
                <a:solidFill>
                  <a:schemeClr val="tx2"/>
                </a:solidFill>
              </a:rPr>
              <a:t>open datasets, no paid data</a:t>
            </a:r>
            <a:endParaRPr lang="en-US" sz="3200" dirty="0"/>
          </a:p>
        </p:txBody>
      </p:sp>
      <p:sp>
        <p:nvSpPr>
          <p:cNvPr id="9" name="Text 7"/>
          <p:cNvSpPr txBox="1"/>
          <p:nvPr/>
        </p:nvSpPr>
        <p:spPr>
          <a:xfrm>
            <a:off x="6309360" y="1783080"/>
            <a:ext cx="5212080" cy="411480"/>
          </a:xfrm>
          <a:prstGeom prst="rect">
            <a:avLst/>
          </a:prstGeom>
          <a:noFill/>
          <a:ln/>
        </p:spPr>
        <p:txBody>
          <a:bodyPr wrap="square" lIns="0" tIns="0" rIns="0" bIns="0" rtlCol="0" anchor="ctr"/>
          <a:lstStyle/>
          <a:p>
            <a:pPr indent="0" marL="0">
              <a:buNone/>
            </a:pPr>
            <a:r>
              <a:rPr lang="en-US" sz="2000" b="1" dirty="0">
                <a:solidFill>
                  <a:schemeClr val="tx1"/>
                </a:solidFill>
              </a:rPr>
              <a:t>What's next</a:t>
            </a:r>
            <a:endParaRPr lang="en-US" sz="2000" dirty="0"/>
          </a:p>
        </p:txBody>
      </p:sp>
      <p:sp>
        <p:nvSpPr>
          <p:cNvPr id="10" name="Crash rates, not counts circle"/>
          <p:cNvSpPr/>
          <p:nvPr/>
        </p:nvSpPr>
        <p:spPr>
          <a:xfrm>
            <a:off x="6309360" y="2331720"/>
            <a:ext cx="457200" cy="457200"/>
          </a:xfrm>
          <a:prstGeom prst="ellipse">
            <a:avLst/>
          </a:prstGeom>
          <a:solidFill>
            <a:schemeClr val="accent1"/>
          </a:solidFill>
          <a:ln/>
        </p:spPr>
      </p:sp>
      <p:pic>
        <p:nvPicPr>
          <p:cNvPr id="11" name="Crash rates, not counts icon" descr="Crash rates, not counts">    </p:cNvPr>
          <p:cNvPicPr>
            <a:picLocks noChangeAspect="1"/>
          </p:cNvPicPr>
          <p:nvPr/>
        </p:nvPicPr>
        <p:blipFill>
          <a:blip r:embed="rId1"/>
          <a:stretch>
            <a:fillRect/>
          </a:stretch>
        </p:blipFill>
        <p:spPr>
          <a:xfrm>
            <a:off x="6423660" y="2446020"/>
            <a:ext cx="228600" cy="228600"/>
          </a:xfrm>
          <a:prstGeom prst="rect">
            <a:avLst/>
          </a:prstGeom>
        </p:spPr>
      </p:pic>
      <p:sp>
        <p:nvSpPr>
          <p:cNvPr id="12" name="Text 9"/>
          <p:cNvSpPr txBox="1"/>
          <p:nvPr/>
        </p:nvSpPr>
        <p:spPr>
          <a:xfrm>
            <a:off x="6949440" y="2286000"/>
            <a:ext cx="4572000" cy="868680"/>
          </a:xfrm>
          <a:prstGeom prst="rect">
            <a:avLst/>
          </a:prstGeom>
          <a:noFill/>
          <a:ln/>
        </p:spPr>
        <p:txBody>
          <a:bodyPr wrap="square" lIns="0" tIns="0" rIns="0" bIns="0" rtlCol="0" anchor="t"/>
          <a:lstStyle/>
          <a:p>
            <a:pPr indent="0" marL="0">
              <a:buNone/>
            </a:pPr>
            <a:r>
              <a:rPr lang="en-US" sz="1500" b="1" dirty="0">
                <a:solidFill>
                  <a:schemeClr val="tx1"/>
                </a:solidFill>
              </a:rPr>
              <a:t>Crash rates, not counts</a:t>
            </a:r>
            <a:endParaRPr lang="en-US" sz="1500" dirty="0"/>
          </a:p>
          <a:p>
            <a:pPr indent="0" marL="0">
              <a:buNone/>
            </a:pPr>
            <a:r>
              <a:rPr lang="en-US" sz="1300" dirty="0">
                <a:solidFill>
                  <a:schemeClr val="tx2"/>
                </a:solidFill>
              </a:rPr>
              <a:t>Adjust for how many people ride each street, and learn area risk instead of hand-setting it</a:t>
            </a:r>
            <a:endParaRPr lang="en-US" sz="1500" dirty="0"/>
          </a:p>
        </p:txBody>
      </p:sp>
      <p:sp>
        <p:nvSpPr>
          <p:cNvPr id="13" name="Near-miss reports circle"/>
          <p:cNvSpPr/>
          <p:nvPr/>
        </p:nvSpPr>
        <p:spPr>
          <a:xfrm>
            <a:off x="6309360" y="3291840"/>
            <a:ext cx="457200" cy="457200"/>
          </a:xfrm>
          <a:prstGeom prst="ellipse">
            <a:avLst/>
          </a:prstGeom>
          <a:solidFill>
            <a:schemeClr val="accent1"/>
          </a:solidFill>
          <a:ln/>
        </p:spPr>
      </p:sp>
      <p:pic>
        <p:nvPicPr>
          <p:cNvPr id="14" name="Near-miss reports icon" descr="Near-miss reports">    </p:cNvPr>
          <p:cNvPicPr>
            <a:picLocks noChangeAspect="1"/>
          </p:cNvPicPr>
          <p:nvPr/>
        </p:nvPicPr>
        <p:blipFill>
          <a:blip r:embed="rId2"/>
          <a:stretch>
            <a:fillRect/>
          </a:stretch>
        </p:blipFill>
        <p:spPr>
          <a:xfrm>
            <a:off x="6423660" y="3406140"/>
            <a:ext cx="228600" cy="228600"/>
          </a:xfrm>
          <a:prstGeom prst="rect">
            <a:avLst/>
          </a:prstGeom>
        </p:spPr>
      </p:pic>
      <p:sp>
        <p:nvSpPr>
          <p:cNvPr id="15" name="Text 11"/>
          <p:cNvSpPr txBox="1"/>
          <p:nvPr/>
        </p:nvSpPr>
        <p:spPr>
          <a:xfrm>
            <a:off x="6949440" y="3246120"/>
            <a:ext cx="4572000" cy="868680"/>
          </a:xfrm>
          <a:prstGeom prst="rect">
            <a:avLst/>
          </a:prstGeom>
          <a:noFill/>
          <a:ln/>
        </p:spPr>
        <p:txBody>
          <a:bodyPr wrap="square" lIns="0" tIns="0" rIns="0" bIns="0" rtlCol="0" anchor="t"/>
          <a:lstStyle/>
          <a:p>
            <a:pPr indent="0" marL="0">
              <a:buNone/>
            </a:pPr>
            <a:r>
              <a:rPr lang="en-US" sz="1500" b="1" dirty="0">
                <a:solidFill>
                  <a:schemeClr val="tx1"/>
                </a:solidFill>
              </a:rPr>
              <a:t>Near-miss reports</a:t>
            </a:r>
            <a:endParaRPr lang="en-US" sz="1500" dirty="0"/>
          </a:p>
          <a:p>
            <a:pPr indent="0" marL="0">
              <a:buNone/>
            </a:pPr>
            <a:r>
              <a:rPr lang="en-US" sz="1300" dirty="0">
                <a:solidFill>
                  <a:schemeClr val="tx2"/>
                </a:solidFill>
              </a:rPr>
              <a:t>Add rider reports (BikeMaps.org) to the crash data</a:t>
            </a:r>
            <a:endParaRPr lang="en-US" sz="1500" dirty="0"/>
          </a:p>
        </p:txBody>
      </p:sp>
      <p:sp>
        <p:nvSpPr>
          <p:cNvPr id="16" name="More cities circle"/>
          <p:cNvSpPr/>
          <p:nvPr/>
        </p:nvSpPr>
        <p:spPr>
          <a:xfrm>
            <a:off x="6309360" y="4251960"/>
            <a:ext cx="457200" cy="457200"/>
          </a:xfrm>
          <a:prstGeom prst="ellipse">
            <a:avLst/>
          </a:prstGeom>
          <a:solidFill>
            <a:schemeClr val="accent1"/>
          </a:solidFill>
          <a:ln/>
        </p:spPr>
      </p:sp>
      <p:pic>
        <p:nvPicPr>
          <p:cNvPr id="17" name="More cities icon" descr="More cities">    </p:cNvPr>
          <p:cNvPicPr>
            <a:picLocks noChangeAspect="1"/>
          </p:cNvPicPr>
          <p:nvPr/>
        </p:nvPicPr>
        <p:blipFill>
          <a:blip r:embed="rId3"/>
          <a:stretch>
            <a:fillRect/>
          </a:stretch>
        </p:blipFill>
        <p:spPr>
          <a:xfrm>
            <a:off x="6423660" y="4366260"/>
            <a:ext cx="228600" cy="228600"/>
          </a:xfrm>
          <a:prstGeom prst="rect">
            <a:avLst/>
          </a:prstGeom>
        </p:spPr>
      </p:pic>
      <p:sp>
        <p:nvSpPr>
          <p:cNvPr id="18" name="Text 13"/>
          <p:cNvSpPr txBox="1"/>
          <p:nvPr/>
        </p:nvSpPr>
        <p:spPr>
          <a:xfrm>
            <a:off x="6949440" y="4206240"/>
            <a:ext cx="4572000" cy="868680"/>
          </a:xfrm>
          <a:prstGeom prst="rect">
            <a:avLst/>
          </a:prstGeom>
          <a:noFill/>
          <a:ln/>
        </p:spPr>
        <p:txBody>
          <a:bodyPr wrap="square" lIns="0" tIns="0" rIns="0" bIns="0" rtlCol="0" anchor="t"/>
          <a:lstStyle/>
          <a:p>
            <a:pPr indent="0" marL="0">
              <a:buNone/>
            </a:pPr>
            <a:r>
              <a:rPr lang="en-US" sz="1500" b="1" dirty="0">
                <a:solidFill>
                  <a:schemeClr val="tx1"/>
                </a:solidFill>
              </a:rPr>
              <a:t>More cities</a:t>
            </a:r>
            <a:endParaRPr lang="en-US" sz="1500" dirty="0"/>
          </a:p>
          <a:p>
            <a:pPr indent="0" marL="0">
              <a:buNone/>
            </a:pPr>
            <a:r>
              <a:rPr lang="en-US" sz="1300" dirty="0">
                <a:solidFill>
                  <a:schemeClr val="tx2"/>
                </a:solidFill>
              </a:rPr>
              <a:t>Any city with open crash and bike-lane data — Vision Zero cities first</a:t>
            </a:r>
            <a:endParaRPr lang="en-US" sz="1500" dirty="0"/>
          </a:p>
        </p:txBody>
      </p:sp>
      <p:sp>
        <p:nvSpPr>
          <p:cNvPr id="19" name="Native app circle"/>
          <p:cNvSpPr/>
          <p:nvPr/>
        </p:nvSpPr>
        <p:spPr>
          <a:xfrm>
            <a:off x="6309360" y="5212080"/>
            <a:ext cx="457200" cy="457200"/>
          </a:xfrm>
          <a:prstGeom prst="ellipse">
            <a:avLst/>
          </a:prstGeom>
          <a:solidFill>
            <a:schemeClr val="accent1"/>
          </a:solidFill>
          <a:ln/>
        </p:spPr>
      </p:sp>
      <p:pic>
        <p:nvPicPr>
          <p:cNvPr id="20" name="Native app icon" descr="Native app">    </p:cNvPr>
          <p:cNvPicPr>
            <a:picLocks noChangeAspect="1"/>
          </p:cNvPicPr>
          <p:nvPr/>
        </p:nvPicPr>
        <p:blipFill>
          <a:blip r:embed="rId4"/>
          <a:stretch>
            <a:fillRect/>
          </a:stretch>
        </p:blipFill>
        <p:spPr>
          <a:xfrm>
            <a:off x="6423660" y="5326380"/>
            <a:ext cx="228600" cy="228600"/>
          </a:xfrm>
          <a:prstGeom prst="rect">
            <a:avLst/>
          </a:prstGeom>
        </p:spPr>
      </p:pic>
      <p:sp>
        <p:nvSpPr>
          <p:cNvPr id="21" name="Text 15"/>
          <p:cNvSpPr txBox="1"/>
          <p:nvPr/>
        </p:nvSpPr>
        <p:spPr>
          <a:xfrm>
            <a:off x="6949440" y="5166360"/>
            <a:ext cx="4572000" cy="868680"/>
          </a:xfrm>
          <a:prstGeom prst="rect">
            <a:avLst/>
          </a:prstGeom>
          <a:noFill/>
          <a:ln/>
        </p:spPr>
        <p:txBody>
          <a:bodyPr wrap="square" lIns="0" tIns="0" rIns="0" bIns="0" rtlCol="0" anchor="t"/>
          <a:lstStyle/>
          <a:p>
            <a:pPr indent="0" marL="0">
              <a:buNone/>
            </a:pPr>
            <a:r>
              <a:rPr lang="en-US" sz="1500" b="1" dirty="0">
                <a:solidFill>
                  <a:schemeClr val="tx1"/>
                </a:solidFill>
              </a:rPr>
              <a:t>Native app</a:t>
            </a:r>
            <a:endParaRPr lang="en-US" sz="1500" dirty="0"/>
          </a:p>
          <a:p>
            <a:pPr indent="0" marL="0">
              <a:buNone/>
            </a:pPr>
            <a:r>
              <a:rPr lang="en-US" sz="1300" dirty="0">
                <a:solidFill>
                  <a:schemeClr val="tx2"/>
                </a:solidFill>
              </a:rPr>
              <a:t>Background GPS and alerts as you approach a danger spot</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2011680"/>
          </a:xfrm>
          <a:prstGeom prst="rect">
            <a:avLst/>
          </a:prstGeom>
          <a:noFill/>
          <a:ln/>
        </p:spPr>
        <p:txBody>
          <a:bodyPr wrap="square" lIns="0" tIns="0" rIns="0" bIns="0" rtlCol="0" anchor="b"/>
          <a:lstStyle/>
          <a:p>
            <a:pPr algn="l" indent="0" marL="0">
              <a:buNone/>
            </a:pPr>
            <a:r>
              <a:rPr lang="en-US" sz="4400" b="1" dirty="0">
                <a:solidFill>
                  <a:schemeClr val="bg1"/>
                </a:solidFill>
              </a:rPr>
              <a:t>Safety shouldn't be a setting you have to find</a:t>
            </a:r>
            <a:endParaRPr lang="en-US" sz="4400" dirty="0"/>
          </a:p>
        </p:txBody>
      </p:sp>
      <p:sp>
        <p:nvSpPr>
          <p:cNvPr id="3" name="Text 0"/>
          <p:cNvSpPr/>
          <p:nvPr>
            <p:ph idx="101" type="body" hasCustomPrompt="1"/>
          </p:nvPr>
        </p:nvSpPr>
        <p:spPr>
          <a:xfrm>
            <a:off x="640080" y="4023360"/>
            <a:ext cx="5303520" cy="1280160"/>
          </a:xfrm>
          <a:prstGeom prst="rect">
            <a:avLst/>
          </a:prstGeom>
          <a:noFill/>
          <a:ln/>
        </p:spPr>
        <p:txBody>
          <a:bodyPr wrap="square" lIns="0" tIns="0" rIns="0" bIns="0" rtlCol="0" anchor="t"/>
          <a:lstStyle/>
          <a:p>
            <a:pPr indent="0" marL="0">
              <a:buNone/>
            </a:pPr>
            <a:r>
              <a:rPr lang="en-US" sz="2000" dirty="0">
                <a:solidFill>
                  <a:schemeClr val="bg2"/>
                </a:solidFill>
              </a:rPr>
              <a:t>No Roll Models — the safe route, by default, with the trade-offs in plain sight</a:t>
            </a:r>
            <a:endParaRPr lang="en-US" sz="2000" dirty="0"/>
          </a:p>
        </p:txBody>
      </p:sp>
      <p:sp>
        <p:nvSpPr>
          <p:cNvPr id="4" name="Safest + bike lanes across the city frame"/>
          <p:cNvSpPr/>
          <p:nvPr/>
        </p:nvSpPr>
        <p:spPr>
          <a:xfrm>
            <a:off x="6693408" y="1161288"/>
            <a:ext cx="4946904" cy="3986784"/>
          </a:xfrm>
          <a:prstGeom prst="roundRect">
            <a:avLst>
              <a:gd name="adj" fmla="val 2752"/>
            </a:avLst>
          </a:prstGeom>
          <a:solidFill>
            <a:schemeClr val="bg1"/>
          </a:solidFill>
          <a:ln w="9525">
            <a:solidFill>
              <a:srgbClr val="D9E2DE"/>
            </a:solidFill>
            <a:prstDash val="solid"/>
          </a:ln>
          <a:effectLst>
            <a:outerShdw sx="100000" sy="100000" kx="0" ky="0" algn="bl" rotWithShape="0" blurRad="127000" dist="38100" dir="5400000">
              <a:srgbClr val="000000">
                <a:alpha val="22000"/>
              </a:srgbClr>
            </a:outerShdw>
          </a:effectLst>
        </p:spPr>
      </p:sp>
      <p:pic>
        <p:nvPicPr>
          <p:cNvPr id="5" name="Safest + bike lanes across the city" descr="Safest + bike lanes across the city">    </p:cNvPr>
          <p:cNvPicPr>
            <a:picLocks noChangeAspect="1"/>
          </p:cNvPicPr>
          <p:nvPr/>
        </p:nvPicPr>
        <p:blipFill>
          <a:blip r:embed="rId1"/>
          <a:stretch>
            <a:fillRect/>
          </a:stretch>
        </p:blipFill>
        <p:spPr>
          <a:xfrm>
            <a:off x="6766560" y="1234440"/>
            <a:ext cx="4800600" cy="3840480"/>
          </a:xfrm>
          <a:prstGeom prst="rect">
            <a:avLst/>
          </a:prstGeom>
        </p:spPr>
      </p:pic>
    </p:spTree>
  </p:cSld>
  <p:clrMapOvr>
    <a:masterClrMapping/>
  </p:clrMapOvr>
</p:sld>
</file>

<file path=ppt/theme/theme1.xml><?xml version="1.0" encoding="utf-8"?>
<a:theme xmlns:a="http://schemas.openxmlformats.org/drawingml/2006/main" name="No Roll Models">
  <a:themeElements>
    <a:clrScheme name="No Roll Models">
      <a:dk1>
        <a:srgbClr val="13202B"/>
      </a:dk1>
      <a:lt1>
        <a:srgbClr val="FFFFFF"/>
      </a:lt1>
      <a:dk2>
        <a:srgbClr val="3B4A57"/>
      </a:dk2>
      <a:lt2>
        <a:srgbClr val="EEF3F1"/>
      </a:lt2>
      <a:accent1>
        <a:srgbClr val="0E9F6E"/>
      </a:accent1>
      <a:accent2>
        <a:srgbClr val="D97706"/>
      </a:accent2>
      <a:accent3>
        <a:srgbClr val="E5484D"/>
      </a:accent3>
      <a:accent4>
        <a:srgbClr val="7C3AED"/>
      </a:accent4>
      <a:accent5>
        <a:srgbClr val="64748B"/>
      </a:accent5>
      <a:accent6>
        <a:srgbClr val="0EA5E9"/>
      </a:accent6>
      <a:hlink>
        <a:srgbClr val="0E9F6E"/>
      </a:hlink>
      <a:folHlink>
        <a:srgbClr val="7C3AED"/>
      </a:folHlink>
    </a:clrScheme>
    <a:fontScheme name="No Roll Model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Roll Models — safer bike routing</dc:title>
  <dc:subject>PptxGenJS Presentation</dc:subject>
  <dc:creator>No Roll Models</dc:creator>
  <cp:lastModifiedBy>No Roll Models</cp:lastModifiedBy>
  <cp:revision>1</cp:revision>
  <dcterms:created xsi:type="dcterms:W3CDTF">2026-10-14T07:35:05Z</dcterms:created>
  <dcterms:modified xsi:type="dcterms:W3CDTF">2026-10-14T07:35:05Z</dcterms:modified>
</cp:coreProperties>
</file>