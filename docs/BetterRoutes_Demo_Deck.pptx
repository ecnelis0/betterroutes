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68" r:id="rId20"/>
    <p:sldId id="258" r:id="rId10"/>
    <p:sldId id="270" r:id="rId22"/>
    <p:sldId id="260" r:id="rId12"/>
    <p:sldId id="261" r:id="rId13"/>
    <p:sldId id="269" r:id="rId21"/>
    <p:sldId id="262" r:id="rId14"/>
    <p:sldId id="263" r:id="rId15"/>
    <p:sldId id="264" r:id="rId16"/>
    <p:sldId id="265" r:id="rId17"/>
    <p:sldId id="266" r:id="rId18"/>
    <p:sldId id="267" r:id="rId19"/>
    <p:sldId id="271" r:id="rId23"/>
    <p:sldId id="272" r:id="rId2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13202B"/>
        </a:fontRef>
        <a:srgbClr val="1320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D4"/>
          </a:solidFill>
        </a:fill>
      </a:tcStyle>
    </a:wholeTbl>
    <a:band2H>
      <a:tcTxStyle b="def" i="def"/>
      <a:tcStyle>
        <a:tcBdr/>
        <a:fill>
          <a:solidFill>
            <a:srgbClr val="E6EFE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13202B"/>
        </a:fontRef>
        <a:srgbClr val="1320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CECF"/>
          </a:solidFill>
        </a:fill>
      </a:tcStyle>
    </a:wholeTbl>
    <a:band2H>
      <a:tcTxStyle b="def" i="def"/>
      <a:tcStyle>
        <a:tcBdr/>
        <a:fill>
          <a:solidFill>
            <a:srgbClr val="FAE8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13202B"/>
        </a:fontRef>
        <a:srgbClr val="1320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0F6"/>
          </a:solidFill>
        </a:fill>
      </a:tcStyle>
    </a:wholeTbl>
    <a:band2H>
      <a:tcTxStyle b="def" i="def"/>
      <a:tcStyle>
        <a:tcBdr/>
        <a:fill>
          <a:solidFill>
            <a:srgbClr val="E6F0FB"/>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13202B"/>
        </a:fontRef>
        <a:srgbClr val="13202B"/>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7"/>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3202B"/>
        </a:fontRef>
        <a:srgbClr val="13202B"/>
      </a:tcTxStyle>
      <a:tcStyle>
        <a:tcBdr>
          <a:left>
            <a:ln w="12700" cap="flat">
              <a:noFill/>
              <a:miter lim="400000"/>
            </a:ln>
          </a:left>
          <a:right>
            <a:ln w="12700" cap="flat">
              <a:noFill/>
              <a:miter lim="400000"/>
            </a:ln>
          </a:right>
          <a:top>
            <a:ln w="50800" cap="flat">
              <a:solidFill>
                <a:srgbClr val="13202B"/>
              </a:solidFill>
              <a:prstDash val="solid"/>
              <a:round/>
            </a:ln>
          </a:top>
          <a:bottom>
            <a:ln w="25400" cap="flat">
              <a:solidFill>
                <a:srgbClr val="13202B"/>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13202B"/>
              </a:solidFill>
              <a:prstDash val="solid"/>
              <a:round/>
            </a:ln>
          </a:top>
          <a:bottom>
            <a:ln w="25400" cap="flat">
              <a:solidFill>
                <a:srgbClr val="13202B"/>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13202B"/>
        </a:fontRef>
        <a:srgbClr val="13202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B"/>
          </a:solidFill>
        </a:fill>
      </a:tcStyle>
    </a:wholeTbl>
    <a:band2H>
      <a:tcTxStyle b="def" i="def"/>
      <a:tcStyle>
        <a:tcBdr/>
        <a:fill>
          <a:solidFill>
            <a:srgbClr val="E6E7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3202B"/>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3202B"/>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3202B"/>
          </a:solidFill>
        </a:fill>
      </a:tcStyle>
    </a:firstRow>
  </a:tblStyle>
  <a:tblStyle styleId="{2708684C-4D16-4618-839F-0558EEFCDFE6}" styleName="">
    <a:tblBg/>
    <a:wholeTbl>
      <a:tcTxStyle b="off" i="off">
        <a:fontRef idx="major">
          <a:srgbClr val="13202B"/>
        </a:fontRef>
        <a:srgbClr val="13202B"/>
      </a:tcTxStyle>
      <a:tcStyle>
        <a:tcBdr>
          <a:left>
            <a:ln w="12700" cap="flat">
              <a:solidFill>
                <a:srgbClr val="13202B"/>
              </a:solidFill>
              <a:prstDash val="solid"/>
              <a:round/>
            </a:ln>
          </a:left>
          <a:right>
            <a:ln w="12700" cap="flat">
              <a:solidFill>
                <a:srgbClr val="13202B"/>
              </a:solidFill>
              <a:prstDash val="solid"/>
              <a:round/>
            </a:ln>
          </a:right>
          <a:top>
            <a:ln w="12700" cap="flat">
              <a:solidFill>
                <a:srgbClr val="13202B"/>
              </a:solidFill>
              <a:prstDash val="solid"/>
              <a:round/>
            </a:ln>
          </a:top>
          <a:bottom>
            <a:ln w="12700" cap="flat">
              <a:solidFill>
                <a:srgbClr val="13202B"/>
              </a:solidFill>
              <a:prstDash val="solid"/>
              <a:round/>
            </a:ln>
          </a:bottom>
          <a:insideH>
            <a:ln w="12700" cap="flat">
              <a:solidFill>
                <a:srgbClr val="13202B"/>
              </a:solidFill>
              <a:prstDash val="solid"/>
              <a:round/>
            </a:ln>
          </a:insideH>
          <a:insideV>
            <a:ln w="12700" cap="flat">
              <a:solidFill>
                <a:srgbClr val="13202B"/>
              </a:solidFill>
              <a:prstDash val="solid"/>
              <a:round/>
            </a:ln>
          </a:insideV>
        </a:tcBdr>
        <a:fill>
          <a:solidFill>
            <a:srgbClr val="13202B">
              <a:alpha val="20000"/>
            </a:srgbClr>
          </a:solidFill>
        </a:fill>
      </a:tcStyle>
    </a:wholeTbl>
    <a:band2H>
      <a:tcTxStyle b="def" i="def"/>
      <a:tcStyle>
        <a:tcBdr/>
        <a:fill>
          <a:solidFill>
            <a:srgbClr val="FFFFFF"/>
          </a:solidFill>
        </a:fill>
      </a:tcStyle>
    </a:band2H>
    <a:firstCol>
      <a:tcTxStyle b="on" i="off">
        <a:fontRef idx="major">
          <a:srgbClr val="13202B"/>
        </a:fontRef>
        <a:srgbClr val="13202B"/>
      </a:tcTxStyle>
      <a:tcStyle>
        <a:tcBdr>
          <a:left>
            <a:ln w="12700" cap="flat">
              <a:solidFill>
                <a:srgbClr val="13202B"/>
              </a:solidFill>
              <a:prstDash val="solid"/>
              <a:round/>
            </a:ln>
          </a:left>
          <a:right>
            <a:ln w="12700" cap="flat">
              <a:solidFill>
                <a:srgbClr val="13202B"/>
              </a:solidFill>
              <a:prstDash val="solid"/>
              <a:round/>
            </a:ln>
          </a:right>
          <a:top>
            <a:ln w="12700" cap="flat">
              <a:solidFill>
                <a:srgbClr val="13202B"/>
              </a:solidFill>
              <a:prstDash val="solid"/>
              <a:round/>
            </a:ln>
          </a:top>
          <a:bottom>
            <a:ln w="12700" cap="flat">
              <a:solidFill>
                <a:srgbClr val="13202B"/>
              </a:solidFill>
              <a:prstDash val="solid"/>
              <a:round/>
            </a:ln>
          </a:bottom>
          <a:insideH>
            <a:ln w="12700" cap="flat">
              <a:solidFill>
                <a:srgbClr val="13202B"/>
              </a:solidFill>
              <a:prstDash val="solid"/>
              <a:round/>
            </a:ln>
          </a:insideH>
          <a:insideV>
            <a:ln w="12700" cap="flat">
              <a:solidFill>
                <a:srgbClr val="13202B"/>
              </a:solidFill>
              <a:prstDash val="solid"/>
              <a:round/>
            </a:ln>
          </a:insideV>
        </a:tcBdr>
        <a:fill>
          <a:solidFill>
            <a:srgbClr val="13202B">
              <a:alpha val="20000"/>
            </a:srgbClr>
          </a:solidFill>
        </a:fill>
      </a:tcStyle>
    </a:firstCol>
    <a:lastRow>
      <a:tcTxStyle b="on" i="off">
        <a:fontRef idx="major">
          <a:srgbClr val="13202B"/>
        </a:fontRef>
        <a:srgbClr val="13202B"/>
      </a:tcTxStyle>
      <a:tcStyle>
        <a:tcBdr>
          <a:left>
            <a:ln w="12700" cap="flat">
              <a:solidFill>
                <a:srgbClr val="13202B"/>
              </a:solidFill>
              <a:prstDash val="solid"/>
              <a:round/>
            </a:ln>
          </a:left>
          <a:right>
            <a:ln w="12700" cap="flat">
              <a:solidFill>
                <a:srgbClr val="13202B"/>
              </a:solidFill>
              <a:prstDash val="solid"/>
              <a:round/>
            </a:ln>
          </a:right>
          <a:top>
            <a:ln w="50800" cap="flat">
              <a:solidFill>
                <a:srgbClr val="13202B"/>
              </a:solidFill>
              <a:prstDash val="solid"/>
              <a:round/>
            </a:ln>
          </a:top>
          <a:bottom>
            <a:ln w="12700" cap="flat">
              <a:solidFill>
                <a:srgbClr val="13202B"/>
              </a:solidFill>
              <a:prstDash val="solid"/>
              <a:round/>
            </a:ln>
          </a:bottom>
          <a:insideH>
            <a:ln w="12700" cap="flat">
              <a:solidFill>
                <a:srgbClr val="13202B"/>
              </a:solidFill>
              <a:prstDash val="solid"/>
              <a:round/>
            </a:ln>
          </a:insideH>
          <a:insideV>
            <a:ln w="12700" cap="flat">
              <a:solidFill>
                <a:srgbClr val="13202B"/>
              </a:solidFill>
              <a:prstDash val="solid"/>
              <a:round/>
            </a:ln>
          </a:insideV>
        </a:tcBdr>
        <a:fill>
          <a:noFill/>
        </a:fill>
      </a:tcStyle>
    </a:lastRow>
    <a:firstRow>
      <a:tcTxStyle b="on" i="off">
        <a:fontRef idx="major">
          <a:srgbClr val="13202B"/>
        </a:fontRef>
        <a:srgbClr val="13202B"/>
      </a:tcTxStyle>
      <a:tcStyle>
        <a:tcBdr>
          <a:left>
            <a:ln w="12700" cap="flat">
              <a:solidFill>
                <a:srgbClr val="13202B"/>
              </a:solidFill>
              <a:prstDash val="solid"/>
              <a:round/>
            </a:ln>
          </a:left>
          <a:right>
            <a:ln w="12700" cap="flat">
              <a:solidFill>
                <a:srgbClr val="13202B"/>
              </a:solidFill>
              <a:prstDash val="solid"/>
              <a:round/>
            </a:ln>
          </a:right>
          <a:top>
            <a:ln w="12700" cap="flat">
              <a:solidFill>
                <a:srgbClr val="13202B"/>
              </a:solidFill>
              <a:prstDash val="solid"/>
              <a:round/>
            </a:ln>
          </a:top>
          <a:bottom>
            <a:ln w="25400" cap="flat">
              <a:solidFill>
                <a:srgbClr val="13202B"/>
              </a:solidFill>
              <a:prstDash val="solid"/>
              <a:round/>
            </a:ln>
          </a:bottom>
          <a:insideH>
            <a:ln w="12700" cap="flat">
              <a:solidFill>
                <a:srgbClr val="13202B"/>
              </a:solidFill>
              <a:prstDash val="solid"/>
              <a:round/>
            </a:ln>
          </a:insideH>
          <a:insideV>
            <a:ln w="12700" cap="flat">
              <a:solidFill>
                <a:srgbClr val="13202B"/>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3" name="Shape 43"/>
          <p:cNvSpPr/>
          <p:nvPr>
            <p:ph type="sldImg"/>
          </p:nvPr>
        </p:nvSpPr>
        <p:spPr>
          <a:xfrm>
            <a:off x="1143000" y="685800"/>
            <a:ext cx="4572000" cy="3429000"/>
          </a:xfrm>
          <a:prstGeom prst="rect">
            <a:avLst/>
          </a:prstGeom>
        </p:spPr>
        <p:txBody>
          <a:bodyPr/>
          <a:lstStyle/>
          <a:p>
            <a:pPr/>
          </a:p>
        </p:txBody>
      </p:sp>
      <p:sp>
        <p:nvSpPr>
          <p:cNvPr id="44" name="Shape 4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13202B"/>
        </a:solidFill>
        <a:latin typeface="+mj-lt"/>
        <a:ea typeface="+mj-ea"/>
        <a:cs typeface="+mj-cs"/>
        <a:sym typeface="Calibri"/>
      </a:defRPr>
    </a:lvl1pPr>
    <a:lvl2pPr indent="228600" latinLnBrk="0">
      <a:defRPr sz="1200">
        <a:solidFill>
          <a:srgbClr val="13202B"/>
        </a:solidFill>
        <a:latin typeface="+mj-lt"/>
        <a:ea typeface="+mj-ea"/>
        <a:cs typeface="+mj-cs"/>
        <a:sym typeface="Calibri"/>
      </a:defRPr>
    </a:lvl2pPr>
    <a:lvl3pPr indent="457200" latinLnBrk="0">
      <a:defRPr sz="1200">
        <a:solidFill>
          <a:srgbClr val="13202B"/>
        </a:solidFill>
        <a:latin typeface="+mj-lt"/>
        <a:ea typeface="+mj-ea"/>
        <a:cs typeface="+mj-cs"/>
        <a:sym typeface="Calibri"/>
      </a:defRPr>
    </a:lvl3pPr>
    <a:lvl4pPr indent="685800" latinLnBrk="0">
      <a:defRPr sz="1200">
        <a:solidFill>
          <a:srgbClr val="13202B"/>
        </a:solidFill>
        <a:latin typeface="+mj-lt"/>
        <a:ea typeface="+mj-ea"/>
        <a:cs typeface="+mj-cs"/>
        <a:sym typeface="Calibri"/>
      </a:defRPr>
    </a:lvl4pPr>
    <a:lvl5pPr indent="914400" latinLnBrk="0">
      <a:defRPr sz="1200">
        <a:solidFill>
          <a:srgbClr val="13202B"/>
        </a:solidFill>
        <a:latin typeface="+mj-lt"/>
        <a:ea typeface="+mj-ea"/>
        <a:cs typeface="+mj-cs"/>
        <a:sym typeface="Calibri"/>
      </a:defRPr>
    </a:lvl5pPr>
    <a:lvl6pPr indent="1143000" latinLnBrk="0">
      <a:defRPr sz="1200">
        <a:solidFill>
          <a:srgbClr val="13202B"/>
        </a:solidFill>
        <a:latin typeface="+mj-lt"/>
        <a:ea typeface="+mj-ea"/>
        <a:cs typeface="+mj-cs"/>
        <a:sym typeface="Calibri"/>
      </a:defRPr>
    </a:lvl6pPr>
    <a:lvl7pPr indent="1371600" latinLnBrk="0">
      <a:defRPr sz="1200">
        <a:solidFill>
          <a:srgbClr val="13202B"/>
        </a:solidFill>
        <a:latin typeface="+mj-lt"/>
        <a:ea typeface="+mj-ea"/>
        <a:cs typeface="+mj-cs"/>
        <a:sym typeface="Calibri"/>
      </a:defRPr>
    </a:lvl7pPr>
    <a:lvl8pPr indent="1600200" latinLnBrk="0">
      <a:defRPr sz="1200">
        <a:solidFill>
          <a:srgbClr val="13202B"/>
        </a:solidFill>
        <a:latin typeface="+mj-lt"/>
        <a:ea typeface="+mj-ea"/>
        <a:cs typeface="+mj-cs"/>
        <a:sym typeface="Calibri"/>
      </a:defRPr>
    </a:lvl8pPr>
    <a:lvl9pPr indent="1828800" latinLnBrk="0">
      <a:defRPr sz="1200">
        <a:solidFill>
          <a:srgbClr val="13202B"/>
        </a:solidFill>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50"/>
          <p:cNvSpPr/>
          <p:nvPr>
            <p:ph type="sldImg"/>
          </p:nvPr>
        </p:nvSpPr>
        <p:spPr>
          <a:prstGeom prst="rect">
            <a:avLst/>
          </a:prstGeom>
        </p:spPr>
        <p:txBody>
          <a:bodyPr/>
          <a:lstStyle/>
          <a:p>
            <a:pPr/>
          </a:p>
        </p:txBody>
      </p:sp>
      <p:sp>
        <p:nvSpPr>
          <p:cNvPr id="51" name="Shape 51"/>
          <p:cNvSpPr/>
          <p:nvPr>
            <p:ph type="body" sz="quarter" idx="1"/>
          </p:nvPr>
        </p:nvSpPr>
        <p:spPr>
          <a:prstGeom prst="rect">
            <a:avLst/>
          </a:prstGeom>
        </p:spPr>
        <p:txBody>
          <a:bodyPr/>
          <a:lstStyle/>
          <a:p>
            <a:pPr/>
            <a:r>
              <a:t>[≈15s] SLIDE ONLY — no demo. Look at the judges.</a:t>
            </a:r>
          </a:p>
          <a:p>
            <a:pPr/>
          </a:p>
          <a:p>
            <a:pPr/>
            <a:r>
              <a:t>SAY: "Every map app will tell you the fastest way to bike across San Francisco. We built the one that finds the safest way, makes the ride one you'll actually enjoy, and proves it street by street. We're BetterRoutes."</a:t>
            </a:r>
          </a:p>
          <a:p>
            <a:pPr/>
          </a:p>
          <a:p>
            <a:pPr/>
            <a:r>
              <a:t>(Optional 5s B-roll behind you: the 3D tour playing on the Marina.)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 name="Shape 61"/>
          <p:cNvSpPr/>
          <p:nvPr>
            <p:ph type="sldImg"/>
          </p:nvPr>
        </p:nvSpPr>
        <p:spPr>
          <a:prstGeom prst="rect">
            <a:avLst/>
          </a:prstGeom>
        </p:spPr>
        <p:txBody>
          <a:bodyPr/>
          <a:lstStyle/>
          <a:p>
            <a:pPr/>
          </a:p>
        </p:txBody>
      </p:sp>
      <p:sp>
        <p:nvSpPr>
          <p:cNvPr id="62" name="Shape 62"/>
          <p:cNvSpPr/>
          <p:nvPr>
            <p:ph type="body" sz="quarter" idx="1"/>
          </p:nvPr>
        </p:nvSpPr>
        <p:spPr>
          <a:prstGeom prst="rect">
            <a:avLst/>
          </a:prstGeom>
        </p:spPr>
        <p:txBody>
          <a:bodyPr/>
          <a:lstStyle/>
          <a:p>
            <a:pPr/>
            <a:r>
              <a:t>SLIDE [≈20s] SAY: "1,103 cyclists were killed on US roads in 2024, and almost 53,000 were injured — up 6%. But in San Francisco, just 4% of street miles hold 55% of the severe and fatal bike injuries. Danger is concentrated, so it can be routed around."</a:t>
            </a:r>
          </a:p>
          <a:p>
            <a:pPr/>
          </a:p>
          <a:p>
            <a:pPr/>
            <a:r>
              <a:t>▶ DEMO [20s]</a:t>
            </a:r>
          </a:p>
          <a:p>
            <a:pPr/>
            <a:r>
              <a:t>SETUP: app open at localhost:3000, nothing typed.</a:t>
            </a:r>
          </a:p>
          <a:p>
            <a:pPr/>
            <a:r>
              <a:t>DO: Start = "Pacific Heights" (first suggestion). Destination = "Mission Street &amp; 17th Street" (pick the 17th St / Mission one). Leave it on Fastest. Click "Neighborhood view".</a:t>
            </a:r>
          </a:p>
          <a:p>
            <a:pPr/>
            <a:r>
              <a:t>SAY WHILE DOING: "Here's what fastest-first looks like. Every circle is a flagged neighbourhood or a cluster of real crashes. The fastest route goes straight through SoMa and Civic Center — both rated Severe. More than half this ride is inside flagged areas."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 name="Shape 86"/>
          <p:cNvSpPr/>
          <p:nvPr>
            <p:ph type="sldImg"/>
          </p:nvPr>
        </p:nvSpPr>
        <p:spPr>
          <a:prstGeom prst="rect">
            <a:avLst/>
          </a:prstGeom>
        </p:spPr>
        <p:txBody>
          <a:bodyPr/>
          <a:lstStyle/>
          <a:p>
            <a:pPr/>
          </a:p>
        </p:txBody>
      </p:sp>
      <p:sp>
        <p:nvSpPr>
          <p:cNvPr id="87" name="Shape 87"/>
          <p:cNvSpPr/>
          <p:nvPr>
            <p:ph type="body" sz="quarter" idx="1"/>
          </p:nvPr>
        </p:nvSpPr>
        <p:spPr>
          <a:prstGeom prst="rect">
            <a:avLst/>
          </a:prstGeom>
        </p:spPr>
        <p:txBody>
          <a:bodyPr/>
          <a:lstStyle/>
          <a:p>
            <a:pPr/>
            <a:r>
              <a:t>SLIDE [≈15s] SAY: "We didn't wrap Google Maps. We built our own router on San Francisco's real open data — 3,558 real bike crashes, the city's official survey of every bike lane, every highway, every traffic light, and the elevation of every intersection. 211,000 street segments, searched in a tenth of a second."</a:t>
            </a:r>
          </a:p>
          <a:p>
            <a:pPr/>
          </a:p>
          <a:p>
            <a:pPr/>
            <a:r>
              <a:t>▶ DEMO [20s]</a:t>
            </a:r>
          </a:p>
          <a:p>
            <a:pPr/>
            <a:r>
              <a:t>SETUP: Neighborhood view off.</a:t>
            </a:r>
          </a:p>
          <a:p>
            <a:pPr/>
            <a:r>
              <a:t>DO: Start = "Ocean Beach", Destination = "Ferry Building". Let Fastest appear, then the two safer routes stream in. Click the GREEN line on the map to open its popup, then click "Safest + bike lanes" in the sidebar.</a:t>
            </a:r>
          </a:p>
          <a:p>
            <a:pPr/>
            <a:r>
              <a:t>SAY WHILE DOING: "Two addresses in — and Fastest appears straight away, then two safer options stream in. Click any line and it tells you what it is and what it promised. Fastest, Safest, and Safest plus bike lanes."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Shape 133"/>
          <p:cNvSpPr/>
          <p:nvPr>
            <p:ph type="sldImg"/>
          </p:nvPr>
        </p:nvSpPr>
        <p:spPr>
          <a:prstGeom prst="rect">
            <a:avLst/>
          </a:prstGeom>
        </p:spPr>
        <p:txBody>
          <a:bodyPr/>
          <a:lstStyle/>
          <a:p>
            <a:pPr/>
          </a:p>
        </p:txBody>
      </p:sp>
      <p:sp>
        <p:nvSpPr>
          <p:cNvPr id="134" name="Shape 134"/>
          <p:cNvSpPr/>
          <p:nvPr>
            <p:ph type="body" sz="quarter" idx="1"/>
          </p:nvPr>
        </p:nvSpPr>
        <p:spPr>
          <a:prstGeom prst="rect">
            <a:avLst/>
          </a:prstGeom>
        </p:spPr>
        <p:txBody>
          <a:bodyPr/>
          <a:lstStyle/>
          <a:p>
            <a:pPr/>
            <a:r>
              <a:t>SLIDE [≈15s] SAY: "A safety app that over-promises is worse than none. Our rules are simple: never a Severe area; avoid the rest unless the detour gets 40% longer — and then say where and why. And this is San Francisco: the safest street can be a wall."</a:t>
            </a:r>
          </a:p>
          <a:p>
            <a:pPr/>
          </a:p>
          <a:p>
            <a:pPr/>
            <a:r>
              <a:t>▶ DEMO [20s]</a:t>
            </a:r>
          </a:p>
          <a:p>
            <a:pPr/>
            <a:r>
              <a:t>SETUP: Ocean Beach → Ferry Building.</a:t>
            </a:r>
          </a:p>
          <a:p>
            <a:pPr/>
            <a:r>
              <a:t>DO: Click the "Safest" card. Point at the </a:t>
            </a:r>
            <a:r>
              <a:rPr>
                <a:latin typeface="+mn-lt"/>
                <a:ea typeface="+mn-ea"/>
                <a:cs typeface="+mn-cs"/>
                <a:sym typeface="Helvetica"/>
              </a:rPr>
              <a:t>✓</a:t>
            </a:r>
            <a:r>
              <a:t>/</a:t>
            </a:r>
            <a:r>
              <a:rPr>
                <a:latin typeface="+mn-lt"/>
                <a:ea typeface="+mn-ea"/>
                <a:cs typeface="+mn-cs"/>
                <a:sym typeface="Helvetica"/>
              </a:rPr>
              <a:t>✕ </a:t>
            </a:r>
            <a:r>
              <a:t>list, then "Steepest climb 21.8%" and "Hard climbs: Green Street". Click "Avoid hills". When it re-plans, click "Safest" again and point at the new steepest climb.</a:t>
            </a:r>
          </a:p>
          <a:p>
            <a:pPr/>
            <a:r>
              <a:t>SAY WHILE DOING: "It tells you what it avoided and what it didn't — even 'went through 2 crash hotspots, because no route avoids them all'. But it climbs Green Street at almost 22%. Avoid hills on… and the steepest climb is 8.6%, half the climbing — and it's 7 minutes quicker."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Shape 155"/>
          <p:cNvSpPr/>
          <p:nvPr>
            <p:ph type="sldImg"/>
          </p:nvPr>
        </p:nvSpPr>
        <p:spPr>
          <a:prstGeom prst="rect">
            <a:avLst/>
          </a:prstGeom>
        </p:spPr>
        <p:txBody>
          <a:bodyPr/>
          <a:lstStyle/>
          <a:p>
            <a:pPr/>
          </a:p>
        </p:txBody>
      </p:sp>
      <p:sp>
        <p:nvSpPr>
          <p:cNvPr id="156" name="Shape 156"/>
          <p:cNvSpPr/>
          <p:nvPr>
            <p:ph type="body" sz="quarter" idx="1"/>
          </p:nvPr>
        </p:nvSpPr>
        <p:spPr>
          <a:prstGeom prst="rect">
            <a:avLst/>
          </a:prstGeom>
        </p:spPr>
        <p:txBody>
          <a:bodyPr/>
          <a:lstStyle/>
          <a:p>
            <a:pPr/>
            <a:r>
              <a:t>SLIDE [≈10s] SAY: "Once you've picked a route, it's yours to shape — and the app tells you exactly what every change costs."</a:t>
            </a:r>
          </a:p>
          <a:p>
            <a:pPr/>
          </a:p>
          <a:p>
            <a:pPr/>
            <a:r>
              <a:t>▶ DEMO [20s]</a:t>
            </a:r>
          </a:p>
          <a:p>
            <a:pPr/>
            <a:r>
              <a:t>SETUP: Ocean Beach → Ferry Building, "Safest" selected, Avoid hills OFF.</a:t>
            </a:r>
          </a:p>
          <a:p>
            <a:pPr/>
            <a:r>
              <a:t>DO: "Select this route" → "Edit route". Click once on the map to add a stop and drag it a block. Click "Show suggested edits" (it takes a few seconds — cut this wait in your edit). Click "S1" on the map, then "Not now".</a:t>
            </a:r>
          </a:p>
          <a:p>
            <a:pPr/>
            <a:r>
              <a:t>SAY WHILE DOING: "Click to add a stop, drag to move it — it re-plans with the same safety rules. Suggested edits find every local trade-off: skip 221 feet of climbing via Broadway, but it costs busier streets and ten more lights. Your call, with the cost spelled out."</a:t>
            </a:r>
          </a:p>
          <a:p>
            <a:pPr/>
            <a:r>
              <a:t>(Mention, don't demo: "Fewer traffic lights" trades a little distance for fewer stops and never overrides safety.)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SLIDE [≈10s] SAY: "Routing apps make you learn their settings. Ours lets you just say what you want."</a:t>
            </a:r>
          </a:p>
          <a:p>
            <a:pPr/>
          </a:p>
          <a:p>
            <a:pPr/>
            <a:r>
              <a:t>▶ DEMO [20s]</a:t>
            </a:r>
          </a:p>
          <a:p>
            <a:pPr/>
            <a:r>
              <a:t>SETUP: Start = "Noe Valley", Destination = "North Beach" (plan before recording).</a:t>
            </a:r>
          </a:p>
          <a:p>
            <a:pPr/>
            <a:r>
              <a:t>DO: In the assistant box type "Flat ride please, with boba and a park on the way" → Send. Wait for "For you is ready". Click the "For you </a:t>
            </a:r>
            <a:r>
              <a:rPr>
                <a:latin typeface="+mn-lt"/>
                <a:ea typeface="+mn-ea"/>
                <a:cs typeface="+mn-cs"/>
                <a:sym typeface="Helvetica"/>
              </a:rPr>
              <a:t>✨</a:t>
            </a:r>
            <a:r>
              <a:t>" card; point at the numbered stops on the map.</a:t>
            </a:r>
          </a:p>
          <a:p>
            <a:pPr/>
            <a:r>
              <a:t>SAY WHILE DOING: "One sentence. The assistant builds a For you ride — Safest rules, no big hills, a boba stop and a park, pinned on the map. The AI never draws the route itself: it can only use the same controls you do, so it can't break a safety rule, and every change shows up right here."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hape 194"/>
          <p:cNvSpPr/>
          <p:nvPr>
            <p:ph type="sldImg"/>
          </p:nvPr>
        </p:nvSpPr>
        <p:spPr>
          <a:prstGeom prst="rect">
            <a:avLst/>
          </a:prstGeom>
        </p:spPr>
        <p:txBody>
          <a:bodyPr/>
          <a:lstStyle/>
          <a:p>
            <a:pPr/>
          </a:p>
        </p:txBody>
      </p:sp>
      <p:sp>
        <p:nvSpPr>
          <p:cNvPr id="195" name="Shape 195"/>
          <p:cNvSpPr/>
          <p:nvPr>
            <p:ph type="body" sz="quarter" idx="1"/>
          </p:nvPr>
        </p:nvSpPr>
        <p:spPr>
          <a:prstGeom prst="rect">
            <a:avLst/>
          </a:prstGeom>
        </p:spPr>
        <p:txBody>
          <a:bodyPr/>
          <a:lstStyle/>
          <a:p>
            <a:pPr/>
            <a:r>
              <a:t>SLIDE [≈10s] SAY: "A ride should be something you look forward to. Pick what you like, and see what's along the way before you go."</a:t>
            </a:r>
          </a:p>
          <a:p>
            <a:pPr/>
          </a:p>
          <a:p>
            <a:pPr/>
            <a:r>
              <a:t>▶ DEMO [20s]</a:t>
            </a:r>
          </a:p>
          <a:p>
            <a:pPr/>
            <a:r>
              <a:t>SETUP: Start = "Marina Green", Destination = "Dolores Park"; clear the assistant's For you ride first (planning a new trip does it).</a:t>
            </a:r>
          </a:p>
          <a:p>
            <a:pPr/>
            <a:r>
              <a:t>DO: Click the "Beaches" and "Boba" chips → a "For you" card appears; flip "Quick" / "Relaxed". Then click "Places along the way" and click the Dolores Park photo pin to open its card.</a:t>
            </a:r>
          </a:p>
          <a:p>
            <a:pPr/>
            <a:r>
              <a:t>SAY WHILE DOING: "Tap beaches and boba and you get a For you ride — quick with two stops, or relaxed with up to five, never inside a Severe area. Turn on Places and every landmark along the route shows up with a photo and why it's worth a stop."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hape 207"/>
          <p:cNvSpPr/>
          <p:nvPr>
            <p:ph type="sldImg"/>
          </p:nvPr>
        </p:nvSpPr>
        <p:spPr>
          <a:prstGeom prst="rect">
            <a:avLst/>
          </a:prstGeom>
        </p:spPr>
        <p:txBody>
          <a:bodyPr/>
          <a:lstStyle/>
          <a:p>
            <a:pPr/>
          </a:p>
        </p:txBody>
      </p:sp>
      <p:sp>
        <p:nvSpPr>
          <p:cNvPr id="208" name="Shape 208"/>
          <p:cNvSpPr/>
          <p:nvPr>
            <p:ph type="body" sz="quarter" idx="1"/>
          </p:nvPr>
        </p:nvSpPr>
        <p:spPr>
          <a:prstGeom prst="rect">
            <a:avLst/>
          </a:prstGeom>
        </p:spPr>
        <p:txBody>
          <a:bodyPr/>
          <a:lstStyle/>
          <a:p>
            <a:pPr/>
            <a:r>
              <a:t>SLIDE [≈10s] SAY: "And before you ride it, you can fly it."</a:t>
            </a:r>
          </a:p>
          <a:p>
            <a:pPr/>
          </a:p>
          <a:p>
            <a:pPr/>
            <a:r>
              <a:t>▶ DEMO [20s]</a:t>
            </a:r>
          </a:p>
          <a:p>
            <a:pPr/>
            <a:r>
              <a:t>SETUP: Marina Green → Dolores Park, "Safest + bike lanes" selected.</a:t>
            </a:r>
          </a:p>
          <a:p>
            <a:pPr/>
            <a:r>
              <a:t>DO: "View 3D tour" → click "Places" (top right) → press play. Let it run: the PROTECTED BIKE LANE callout, the Fort Mason card, the slope panel. Click "Close 3D tour".</a:t>
            </a:r>
          </a:p>
          <a:p>
            <a:pPr/>
            <a:r>
              <a:t>SAY WHILE DOING: "Real aerial photos, real terrain, the city's own LiDAR building heights. It calls out protected lanes as you reach them, pops up the places you'll pass, and shows the slope ahead — so a 17% block on Pierce Street never surprises you."</a:t>
            </a:r>
          </a:p>
          <a:p>
            <a:r>
              <a:rPr lang="en-US" dirty="0"/>
              <a:t>NEW: the play bar has 1× / 2× / 3× speed buttons. Move the mouse to bring the bar back after it fades, then click 2× or 3× to skip ahead without restarting.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hape 227"/>
          <p:cNvSpPr/>
          <p:nvPr>
            <p:ph type="sldImg"/>
          </p:nvPr>
        </p:nvSpPr>
        <p:spPr>
          <a:prstGeom prst="rect">
            <a:avLst/>
          </a:prstGeom>
        </p:spPr>
        <p:txBody>
          <a:bodyPr/>
          <a:lstStyle/>
          <a:p>
            <a:pPr/>
          </a:p>
        </p:txBody>
      </p:sp>
      <p:sp>
        <p:nvSpPr>
          <p:cNvPr id="228" name="Shape 228"/>
          <p:cNvSpPr/>
          <p:nvPr>
            <p:ph type="body" sz="quarter" idx="1"/>
          </p:nvPr>
        </p:nvSpPr>
        <p:spPr>
          <a:prstGeom prst="rect">
            <a:avLst/>
          </a:prstGeom>
        </p:spPr>
        <p:txBody>
          <a:bodyPr/>
          <a:lstStyle/>
          <a:p>
            <a:pPr/>
            <a:r>
              <a:t>SLIDE [≈10s] SAY: "And it's not a slideshow — you can ride it today."</a:t>
            </a:r>
          </a:p>
          <a:p>
            <a:pPr/>
          </a:p>
          <a:p>
            <a:pPr/>
            <a:r>
              <a:t>▶ DEMO [20s]</a:t>
            </a:r>
          </a:p>
          <a:p>
            <a:pPr/>
            <a:r>
              <a:t>SETUP: open the app at localhost:3000/?testmode (this shows "Simulate ride"). Marina Green → Dolores Park, "Safest + bike lanes".</a:t>
            </a:r>
          </a:p>
          <a:p>
            <a:pPr/>
            <a:r>
              <a:t>DO: "Confirm route" → "Simulate ride" → "10×". After a few turns, click "Go off route" and let it reroute. Click "End", then "Save route".</a:t>
            </a:r>
          </a:p>
          <a:p>
            <a:pPr/>
            <a:r>
              <a:t>SAY WHILE DOING: "Confirm, and you get turn-by-turn directions with live GPS in a phone browser. Miss a turn and it reroutes from where you are — keeping the safe route you picked. Save it, and every detail of the ride is kept."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t>SLIDE [≈15s] SAY: "This is built like a product: 411 automated tests, three routes in a tenth of a second, all on open data — which is why it scales to the next city."</a:t>
            </a:r>
          </a:p>
          <a:p>
            <a:pPr/>
          </a:p>
          <a:p>
            <a:pPr/>
            <a:r>
              <a:t>▶ DEMO [10s — short]</a:t>
            </a:r>
          </a:p>
          <a:p>
            <a:pPr/>
            <a:r>
              <a:t>SETUP: a terminal in the All-Routes folder.</a:t>
            </a:r>
          </a:p>
          <a:p>
            <a:pPr/>
            <a:r>
              <a:t>DO: run  npm test  and let it finish on "Tests 411 passed".</a:t>
            </a:r>
          </a:p>
          <a:p>
            <a:pPr/>
            <a:r>
              <a:t>SAY WHILE DOING: "Every safety claim the app makes is checked by a test — 411 of them, all green."</a:t>
            </a:r>
          </a:p>
          <a:p>
            <a:pPr/>
            <a:r>
              <a:t>(Honest answers if asked: the 17 area risk levels are hand-set today; the 3D cars are illustrative, and the app says so; GPS needs the page open until the native app.)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hape 259"/>
          <p:cNvSpPr/>
          <p:nvPr>
            <p:ph type="sldImg"/>
          </p:nvPr>
        </p:nvSpPr>
        <p:spPr>
          <a:prstGeom prst="rect">
            <a:avLst/>
          </a:prstGeom>
        </p:spPr>
        <p:txBody>
          <a:bodyPr/>
          <a:lstStyle/>
          <a:p>
            <a:pPr/>
          </a:p>
        </p:txBody>
      </p:sp>
      <p:sp>
        <p:nvSpPr>
          <p:cNvPr id="260" name="Shape 260"/>
          <p:cNvSpPr/>
          <p:nvPr>
            <p:ph type="body" sz="quarter" idx="1"/>
          </p:nvPr>
        </p:nvSpPr>
        <p:spPr>
          <a:prstGeom prst="rect">
            <a:avLst/>
          </a:prstGeom>
        </p:spPr>
        <p:txBody>
          <a:bodyPr/>
          <a:lstStyle/>
          <a:p>
            <a:pPr/>
            <a:r>
              <a:t>[≈10s] SLIDE ONLY — stop talking after the last line.</a:t>
            </a:r>
          </a:p>
          <a:p>
            <a:pPr/>
          </a:p>
          <a:p>
            <a:pPr/>
            <a:r>
              <a:t>SAY: "Google will always find you the fastest route. We think the safe route should be the default — and a ride you'll enjoy. We're BetterRoutes. Thank you."</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[≈20s] SAY: "Here's the problem in one picture. Ask Google Maps for bike directions from Grace Cathedral to Hayes Valley: it sends you straight down Polk Street, past the Tenderloin and right through Civic Center — 39% of the ride is inside areas we rate Severe, and two-thirds of it has no protected bike lane. BetterRoutes' Safest route goes around both, avoids every crash hotspot, and costs five extra minutes."
▶ DEMO [20s]
DO: In a browser tab, Google Maps → bicycling directions "Grace Cathedral" → "Patricia's Green". Then in BetterRoutes: Start "Grace Cathedral", Destination "Patricia's Green", turn on Neighborhood view, click "Safest".
SAY WHILE DOING: "Google's route goes right down Polk into the red zones. Ours bends around them — and the checklist tells you it avoided every Severe area and every crash hotspot."
HOW THE NUMBERS WERE MEASURED (if asked):
- Google's route = Google Maps bicycling directions, Grace Cathedral → Patricia's Green, captured Oct 14, 2026: California St → Larkin → Sacramento → Polk St 0.9 mi → Grove St 0.4 mi → Octavia → Hayes. 14 min, 1.9 mi.
- 39%: that path measured against BetterRoutes' 17 flagged areas (Civic Center ≈870 m, Tenderloin ≈280 m of ≈2.7 km).
- 67%: each street's bike facility from SFMTA's official bike-network data (California, Larkin, Sacramento, Grove, Octavia: no facility; Polk: ~64% protected, ~36% painted or none).
- BetterRoutes numbers are shown in the app for that trip: Safest 2.1 mi, ~22 min, "Avoided every Severe area", "Avoided every crash hotspot", "25.1% less average danger than the fastest route", +5 min.
- Honest caveat: BetterRoutes' Safest still passes through Western Addition and Fillmore (High, not Severe) — it says so on screen, because staying out of everything would make the trip 246%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[≈20s] SAY: "Safety is the core, but it's not the only thing we optimise. Everything here runs on measured San Francisco data: real elevation at every intersection, so Avoid hills turns a 22% climb into 8.6% and gets you there 7 minutes sooner. All 1,314 city traffic signals, so Fewer lights takes the same trip from 35 red lights down to 12. Ride times count every hill and every light. And you can customise all of it in one sentence with the AI."
▶ DEMO [20s]
SETUP: Ocean Beach → Ferry Building, "Safest" selected.
DO: Point at "Steepest climb 21.8%" and "Traffic lights 17". Turn on "Avoid hills" → show 8.6% and ~82 min. Turn Avoid hills off, turn on "Fewer traffic lights" → show 12 lights. (Then, if time: assistant → "Flat ride please, with boba and a park on the way".)
SAY WHILE DOING: "Avoid hills: steepest climb 21.8 down to 8.6 percent, and it's faster. Fewer lights: 17 down to 12. Or just tell the assistant what you want."
WHERE EACH NUMBER COMES FROM (all reproducible in the app, Oct 14, 2026):
- Avoid hills: Ocean Beach → Ferry Building, Safest. Off: steepest 21.8%, ▲1,027 ft, ~89 min. On: 8.6%, ▲518 ft, ~82 min. (Also Golden Gate Park → Ferry Building: 21.8% → 8.6%, 810 → 384 ft, 67 → 63 min.)
- Fewer lights: Ocean Beach → Ferry Building. Fastest 35 lights; Safest 17 (~89 min); Safest + Fewer traffic lights 12 (~87 min). Note: on some trips fewer lights costs time (Noe Valley → North Beach: 26 → 16 lights, +17 min) — it's for fewer stops, and never overrides safety.
- Honest ride time: every estimate = distance + 10 flat-equivalent metres per metre climbed + ~12 s per traffic light, and tests check Fastest ≤ Safest ≤ Safest + bike lanes in time across trips and settings. If asked why Google says 14 min where ours says ~17 for Grace Cathedral → Patricia's Green: we count the climb and the red lights.
- AI: Noe Valley → North Beach, prompt above, produced "For you · Safest rules · avoids hills · 5.4 mi, ~54 min" with 2 stops. AI replies vary slightly run to run.
- Wording: only the danger score comes from a trained model. Hills and lights are measured data, not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old Results slide (62% / 30% / 2.1× / +28%). Those came from an earlier survey using raw map coordinates, which you can't reproduce by typing addresses. These come from 10 trips typed into the app, so any of them can be shown live.
SAY: "We didn't cherry-pick one trip. On 10 everyday San Francisco trips, our Safest plus bike lanes cuts time inside flagged areas by 70%, lowers average street danger by 28%, and puts 40% more of the ride on protected lanes. Fastest-first routes went into a Severe area on 7 of the 10 trips; ours on just 1. The cost is about a third more ride time — shown on every route."
▶ DEMO [20s]: open any trip from the appendix (e.g. Golden Gate Park → Ferry Building), click "Compare routes side by side", read the Inside flagged areas, Danger and Protected lanes rows.
Honest notes: the 1 trip where Safest still enters a Severe area is Union Square → Lower Haight: "Union Square" geocodes to the Tenderloin's edge, and the route clips SoMa for 0.12 mi. On short trips Safest can have fewer protected lanes than Fastest, because it uses quiet residential streets instead — that's why "Safest" and "Safest + bike lanes" are separate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keep it at the back for Q&amp;A. Every app number here can be reproduced by typing the From → To addresses into BetterRoutes and picking the FIRST suggestion. Numbers measured Oct 14, 2026 with model gbt-baseline-2026-10-05.
Links:
- NHTSA 2024 bicyclists: https://rosap.ntl.bts.gov/view/dot/92690
- SFMTA Vision Zero High Injury Network: https://sfmta.com/media/4894/download
- Dill &amp; McNeil 2016: https://jenniferdill.net/types-of-cyclists/
- EPA transportation emissions (if you use it): https://www.epa.gov/system/files/documents/2024-05/420f24022.pdf
Fix on your existing slide 3: it says 5,457 SFMTA bike-lane segments; the app uses 5,455 (5,457 was the raw file's line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the raw data behind the Results slide. Any row can be demoed live: type From and To, pick the first suggestion, then "Compare routes side by side".
Averages: in flagged areas 45.8% → 13.9% (−70%); danger 69.6 → 50.3 (−28%); protected 18.5% → 26.2% (1.4×); total time +33%; trips entering a Severe area 7/10 → 1/10.
Two rows to be ready for: Pacific Heights → Mission Street &amp; 17th Street — the destination sits inside a flagged area, so the safe route can't avoid much there (use it to show the problem, not the fix). Union Square → Lower Haight — the start sits at the Tenderloin's edge, so the safe route still clips SoMa for 0.12 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ARK_TITLE">
    <p:bg>
      <p:bgPr>
        <a:solidFill>
          <a:srgbClr val="13202B"/>
        </a:solidFill>
      </p:bgPr>
    </p:bg>
    <p:spTree>
      <p:nvGrpSpPr>
        <p:cNvPr id="1" name=""/>
        <p:cNvGrpSpPr/>
        <p:nvPr/>
      </p:nvGrpSpPr>
      <p:grpSpPr>
        <a:xfrm>
          <a:off x="0" y="0"/>
          <a:ext cx="0" cy="0"/>
          <a:chOff x="0" y="0"/>
          <a:chExt cx="0" cy="0"/>
        </a:xfrm>
      </p:grpSpPr>
      <p:sp>
        <p:nvSpPr>
          <p:cNvPr id="18" name="Click to add title"/>
          <p:cNvSpPr txBox="1"/>
          <p:nvPr>
            <p:ph type="title" hasCustomPrompt="1"/>
          </p:nvPr>
        </p:nvSpPr>
        <p:spPr>
          <a:xfrm>
            <a:off x="640080" y="1828800"/>
            <a:ext cx="5669280" cy="2011680"/>
          </a:xfrm>
          <a:prstGeom prst="rect">
            <a:avLst/>
          </a:prstGeom>
        </p:spPr>
        <p:txBody>
          <a:bodyPr anchor="t">
            <a:normAutofit fontScale="100000" lnSpcReduction="0"/>
          </a:bodyPr>
          <a:lstStyle>
            <a:lvl1pPr algn="l">
              <a:defRPr b="1">
                <a:solidFill>
                  <a:srgbClr val="FFFFFF"/>
                </a:solidFill>
              </a:defRPr>
            </a:lvl1pPr>
          </a:lstStyle>
          <a:p>
            <a:pPr/>
            <a:r>
              <a:t>Click to add title</a:t>
            </a:r>
          </a:p>
        </p:txBody>
      </p:sp>
      <p:sp>
        <p:nvSpPr>
          <p:cNvPr id="19" name="Body Level One…"/>
          <p:cNvSpPr txBox="1"/>
          <p:nvPr>
            <p:ph type="body" sz="quarter" idx="1" hasCustomPrompt="1"/>
          </p:nvPr>
        </p:nvSpPr>
        <p:spPr>
          <a:xfrm>
            <a:off x="640080" y="4023359"/>
            <a:ext cx="5303521" cy="1280161"/>
          </a:xfrm>
          <a:prstGeom prst="rect">
            <a:avLst/>
          </a:prstGeom>
        </p:spPr>
        <p:txBody>
          <a:bodyPr>
            <a:normAutofit fontScale="100000" lnSpcReduction="0"/>
          </a:bodyPr>
          <a:lstStyle>
            <a:lvl1pPr marL="0" indent="0">
              <a:spcBef>
                <a:spcPts val="400"/>
              </a:spcBef>
              <a:buSzTx/>
              <a:buFontTx/>
              <a:buNone/>
              <a:defRPr sz="2000">
                <a:solidFill>
                  <a:srgbClr val="EEF3F1"/>
                </a:solidFill>
              </a:defRPr>
            </a:lvl1pPr>
            <a:lvl2pPr marL="661307" indent="-204107">
              <a:spcBef>
                <a:spcPts val="400"/>
              </a:spcBef>
              <a:buFontTx/>
              <a:defRPr sz="2000">
                <a:solidFill>
                  <a:srgbClr val="EEF3F1"/>
                </a:solidFill>
              </a:defRPr>
            </a:lvl2pPr>
            <a:lvl3pPr marL="1104900" indent="-190500">
              <a:spcBef>
                <a:spcPts val="400"/>
              </a:spcBef>
              <a:buFontTx/>
              <a:defRPr sz="2000">
                <a:solidFill>
                  <a:srgbClr val="EEF3F1"/>
                </a:solidFill>
              </a:defRPr>
            </a:lvl3pPr>
            <a:lvl4pPr marL="1600200" indent="-228600">
              <a:spcBef>
                <a:spcPts val="400"/>
              </a:spcBef>
              <a:buFontTx/>
              <a:defRPr sz="2000">
                <a:solidFill>
                  <a:srgbClr val="EEF3F1"/>
                </a:solidFill>
              </a:defRPr>
            </a:lvl4pPr>
            <a:lvl5pPr marL="2057400" indent="-228600">
              <a:spcBef>
                <a:spcPts val="400"/>
              </a:spcBef>
              <a:buFontTx/>
              <a:defRPr sz="2000">
                <a:solidFill>
                  <a:srgbClr val="EEF3F1"/>
                </a:solidFill>
              </a:defRPr>
            </a:lvl5pPr>
          </a:lstStyle>
          <a:p>
            <a:pPr/>
            <a:r>
              <a:t>Click to add text</a:t>
            </a:r>
          </a:p>
          <a:p>
            <a:pPr lvl="1"/>
            <a:r>
              <a:t/>
            </a:r>
          </a:p>
          <a:p>
            <a:pPr lvl="2"/>
            <a:r>
              <a:t/>
            </a:r>
          </a:p>
          <a:p>
            <a:pPr lvl="3"/>
            <a:r>
              <a:t/>
            </a:r>
          </a:p>
          <a:p>
            <a:pPr lvl="4"/>
            <a:r>
              <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ARK_CONTENT">
    <p:bg>
      <p:bgPr>
        <a:solidFill>
          <a:srgbClr val="13202B"/>
        </a:solidFill>
      </p:bgPr>
    </p:bg>
    <p:spTree>
      <p:nvGrpSpPr>
        <p:cNvPr id="1" name=""/>
        <p:cNvGrpSpPr/>
        <p:nvPr/>
      </p:nvGrpSpPr>
      <p:grpSpPr>
        <a:xfrm>
          <a:off x="0" y="0"/>
          <a:ext cx="0" cy="0"/>
          <a:chOff x="0" y="0"/>
          <a:chExt cx="0" cy="0"/>
        </a:xfrm>
      </p:grpSpPr>
      <p:sp>
        <p:nvSpPr>
          <p:cNvPr id="27" name="Click to add title"/>
          <p:cNvSpPr txBox="1"/>
          <p:nvPr>
            <p:ph type="title" hasCustomPrompt="1"/>
          </p:nvPr>
        </p:nvSpPr>
        <p:spPr>
          <a:xfrm>
            <a:off x="640080" y="731519"/>
            <a:ext cx="10881360" cy="731521"/>
          </a:xfrm>
          <a:prstGeom prst="rect">
            <a:avLst/>
          </a:prstGeom>
        </p:spPr>
        <p:txBody>
          <a:bodyPr anchor="t">
            <a:normAutofit fontScale="100000" lnSpcReduction="0"/>
          </a:bodyPr>
          <a:lstStyle>
            <a:lvl1pPr algn="l">
              <a:defRPr b="1" sz="3200">
                <a:solidFill>
                  <a:srgbClr val="FFFFFF"/>
                </a:solidFill>
              </a:defRPr>
            </a:lvl1pPr>
          </a:lstStyle>
          <a:p>
            <a:pPr/>
            <a:r>
              <a:t>Click to add title</a:t>
            </a:r>
          </a:p>
        </p:txBody>
      </p:sp>
      <p:sp>
        <p:nvSpPr>
          <p:cNvPr id="28" name="Slide Number"/>
          <p:cNvSpPr txBox="1"/>
          <p:nvPr>
            <p:ph type="sldNum" sz="quarter" idx="2"/>
          </p:nvPr>
        </p:nvSpPr>
        <p:spPr>
          <a:xfrm>
            <a:off x="11562883" y="6355079"/>
            <a:ext cx="232877" cy="228512"/>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spTree>
      <p:nvGrpSpPr>
        <p:cNvPr id="1" name=""/>
        <p:cNvGrpSpPr/>
        <p:nvPr/>
      </p:nvGrpSpPr>
      <p:grpSpPr>
        <a:xfrm>
          <a:off x="0" y="0"/>
          <a:ext cx="0" cy="0"/>
          <a:chOff x="0" y="0"/>
          <a:chExt cx="0" cy="0"/>
        </a:xfrm>
      </p:grpSpPr>
      <p:sp>
        <p:nvSpPr>
          <p:cNvPr id="35" name="Click to add title"/>
          <p:cNvSpPr txBox="1"/>
          <p:nvPr>
            <p:ph type="title" hasCustomPrompt="1"/>
          </p:nvPr>
        </p:nvSpPr>
        <p:spPr>
          <a:xfrm>
            <a:off x="640080" y="731519"/>
            <a:ext cx="10881360" cy="731521"/>
          </a:xfrm>
          <a:prstGeom prst="rect">
            <a:avLst/>
          </a:prstGeom>
        </p:spPr>
        <p:txBody>
          <a:bodyPr anchor="t">
            <a:normAutofit fontScale="100000" lnSpcReduction="0"/>
          </a:bodyPr>
          <a:lstStyle>
            <a:lvl1pPr algn="l">
              <a:defRPr b="1" sz="3200"/>
            </a:lvl1pPr>
          </a:lstStyle>
          <a:p>
            <a:pPr/>
            <a:r>
              <a:t>Click to add title</a:t>
            </a:r>
          </a:p>
        </p:txBody>
      </p:sp>
      <p:sp>
        <p:nvSpPr>
          <p:cNvPr id="36" name="Text 0"/>
          <p:cNvSpPr txBox="1"/>
          <p:nvPr/>
        </p:nvSpPr>
        <p:spPr>
          <a:xfrm>
            <a:off x="640080" y="6423704"/>
            <a:ext cx="27432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chemeClr val="accent5"/>
                </a:solidFill>
              </a:defRPr>
            </a:lvl1pPr>
          </a:lstStyle>
          <a:p>
            <a:pPr/>
            <a:r>
              <a:t>BetterRoutes</a:t>
            </a:r>
          </a:p>
        </p:txBody>
      </p:sp>
      <p:sp>
        <p:nvSpPr>
          <p:cNvPr id="37" name="Slide Number"/>
          <p:cNvSpPr txBox="1"/>
          <p:nvPr>
            <p:ph type="sldNum" sz="quarter" idx="2"/>
          </p:nvPr>
        </p:nvSpPr>
        <p:spPr>
          <a:xfrm>
            <a:off x="11562883" y="6355079"/>
            <a:ext cx="232877" cy="228512"/>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chemeClr val="accent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13202B"/>
          </a:solidFill>
          <a:uFillTx/>
          <a:latin typeface="Arial"/>
          <a:ea typeface="Arial"/>
          <a:cs typeface="Arial"/>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13202B"/>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1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5.png"/><Relationship Id="rId7" Type="http://schemas.openxmlformats.org/officeDocument/2006/relationships/image" Target="../media/image2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image" Target="../media/merged-1-image-1-1.png"/><Relationship Id="rId2" Type="http://schemas.openxmlformats.org/officeDocument/2006/relationships/image" Target="../media/merged-1-image-1-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merged-2-image-2-1.png"/><Relationship Id="rId2" Type="http://schemas.openxmlformats.org/officeDocument/2006/relationships/image" Target="../media/merged-2-image-2-2.png"/><Relationship Id="rId3" Type="http://schemas.openxmlformats.org/officeDocument/2006/relationships/image" Target="../media/merged-2-image-2-3.png"/><Relationship Id="rId4" Type="http://schemas.openxmlformats.org/officeDocument/2006/relationships/image" Target="../media/merged-2-image-2-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Text 0"/>
          <p:cNvSpPr txBox="1"/>
          <p:nvPr>
            <p:ph type="title"/>
          </p:nvPr>
        </p:nvSpPr>
        <p:spPr>
          <a:xfrm>
            <a:off x="582298" y="976515"/>
            <a:ext cx="5669280" cy="2011680"/>
          </a:xfrm>
          <a:prstGeom prst="rect">
            <a:avLst/>
          </a:prstGeom>
        </p:spPr>
        <p:txBody>
          <a:bodyPr lIns="0" tIns="0" rIns="0" bIns="0" anchor="b"/>
          <a:lstStyle/>
          <a:p>
            <a:pPr/>
            <a:r>
              <a:t>BetterRoutes</a:t>
            </a:r>
          </a:p>
        </p:txBody>
      </p:sp>
      <p:sp>
        <p:nvSpPr>
          <p:cNvPr id="47" name="Text 0"/>
          <p:cNvSpPr txBox="1"/>
          <p:nvPr>
            <p:ph type="body" sz="quarter" idx="1"/>
          </p:nvPr>
        </p:nvSpPr>
        <p:spPr>
          <a:xfrm>
            <a:off x="582297" y="3171075"/>
            <a:ext cx="5303522" cy="1280161"/>
          </a:xfrm>
          <a:prstGeom prst="rect">
            <a:avLst/>
          </a:prstGeom>
        </p:spPr>
        <p:txBody>
          <a:bodyPr lIns="0" tIns="0" rIns="0" bIns="0"/>
          <a:lstStyle/>
          <a:p>
            <a:pPr/>
            <a:r>
              <a:t>The bike map that optimizes routes in San Francisco for safety and custom preferences over speed</a:t>
            </a:r>
          </a:p>
        </p:txBody>
      </p:sp>
      <p:sp>
        <p:nvSpPr>
          <p:cNvPr id="48" name="3D tour on a protected path frame"/>
          <p:cNvSpPr/>
          <p:nvPr/>
        </p:nvSpPr>
        <p:spPr>
          <a:xfrm>
            <a:off x="6510528" y="978408"/>
            <a:ext cx="5129785" cy="3794532"/>
          </a:xfrm>
          <a:prstGeom prst="roundRect">
            <a:avLst>
              <a:gd name="adj" fmla="val 2892"/>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49" name="3D tour on a protected path" descr="3D tour on a protected path"/>
          <p:cNvPicPr>
            <a:picLocks noChangeAspect="1"/>
          </p:cNvPicPr>
          <p:nvPr/>
        </p:nvPicPr>
        <p:blipFill>
          <a:blip r:embed="rId3">
            <a:extLst/>
          </a:blip>
          <a:stretch>
            <a:fillRect/>
          </a:stretch>
        </p:blipFill>
        <p:spPr>
          <a:xfrm>
            <a:off x="6583680" y="1051560"/>
            <a:ext cx="4983481" cy="3648229"/>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0"/>
          <p:cNvSpPr txBox="1"/>
          <p:nvPr>
            <p:ph type="title"/>
          </p:nvPr>
        </p:nvSpPr>
        <p:spPr>
          <a:xfrm>
            <a:off x="640080" y="731519"/>
            <a:ext cx="10881360" cy="731521"/>
          </a:xfrm>
          <a:prstGeom prst="rect">
            <a:avLst/>
          </a:prstGeom>
        </p:spPr>
        <p:txBody>
          <a:bodyPr lIns="0" tIns="0" rIns="0" bIns="0" anchor="ctr"/>
          <a:lstStyle/>
          <a:p>
            <a:pPr/>
            <a:r>
              <a:t>Bike danger is concentrated</a:t>
            </a:r>
          </a:p>
        </p:txBody>
      </p:sp>
      <p:sp>
        <p:nvSpPr>
          <p:cNvPr id="54" name="Text 2"/>
          <p:cNvSpPr txBox="1"/>
          <p:nvPr/>
        </p:nvSpPr>
        <p:spPr>
          <a:xfrm>
            <a:off x="640080" y="1828800"/>
            <a:ext cx="4754880" cy="8342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b="1" sz="4000">
                <a:solidFill>
                  <a:schemeClr val="accent3"/>
                </a:solidFill>
              </a:defRPr>
            </a:pPr>
            <a:r>
              <a:t>1,103</a:t>
            </a:r>
          </a:p>
          <a:p>
            <a:pPr>
              <a:spcBef>
                <a:spcPts val="200"/>
              </a:spcBef>
              <a:defRPr sz="1500">
                <a:solidFill>
                  <a:srgbClr val="3B4A57"/>
                </a:solidFill>
              </a:defRPr>
            </a:pPr>
            <a:r>
              <a:t>cyclists killed on US roads in 2024</a:t>
            </a:r>
          </a:p>
        </p:txBody>
      </p:sp>
      <p:sp>
        <p:nvSpPr>
          <p:cNvPr id="55" name="Text 3"/>
          <p:cNvSpPr txBox="1"/>
          <p:nvPr/>
        </p:nvSpPr>
        <p:spPr>
          <a:xfrm>
            <a:off x="640080" y="3017520"/>
            <a:ext cx="4754880" cy="8342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b="1" sz="4000">
                <a:solidFill>
                  <a:schemeClr val="accent3"/>
                </a:solidFill>
              </a:defRPr>
            </a:pPr>
            <a:r>
              <a:t>52,887</a:t>
            </a:r>
          </a:p>
          <a:p>
            <a:pPr>
              <a:spcBef>
                <a:spcPts val="200"/>
              </a:spcBef>
              <a:defRPr sz="1500">
                <a:solidFill>
                  <a:srgbClr val="3B4A57"/>
                </a:solidFill>
              </a:defRPr>
            </a:pPr>
            <a:r>
              <a:t>cyclists injured in 2024 — up 6% from 2023</a:t>
            </a:r>
          </a:p>
        </p:txBody>
      </p:sp>
      <p:sp>
        <p:nvSpPr>
          <p:cNvPr id="56" name="Text 4"/>
          <p:cNvSpPr txBox="1"/>
          <p:nvPr/>
        </p:nvSpPr>
        <p:spPr>
          <a:xfrm>
            <a:off x="640080" y="4206240"/>
            <a:ext cx="4754880" cy="10628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200"/>
              </a:spcBef>
              <a:defRPr b="1" sz="4000">
                <a:solidFill>
                  <a:schemeClr val="accent1"/>
                </a:solidFill>
              </a:defRPr>
            </a:pPr>
            <a:r>
              <a:t>4% → 55%</a:t>
            </a:r>
          </a:p>
          <a:p>
            <a:pPr>
              <a:spcBef>
                <a:spcPts val="200"/>
              </a:spcBef>
              <a:defRPr sz="1500">
                <a:solidFill>
                  <a:srgbClr val="3B4A57"/>
                </a:solidFill>
              </a:defRPr>
            </a:pPr>
            <a:r>
              <a:t>4% of SF street miles hold 55% of severe and fatal bike injuries</a:t>
            </a:r>
          </a:p>
        </p:txBody>
      </p:sp>
      <p:sp>
        <p:nvSpPr>
          <p:cNvPr id="57" name="Text 5"/>
          <p:cNvSpPr txBox="1"/>
          <p:nvPr/>
        </p:nvSpPr>
        <p:spPr>
          <a:xfrm>
            <a:off x="640079" y="5701074"/>
            <a:ext cx="493776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chemeClr val="accent5"/>
                </a:solidFill>
              </a:defRPr>
            </a:lvl1pPr>
          </a:lstStyle>
          <a:p>
            <a:pPr/>
            <a:r>
              <a:t>Sources: NHTSA Traffic Safety Facts, 2024 Data: Bicyclists; SFMTA Vision Zero High Injury Network (cyclist corridors)</a:t>
            </a:r>
          </a:p>
        </p:txBody>
      </p:sp>
      <p:sp>
        <p:nvSpPr>
          <p:cNvPr id="58" name="Fastest route through flagged areas frame"/>
          <p:cNvSpPr/>
          <p:nvPr/>
        </p:nvSpPr>
        <p:spPr>
          <a:xfrm>
            <a:off x="6099047" y="1709927"/>
            <a:ext cx="5266945" cy="4242817"/>
          </a:xfrm>
          <a:prstGeom prst="roundRect">
            <a:avLst>
              <a:gd name="adj" fmla="val 2586"/>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59" name="Fastest route through flagged areas" descr="Fastest route through flagged areas"/>
          <p:cNvPicPr>
            <a:picLocks noChangeAspect="1"/>
          </p:cNvPicPr>
          <p:nvPr/>
        </p:nvPicPr>
        <p:blipFill>
          <a:blip r:embed="rId3">
            <a:extLst/>
          </a:blip>
          <a:stretch>
            <a:fillRect/>
          </a:stretch>
        </p:blipFill>
        <p:spPr>
          <a:xfrm>
            <a:off x="6172200" y="1783079"/>
            <a:ext cx="5120641" cy="4096513"/>
          </a:xfrm>
          <a:prstGeom prst="rect">
            <a:avLst/>
          </a:prstGeom>
          <a:ln w="12700">
            <a:miter lim="400000"/>
          </a:ln>
        </p:spPr>
      </p:pic>
      <p:sp>
        <p:nvSpPr>
          <p:cNvPr id="60" name="Slide Number Placeholder 0"/>
          <p:cNvSpPr txBox="1"/>
          <p:nvPr>
            <p:ph type="sldNum" sz="quarter" idx="4294967295"/>
          </p:nvPr>
        </p:nvSpPr>
        <p:spPr>
          <a:xfrm>
            <a:off x="11627251" y="6355079"/>
            <a:ext cx="168509"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 name="Text 0"/>
          <p:cNvSpPr txBox="1"/>
          <p:nvPr>
            <p:ph type="title"/>
          </p:nvPr>
        </p:nvSpPr>
        <p:spPr>
          <a:xfrm>
            <a:off x="640080" y="731519"/>
            <a:ext cx="10881360" cy="731521"/>
          </a:xfrm>
          <a:prstGeom prst="rect">
            <a:avLst/>
          </a:prstGeom>
        </p:spPr>
        <p:txBody>
          <a:bodyPr lIns="0" tIns="0" rIns="0" bIns="0" anchor="ctr"/>
          <a:lstStyle/>
          <a:p>
            <a:pPr/>
            <a:r>
              <a:t>Our own bike router, built on SF's real data</a:t>
            </a:r>
          </a:p>
        </p:txBody>
      </p:sp>
      <p:sp>
        <p:nvSpPr>
          <p:cNvPr id="65" name="real bike-injury crashes (DataSF, 2019+) circle"/>
          <p:cNvSpPr/>
          <p:nvPr/>
        </p:nvSpPr>
        <p:spPr>
          <a:xfrm>
            <a:off x="640080" y="1874520"/>
            <a:ext cx="566929" cy="566929"/>
          </a:xfrm>
          <a:prstGeom prst="ellipse">
            <a:avLst/>
          </a:prstGeom>
          <a:solidFill>
            <a:schemeClr val="accent1"/>
          </a:solidFill>
          <a:ln w="12700">
            <a:miter lim="400000"/>
          </a:ln>
        </p:spPr>
        <p:txBody>
          <a:bodyPr lIns="45719" rIns="45719"/>
          <a:lstStyle/>
          <a:p>
            <a:pPr/>
          </a:p>
        </p:txBody>
      </p:sp>
      <p:pic>
        <p:nvPicPr>
          <p:cNvPr id="66" name="real bike-injury crashes (DataSF, 2019+) icon" descr="real bike-injury crashes (DataSF, 2019+) icon"/>
          <p:cNvPicPr>
            <a:picLocks noChangeAspect="1"/>
          </p:cNvPicPr>
          <p:nvPr/>
        </p:nvPicPr>
        <p:blipFill>
          <a:blip r:embed="rId3">
            <a:extLst/>
          </a:blip>
          <a:stretch>
            <a:fillRect/>
          </a:stretch>
        </p:blipFill>
        <p:spPr>
          <a:xfrm>
            <a:off x="781812" y="2016251"/>
            <a:ext cx="283465" cy="283465"/>
          </a:xfrm>
          <a:prstGeom prst="rect">
            <a:avLst/>
          </a:prstGeom>
          <a:ln w="12700">
            <a:miter lim="400000"/>
          </a:ln>
        </p:spPr>
      </p:pic>
      <p:sp>
        <p:nvSpPr>
          <p:cNvPr id="67" name="Text 3"/>
          <p:cNvSpPr txBox="1"/>
          <p:nvPr/>
        </p:nvSpPr>
        <p:spPr>
          <a:xfrm>
            <a:off x="1353311" y="1801367"/>
            <a:ext cx="1920241" cy="674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pPr>
            <a:r>
              <a:t>3,558</a:t>
            </a:r>
          </a:p>
          <a:p>
            <a:pPr>
              <a:defRPr sz="1300">
                <a:solidFill>
                  <a:srgbClr val="3B4A57"/>
                </a:solidFill>
              </a:defRPr>
            </a:pPr>
            <a:r>
              <a:t>real bike-injury crashes (DataSF, 2019+)</a:t>
            </a:r>
          </a:p>
        </p:txBody>
      </p:sp>
      <p:sp>
        <p:nvSpPr>
          <p:cNvPr id="68" name="SFMTA-surveyed bike-lane segments circle"/>
          <p:cNvSpPr/>
          <p:nvPr/>
        </p:nvSpPr>
        <p:spPr>
          <a:xfrm>
            <a:off x="3383279" y="1874520"/>
            <a:ext cx="566929" cy="566929"/>
          </a:xfrm>
          <a:prstGeom prst="ellipse">
            <a:avLst/>
          </a:prstGeom>
          <a:solidFill>
            <a:schemeClr val="accent1"/>
          </a:solidFill>
          <a:ln w="12700">
            <a:miter lim="400000"/>
          </a:ln>
        </p:spPr>
        <p:txBody>
          <a:bodyPr lIns="45719" rIns="45719"/>
          <a:lstStyle/>
          <a:p>
            <a:pPr/>
          </a:p>
        </p:txBody>
      </p:sp>
      <p:pic>
        <p:nvPicPr>
          <p:cNvPr id="69" name="SFMTA-surveyed bike-lane segments icon" descr="SFMTA-surveyed bike-lane segments icon"/>
          <p:cNvPicPr>
            <a:picLocks noChangeAspect="1"/>
          </p:cNvPicPr>
          <p:nvPr/>
        </p:nvPicPr>
        <p:blipFill>
          <a:blip r:embed="rId4">
            <a:extLst/>
          </a:blip>
          <a:stretch>
            <a:fillRect/>
          </a:stretch>
        </p:blipFill>
        <p:spPr>
          <a:xfrm>
            <a:off x="3525011" y="2016251"/>
            <a:ext cx="283465" cy="283465"/>
          </a:xfrm>
          <a:prstGeom prst="rect">
            <a:avLst/>
          </a:prstGeom>
          <a:ln w="12700">
            <a:miter lim="400000"/>
          </a:ln>
        </p:spPr>
      </p:pic>
      <p:sp>
        <p:nvSpPr>
          <p:cNvPr id="70" name="Text 5"/>
          <p:cNvSpPr txBox="1"/>
          <p:nvPr/>
        </p:nvSpPr>
        <p:spPr>
          <a:xfrm>
            <a:off x="4096511" y="1801367"/>
            <a:ext cx="1920241" cy="674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pPr>
            <a:r>
              <a:t>5,455</a:t>
            </a:r>
          </a:p>
          <a:p>
            <a:pPr>
              <a:defRPr sz="1300">
                <a:solidFill>
                  <a:srgbClr val="3B4A57"/>
                </a:solidFill>
              </a:defRPr>
            </a:pPr>
            <a:r>
              <a:t>SFMTA-surveyed bike-lane segments</a:t>
            </a:r>
          </a:p>
        </p:txBody>
      </p:sp>
      <p:sp>
        <p:nvSpPr>
          <p:cNvPr id="71" name="highways and fast arterials scored circle"/>
          <p:cNvSpPr/>
          <p:nvPr/>
        </p:nvSpPr>
        <p:spPr>
          <a:xfrm>
            <a:off x="640080" y="3017520"/>
            <a:ext cx="566929" cy="566929"/>
          </a:xfrm>
          <a:prstGeom prst="ellipse">
            <a:avLst/>
          </a:prstGeom>
          <a:solidFill>
            <a:schemeClr val="accent1"/>
          </a:solidFill>
          <a:ln w="12700">
            <a:miter lim="400000"/>
          </a:ln>
        </p:spPr>
        <p:txBody>
          <a:bodyPr lIns="45719" rIns="45719"/>
          <a:lstStyle/>
          <a:p>
            <a:pPr/>
          </a:p>
        </p:txBody>
      </p:sp>
      <p:pic>
        <p:nvPicPr>
          <p:cNvPr id="72" name="highways and fast arterials scored icon" descr="highways and fast arterials scored icon"/>
          <p:cNvPicPr>
            <a:picLocks noChangeAspect="1"/>
          </p:cNvPicPr>
          <p:nvPr/>
        </p:nvPicPr>
        <p:blipFill>
          <a:blip r:embed="rId5">
            <a:extLst/>
          </a:blip>
          <a:stretch>
            <a:fillRect/>
          </a:stretch>
        </p:blipFill>
        <p:spPr>
          <a:xfrm>
            <a:off x="781812" y="3159251"/>
            <a:ext cx="283465" cy="283465"/>
          </a:xfrm>
          <a:prstGeom prst="rect">
            <a:avLst/>
          </a:prstGeom>
          <a:ln w="12700">
            <a:miter lim="400000"/>
          </a:ln>
        </p:spPr>
      </p:pic>
      <p:sp>
        <p:nvSpPr>
          <p:cNvPr id="73" name="Text 7"/>
          <p:cNvSpPr txBox="1"/>
          <p:nvPr/>
        </p:nvSpPr>
        <p:spPr>
          <a:xfrm>
            <a:off x="1353311" y="2944367"/>
            <a:ext cx="1920241" cy="674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pPr>
            <a:r>
              <a:t>5,566</a:t>
            </a:r>
          </a:p>
          <a:p>
            <a:pPr>
              <a:defRPr sz="1300">
                <a:solidFill>
                  <a:srgbClr val="3B4A57"/>
                </a:solidFill>
              </a:defRPr>
            </a:pPr>
            <a:r>
              <a:t>highways and fast arterials scored</a:t>
            </a:r>
          </a:p>
        </p:txBody>
      </p:sp>
      <p:sp>
        <p:nvSpPr>
          <p:cNvPr id="74" name="traffic signals that stop a rider circle"/>
          <p:cNvSpPr/>
          <p:nvPr/>
        </p:nvSpPr>
        <p:spPr>
          <a:xfrm>
            <a:off x="3383279" y="3017520"/>
            <a:ext cx="566929" cy="566929"/>
          </a:xfrm>
          <a:prstGeom prst="ellipse">
            <a:avLst/>
          </a:prstGeom>
          <a:solidFill>
            <a:schemeClr val="accent1"/>
          </a:solidFill>
          <a:ln w="12700">
            <a:miter lim="400000"/>
          </a:ln>
        </p:spPr>
        <p:txBody>
          <a:bodyPr lIns="45719" rIns="45719"/>
          <a:lstStyle/>
          <a:p>
            <a:pPr/>
          </a:p>
        </p:txBody>
      </p:sp>
      <p:pic>
        <p:nvPicPr>
          <p:cNvPr id="75" name="traffic signals that stop a rider icon" descr="traffic signals that stop a rider icon"/>
          <p:cNvPicPr>
            <a:picLocks noChangeAspect="1"/>
          </p:cNvPicPr>
          <p:nvPr/>
        </p:nvPicPr>
        <p:blipFill>
          <a:blip r:embed="rId6">
            <a:extLst/>
          </a:blip>
          <a:stretch>
            <a:fillRect/>
          </a:stretch>
        </p:blipFill>
        <p:spPr>
          <a:xfrm>
            <a:off x="3525011" y="3159251"/>
            <a:ext cx="283465" cy="283465"/>
          </a:xfrm>
          <a:prstGeom prst="rect">
            <a:avLst/>
          </a:prstGeom>
          <a:ln w="12700">
            <a:miter lim="400000"/>
          </a:ln>
        </p:spPr>
      </p:pic>
      <p:sp>
        <p:nvSpPr>
          <p:cNvPr id="76" name="Text 9"/>
          <p:cNvSpPr txBox="1"/>
          <p:nvPr/>
        </p:nvSpPr>
        <p:spPr>
          <a:xfrm>
            <a:off x="4096511" y="2944367"/>
            <a:ext cx="1920241" cy="674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pPr>
            <a:r>
              <a:t>1,314</a:t>
            </a:r>
          </a:p>
          <a:p>
            <a:pPr>
              <a:defRPr sz="1300">
                <a:solidFill>
                  <a:srgbClr val="3B4A57"/>
                </a:solidFill>
              </a:defRPr>
            </a:pPr>
            <a:r>
              <a:t>traffic signals that stop a rider</a:t>
            </a:r>
          </a:p>
        </p:txBody>
      </p:sp>
      <p:sp>
        <p:nvSpPr>
          <p:cNvPr id="77" name="terrain elevation, so hills are real circle"/>
          <p:cNvSpPr/>
          <p:nvPr/>
        </p:nvSpPr>
        <p:spPr>
          <a:xfrm>
            <a:off x="640080" y="4160520"/>
            <a:ext cx="566929" cy="566929"/>
          </a:xfrm>
          <a:prstGeom prst="ellipse">
            <a:avLst/>
          </a:prstGeom>
          <a:solidFill>
            <a:schemeClr val="accent1"/>
          </a:solidFill>
          <a:ln w="12700">
            <a:miter lim="400000"/>
          </a:ln>
        </p:spPr>
        <p:txBody>
          <a:bodyPr lIns="45719" rIns="45719"/>
          <a:lstStyle/>
          <a:p>
            <a:pPr/>
          </a:p>
        </p:txBody>
      </p:sp>
      <p:pic>
        <p:nvPicPr>
          <p:cNvPr id="78" name="terrain elevation, so hills are real icon" descr="terrain elevation, so hills are real icon"/>
          <p:cNvPicPr>
            <a:picLocks noChangeAspect="1"/>
          </p:cNvPicPr>
          <p:nvPr/>
        </p:nvPicPr>
        <p:blipFill>
          <a:blip r:embed="rId7">
            <a:extLst/>
          </a:blip>
          <a:stretch>
            <a:fillRect/>
          </a:stretch>
        </p:blipFill>
        <p:spPr>
          <a:xfrm>
            <a:off x="781812" y="4302252"/>
            <a:ext cx="283465" cy="283465"/>
          </a:xfrm>
          <a:prstGeom prst="rect">
            <a:avLst/>
          </a:prstGeom>
          <a:ln w="12700">
            <a:miter lim="400000"/>
          </a:ln>
        </p:spPr>
      </p:pic>
      <p:sp>
        <p:nvSpPr>
          <p:cNvPr id="79" name="Text 11"/>
          <p:cNvSpPr txBox="1"/>
          <p:nvPr/>
        </p:nvSpPr>
        <p:spPr>
          <a:xfrm>
            <a:off x="1353311" y="4087367"/>
            <a:ext cx="1920241" cy="674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pPr>
            <a:r>
              <a:t>Every corner</a:t>
            </a:r>
          </a:p>
          <a:p>
            <a:pPr>
              <a:defRPr sz="1300">
                <a:solidFill>
                  <a:srgbClr val="3B4A57"/>
                </a:solidFill>
              </a:defRPr>
            </a:pPr>
            <a:r>
              <a:t>terrain elevation, so hills are real</a:t>
            </a:r>
          </a:p>
        </p:txBody>
      </p:sp>
      <p:sp>
        <p:nvSpPr>
          <p:cNvPr id="80" name="LiDAR-measured buildings for 3D circle"/>
          <p:cNvSpPr/>
          <p:nvPr/>
        </p:nvSpPr>
        <p:spPr>
          <a:xfrm>
            <a:off x="3383279" y="4160520"/>
            <a:ext cx="566929" cy="566929"/>
          </a:xfrm>
          <a:prstGeom prst="ellipse">
            <a:avLst/>
          </a:prstGeom>
          <a:solidFill>
            <a:schemeClr val="accent1"/>
          </a:solidFill>
          <a:ln w="12700">
            <a:miter lim="400000"/>
          </a:ln>
        </p:spPr>
        <p:txBody>
          <a:bodyPr lIns="45719" rIns="45719"/>
          <a:lstStyle/>
          <a:p>
            <a:pPr/>
          </a:p>
        </p:txBody>
      </p:sp>
      <p:pic>
        <p:nvPicPr>
          <p:cNvPr id="81" name="LiDAR-measured buildings for 3D icon" descr="LiDAR-measured buildings for 3D icon"/>
          <p:cNvPicPr>
            <a:picLocks noChangeAspect="1"/>
          </p:cNvPicPr>
          <p:nvPr/>
        </p:nvPicPr>
        <p:blipFill>
          <a:blip r:embed="rId8">
            <a:extLst/>
          </a:blip>
          <a:stretch>
            <a:fillRect/>
          </a:stretch>
        </p:blipFill>
        <p:spPr>
          <a:xfrm>
            <a:off x="3525011" y="4302252"/>
            <a:ext cx="283465" cy="283465"/>
          </a:xfrm>
          <a:prstGeom prst="rect">
            <a:avLst/>
          </a:prstGeom>
          <a:ln w="12700">
            <a:miter lim="400000"/>
          </a:ln>
        </p:spPr>
      </p:pic>
      <p:sp>
        <p:nvSpPr>
          <p:cNvPr id="82" name="Text 13"/>
          <p:cNvSpPr txBox="1"/>
          <p:nvPr/>
        </p:nvSpPr>
        <p:spPr>
          <a:xfrm>
            <a:off x="4096511" y="4087367"/>
            <a:ext cx="1920241" cy="674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pPr>
            <a:r>
              <a:t>177,023</a:t>
            </a:r>
          </a:p>
          <a:p>
            <a:pPr>
              <a:defRPr sz="1300">
                <a:solidFill>
                  <a:srgbClr val="3B4A57"/>
                </a:solidFill>
              </a:defRPr>
            </a:pPr>
            <a:r>
              <a:t>LiDAR-measured buildings for 3D</a:t>
            </a:r>
          </a:p>
        </p:txBody>
      </p:sp>
      <p:sp>
        <p:nvSpPr>
          <p:cNvPr id="83" name="Three route options frame"/>
          <p:cNvSpPr/>
          <p:nvPr/>
        </p:nvSpPr>
        <p:spPr>
          <a:xfrm>
            <a:off x="6281928" y="1709927"/>
            <a:ext cx="5175505" cy="4169666"/>
          </a:xfrm>
          <a:prstGeom prst="roundRect">
            <a:avLst>
              <a:gd name="adj" fmla="val 2632"/>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84" name="Three route options" descr="Three route options"/>
          <p:cNvPicPr>
            <a:picLocks noChangeAspect="1"/>
          </p:cNvPicPr>
          <p:nvPr/>
        </p:nvPicPr>
        <p:blipFill>
          <a:blip r:embed="rId9">
            <a:extLst/>
          </a:blip>
          <a:stretch>
            <a:fillRect/>
          </a:stretch>
        </p:blipFill>
        <p:spPr>
          <a:xfrm>
            <a:off x="6355079" y="1783079"/>
            <a:ext cx="5029201" cy="4023361"/>
          </a:xfrm>
          <a:prstGeom prst="rect">
            <a:avLst/>
          </a:prstGeom>
          <a:ln w="12700">
            <a:miter lim="400000"/>
          </a:ln>
        </p:spPr>
      </p:pic>
      <p:sp>
        <p:nvSpPr>
          <p:cNvPr id="85" name="Slide Number Placeholder 0"/>
          <p:cNvSpPr txBox="1"/>
          <p:nvPr>
            <p:ph type="sldNum" sz="quarter" idx="4294967295"/>
          </p:nvPr>
        </p:nvSpPr>
        <p:spPr>
          <a:xfrm>
            <a:off x="11627251" y="6355079"/>
            <a:ext cx="168509"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Text 0"/>
          <p:cNvSpPr txBox="1"/>
          <p:nvPr>
            <p:ph type="title"/>
          </p:nvPr>
        </p:nvSpPr>
        <p:spPr>
          <a:xfrm>
            <a:off x="640080" y="731519"/>
            <a:ext cx="10881360" cy="731521"/>
          </a:xfrm>
          <a:prstGeom prst="rect">
            <a:avLst/>
          </a:prstGeom>
        </p:spPr>
        <p:txBody>
          <a:bodyPr lIns="0" tIns="0" rIns="0" bIns="0" anchor="ctr"/>
          <a:lstStyle/>
          <a:p>
            <a:pPr/>
            <a:r>
              <a:t>It says what it avoided — and what it cost</a:t>
            </a:r>
          </a:p>
        </p:txBody>
      </p:sp>
      <p:sp>
        <p:nvSpPr>
          <p:cNvPr id="120" name="Route explanation checklist frame"/>
          <p:cNvSpPr/>
          <p:nvPr/>
        </p:nvSpPr>
        <p:spPr>
          <a:xfrm>
            <a:off x="658368" y="1709927"/>
            <a:ext cx="4352545" cy="4278171"/>
          </a:xfrm>
          <a:prstGeom prst="roundRect">
            <a:avLst>
              <a:gd name="adj" fmla="val 2565"/>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21" name="Route explanation checklist" descr="Route explanation checklist"/>
          <p:cNvPicPr>
            <a:picLocks noChangeAspect="1"/>
          </p:cNvPicPr>
          <p:nvPr/>
        </p:nvPicPr>
        <p:blipFill>
          <a:blip r:embed="rId3">
            <a:extLst/>
          </a:blip>
          <a:stretch>
            <a:fillRect/>
          </a:stretch>
        </p:blipFill>
        <p:spPr>
          <a:xfrm>
            <a:off x="731519" y="1783079"/>
            <a:ext cx="4206242" cy="4131867"/>
          </a:xfrm>
          <a:prstGeom prst="rect">
            <a:avLst/>
          </a:prstGeom>
          <a:ln w="12700">
            <a:miter lim="400000"/>
          </a:ln>
        </p:spPr>
      </p:pic>
      <p:sp>
        <p:nvSpPr>
          <p:cNvPr id="122" name="Text 3"/>
          <p:cNvSpPr txBox="1"/>
          <p:nvPr/>
        </p:nvSpPr>
        <p:spPr>
          <a:xfrm>
            <a:off x="5486399" y="1864449"/>
            <a:ext cx="6035042"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lvl1pPr>
          </a:lstStyle>
          <a:p>
            <a:pPr/>
            <a:r>
              <a:t>Rules a rider can read</a:t>
            </a:r>
          </a:p>
        </p:txBody>
      </p:sp>
      <p:sp>
        <p:nvSpPr>
          <p:cNvPr id="123" name="Text 4"/>
          <p:cNvSpPr txBox="1"/>
          <p:nvPr/>
        </p:nvSpPr>
        <p:spPr>
          <a:xfrm>
            <a:off x="5486399" y="2240279"/>
            <a:ext cx="6035042" cy="1253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500">
                <a:solidFill>
                  <a:srgbClr val="3B4A57"/>
                </a:solidFill>
              </a:defRPr>
            </a:pPr>
            <a:r>
              <a:t>Never enters a Severe area</a:t>
            </a:r>
          </a:p>
          <a:p>
            <a:pPr marL="342900" indent="-342900">
              <a:spcBef>
                <a:spcPts val="600"/>
              </a:spcBef>
              <a:buSzPct val="100000"/>
              <a:buChar char="•"/>
              <a:defRPr sz="1500">
                <a:solidFill>
                  <a:srgbClr val="3B4A57"/>
                </a:solidFill>
              </a:defRPr>
            </a:pPr>
            <a:r>
              <a:t>Avoids High and Elevated areas unless that makes the ride 40%+ longer — then says where and why</a:t>
            </a:r>
          </a:p>
          <a:p>
            <a:pPr marL="342900" indent="-342900">
              <a:spcBef>
                <a:spcPts val="600"/>
              </a:spcBef>
              <a:buSzPct val="100000"/>
              <a:buChar char="•"/>
              <a:defRPr sz="1500">
                <a:solidFill>
                  <a:srgbClr val="3B4A57"/>
                </a:solidFill>
              </a:defRPr>
            </a:pPr>
            <a:r>
              <a:t>Only claims it "avoided" an area if the fastest route actually goes through it</a:t>
            </a:r>
          </a:p>
        </p:txBody>
      </p:sp>
      <p:sp>
        <p:nvSpPr>
          <p:cNvPr id="124" name="Avoid hills card"/>
          <p:cNvSpPr/>
          <p:nvPr/>
        </p:nvSpPr>
        <p:spPr>
          <a:xfrm>
            <a:off x="5486400" y="3977640"/>
            <a:ext cx="6035041" cy="1965961"/>
          </a:xfrm>
          <a:prstGeom prst="roundRect">
            <a:avLst>
              <a:gd name="adj" fmla="val 5581"/>
            </a:avLst>
          </a:prstGeom>
          <a:solidFill>
            <a:srgbClr val="EEF3F1"/>
          </a:solidFill>
          <a:ln w="12700">
            <a:miter lim="400000"/>
          </a:ln>
        </p:spPr>
        <p:txBody>
          <a:bodyPr lIns="45719" rIns="45719"/>
          <a:lstStyle/>
          <a:p>
            <a:pPr/>
          </a:p>
        </p:txBody>
      </p:sp>
      <p:sp>
        <p:nvSpPr>
          <p:cNvPr id="125" name="Avoid hills circle"/>
          <p:cNvSpPr/>
          <p:nvPr/>
        </p:nvSpPr>
        <p:spPr>
          <a:xfrm>
            <a:off x="5714999" y="4206240"/>
            <a:ext cx="548642" cy="548641"/>
          </a:xfrm>
          <a:prstGeom prst="ellipse">
            <a:avLst/>
          </a:prstGeom>
          <a:solidFill>
            <a:schemeClr val="accent2"/>
          </a:solidFill>
          <a:ln w="12700">
            <a:miter lim="400000"/>
          </a:ln>
        </p:spPr>
        <p:txBody>
          <a:bodyPr lIns="45719" rIns="45719"/>
          <a:lstStyle/>
          <a:p>
            <a:pPr/>
          </a:p>
        </p:txBody>
      </p:sp>
      <p:pic>
        <p:nvPicPr>
          <p:cNvPr id="126" name="Avoid hills icon" descr="Avoid hills icon"/>
          <p:cNvPicPr>
            <a:picLocks noChangeAspect="1"/>
          </p:cNvPicPr>
          <p:nvPr/>
        </p:nvPicPr>
        <p:blipFill>
          <a:blip r:embed="rId4">
            <a:extLst/>
          </a:blip>
          <a:stretch>
            <a:fillRect/>
          </a:stretch>
        </p:blipFill>
        <p:spPr>
          <a:xfrm>
            <a:off x="5852159" y="4343400"/>
            <a:ext cx="274321" cy="274321"/>
          </a:xfrm>
          <a:prstGeom prst="rect">
            <a:avLst/>
          </a:prstGeom>
          <a:ln w="12700">
            <a:miter lim="400000"/>
          </a:ln>
        </p:spPr>
      </p:pic>
      <p:sp>
        <p:nvSpPr>
          <p:cNvPr id="127" name="Text 7"/>
          <p:cNvSpPr txBox="1"/>
          <p:nvPr/>
        </p:nvSpPr>
        <p:spPr>
          <a:xfrm>
            <a:off x="6446519" y="4348551"/>
            <a:ext cx="493776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lvl1pPr>
          </a:lstStyle>
          <a:p>
            <a:pPr/>
            <a:r>
              <a:t>Avoid hills — Ocean Beach → Ferry Building</a:t>
            </a:r>
          </a:p>
        </p:txBody>
      </p:sp>
      <p:sp>
        <p:nvSpPr>
          <p:cNvPr id="128" name="Text 8"/>
          <p:cNvSpPr txBox="1"/>
          <p:nvPr/>
        </p:nvSpPr>
        <p:spPr>
          <a:xfrm>
            <a:off x="5714999" y="4892040"/>
            <a:ext cx="1874522" cy="471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chemeClr val="accent2"/>
                </a:solidFill>
              </a:defRPr>
            </a:pPr>
            <a:r>
              <a:t>21.8% → 8.6%</a:t>
            </a:r>
          </a:p>
          <a:p>
            <a:pPr>
              <a:defRPr sz="1300">
                <a:solidFill>
                  <a:srgbClr val="3B4A57"/>
                </a:solidFill>
              </a:defRPr>
            </a:pPr>
            <a:r>
              <a:t>steepest climb</a:t>
            </a:r>
          </a:p>
        </p:txBody>
      </p:sp>
      <p:sp>
        <p:nvSpPr>
          <p:cNvPr id="129" name="Text 9"/>
          <p:cNvSpPr txBox="1"/>
          <p:nvPr/>
        </p:nvSpPr>
        <p:spPr>
          <a:xfrm>
            <a:off x="7635240" y="4892040"/>
            <a:ext cx="1874521" cy="471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chemeClr val="accent2"/>
                </a:solidFill>
              </a:defRPr>
            </a:pPr>
            <a:r>
              <a:t>1,027 → 518 ft</a:t>
            </a:r>
          </a:p>
          <a:p>
            <a:pPr>
              <a:defRPr sz="1300">
                <a:solidFill>
                  <a:srgbClr val="3B4A57"/>
                </a:solidFill>
              </a:defRPr>
            </a:pPr>
            <a:r>
              <a:t>total climbing</a:t>
            </a:r>
          </a:p>
        </p:txBody>
      </p:sp>
      <p:sp>
        <p:nvSpPr>
          <p:cNvPr id="130" name="Text 10"/>
          <p:cNvSpPr txBox="1"/>
          <p:nvPr/>
        </p:nvSpPr>
        <p:spPr>
          <a:xfrm>
            <a:off x="9555480" y="4892040"/>
            <a:ext cx="1874521" cy="471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000">
                <a:solidFill>
                  <a:schemeClr val="accent2"/>
                </a:solidFill>
              </a:defRPr>
            </a:pPr>
            <a:r>
              <a:t>7 min</a:t>
            </a:r>
          </a:p>
          <a:p>
            <a:pPr>
              <a:defRPr sz="1300">
                <a:solidFill>
                  <a:srgbClr val="3B4A57"/>
                </a:solidFill>
              </a:defRPr>
            </a:pPr>
            <a:r>
              <a:t>quicker, too</a:t>
            </a:r>
          </a:p>
        </p:txBody>
      </p:sp>
      <p:sp>
        <p:nvSpPr>
          <p:cNvPr id="131" name="demo cue"/>
          <p:cNvSpPr txBox="1"/>
          <p:nvPr/>
        </p:nvSpPr>
        <p:spPr>
          <a:xfrm>
            <a:off x="5669279" y="6406961"/>
            <a:ext cx="5394962" cy="170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chemeClr val="accent1"/>
                </a:solidFill>
              </a:defRPr>
            </a:lvl1pPr>
          </a:lstStyle>
          <a:p>
            <a:pPr/>
            <a:r>
              <a:t>▶ 20s demo: Route checklist, then Avoid hills</a:t>
            </a:r>
          </a:p>
        </p:txBody>
      </p:sp>
      <p:sp>
        <p:nvSpPr>
          <p:cNvPr id="132" name="Slide Number Placeholder 0"/>
          <p:cNvSpPr txBox="1"/>
          <p:nvPr>
            <p:ph type="sldNum" sz="quarter" idx="4294967295"/>
          </p:nvPr>
        </p:nvSpPr>
        <p:spPr>
          <a:xfrm>
            <a:off x="11627251" y="6355079"/>
            <a:ext cx="168509"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ext 0"/>
          <p:cNvSpPr txBox="1"/>
          <p:nvPr>
            <p:ph type="title"/>
          </p:nvPr>
        </p:nvSpPr>
        <p:spPr>
          <a:xfrm>
            <a:off x="640080" y="731519"/>
            <a:ext cx="10881360" cy="731521"/>
          </a:xfrm>
          <a:prstGeom prst="rect">
            <a:avLst/>
          </a:prstGeom>
        </p:spPr>
        <p:txBody>
          <a:bodyPr lIns="0" tIns="0" rIns="0" bIns="0" anchor="ctr"/>
          <a:lstStyle/>
          <a:p>
            <a:pPr/>
            <a:r>
              <a:t>Make it your route, with every trade-off spelled out</a:t>
            </a:r>
          </a:p>
        </p:txBody>
      </p:sp>
      <p:sp>
        <p:nvSpPr>
          <p:cNvPr id="137" name="Suggested edits list frame"/>
          <p:cNvSpPr/>
          <p:nvPr/>
        </p:nvSpPr>
        <p:spPr>
          <a:xfrm>
            <a:off x="658368" y="1664207"/>
            <a:ext cx="2660905" cy="3997147"/>
          </a:xfrm>
          <a:prstGeom prst="roundRect">
            <a:avLst>
              <a:gd name="adj" fmla="val 4124"/>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38" name="Suggested edits list" descr="Suggested edits list"/>
          <p:cNvPicPr>
            <a:picLocks noChangeAspect="1"/>
          </p:cNvPicPr>
          <p:nvPr/>
        </p:nvPicPr>
        <p:blipFill>
          <a:blip r:embed="rId3">
            <a:extLst/>
          </a:blip>
          <a:stretch>
            <a:fillRect/>
          </a:stretch>
        </p:blipFill>
        <p:spPr>
          <a:xfrm>
            <a:off x="731519" y="1737360"/>
            <a:ext cx="2514601" cy="3850843"/>
          </a:xfrm>
          <a:prstGeom prst="rect">
            <a:avLst/>
          </a:prstGeom>
          <a:ln w="12700">
            <a:miter lim="400000"/>
          </a:ln>
        </p:spPr>
      </p:pic>
      <p:sp>
        <p:nvSpPr>
          <p:cNvPr id="139" name="Suggested edit S1 on the map frame"/>
          <p:cNvSpPr/>
          <p:nvPr/>
        </p:nvSpPr>
        <p:spPr>
          <a:xfrm>
            <a:off x="3538728" y="1664207"/>
            <a:ext cx="4489705" cy="3990023"/>
          </a:xfrm>
          <a:prstGeom prst="roundRect">
            <a:avLst>
              <a:gd name="adj" fmla="val 2750"/>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40" name="Suggested edit S1 on the map" descr="Suggested edit S1 on the map"/>
          <p:cNvPicPr>
            <a:picLocks noChangeAspect="1"/>
          </p:cNvPicPr>
          <p:nvPr/>
        </p:nvPicPr>
        <p:blipFill>
          <a:blip r:embed="rId4">
            <a:extLst/>
          </a:blip>
          <a:stretch>
            <a:fillRect/>
          </a:stretch>
        </p:blipFill>
        <p:spPr>
          <a:xfrm>
            <a:off x="3611879" y="1737360"/>
            <a:ext cx="4343401" cy="3843717"/>
          </a:xfrm>
          <a:prstGeom prst="rect">
            <a:avLst/>
          </a:prstGeom>
          <a:ln w="12700">
            <a:miter lim="400000"/>
          </a:ln>
        </p:spPr>
      </p:pic>
      <p:sp>
        <p:nvSpPr>
          <p:cNvPr id="141" name="Add, drag or remove stops circle"/>
          <p:cNvSpPr/>
          <p:nvPr/>
        </p:nvSpPr>
        <p:spPr>
          <a:xfrm>
            <a:off x="8366759" y="1737360"/>
            <a:ext cx="457201" cy="457201"/>
          </a:xfrm>
          <a:prstGeom prst="ellipse">
            <a:avLst/>
          </a:prstGeom>
          <a:solidFill>
            <a:schemeClr val="accent2"/>
          </a:solidFill>
          <a:ln w="12700">
            <a:miter lim="400000"/>
          </a:ln>
        </p:spPr>
        <p:txBody>
          <a:bodyPr lIns="45719" rIns="45719"/>
          <a:lstStyle/>
          <a:p>
            <a:pPr/>
          </a:p>
        </p:txBody>
      </p:sp>
      <p:pic>
        <p:nvPicPr>
          <p:cNvPr id="142" name="Add, drag or remove stops icon" descr="Add, drag or remove stops icon"/>
          <p:cNvPicPr>
            <a:picLocks noChangeAspect="1"/>
          </p:cNvPicPr>
          <p:nvPr/>
        </p:nvPicPr>
        <p:blipFill>
          <a:blip r:embed="rId5">
            <a:extLst/>
          </a:blip>
          <a:stretch>
            <a:fillRect/>
          </a:stretch>
        </p:blipFill>
        <p:spPr>
          <a:xfrm>
            <a:off x="8481059" y="1851660"/>
            <a:ext cx="228601" cy="228601"/>
          </a:xfrm>
          <a:prstGeom prst="rect">
            <a:avLst/>
          </a:prstGeom>
          <a:ln w="12700">
            <a:miter lim="400000"/>
          </a:ln>
        </p:spPr>
      </p:pic>
      <p:sp>
        <p:nvSpPr>
          <p:cNvPr id="143" name="Text 5"/>
          <p:cNvSpPr txBox="1"/>
          <p:nvPr/>
        </p:nvSpPr>
        <p:spPr>
          <a:xfrm>
            <a:off x="8961119" y="1691639"/>
            <a:ext cx="2743201"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Add, drag or remove stops</a:t>
            </a:r>
          </a:p>
          <a:p>
            <a:pPr>
              <a:defRPr sz="1200">
                <a:solidFill>
                  <a:srgbClr val="3B4A57"/>
                </a:solidFill>
              </a:defRPr>
            </a:pPr>
            <a:r>
              <a:t>It re-plans through them with the same safety rules</a:t>
            </a:r>
          </a:p>
        </p:txBody>
      </p:sp>
      <p:sp>
        <p:nvSpPr>
          <p:cNvPr id="144" name="Suggested edits circle"/>
          <p:cNvSpPr/>
          <p:nvPr/>
        </p:nvSpPr>
        <p:spPr>
          <a:xfrm>
            <a:off x="8366759" y="2761488"/>
            <a:ext cx="457201" cy="457201"/>
          </a:xfrm>
          <a:prstGeom prst="ellipse">
            <a:avLst/>
          </a:prstGeom>
          <a:solidFill>
            <a:schemeClr val="accent2"/>
          </a:solidFill>
          <a:ln w="12700">
            <a:miter lim="400000"/>
          </a:ln>
        </p:spPr>
        <p:txBody>
          <a:bodyPr lIns="45719" rIns="45719"/>
          <a:lstStyle/>
          <a:p>
            <a:pPr/>
          </a:p>
        </p:txBody>
      </p:sp>
      <p:pic>
        <p:nvPicPr>
          <p:cNvPr id="145" name="Suggested edits icon" descr="Suggested edits icon"/>
          <p:cNvPicPr>
            <a:picLocks noChangeAspect="1"/>
          </p:cNvPicPr>
          <p:nvPr/>
        </p:nvPicPr>
        <p:blipFill>
          <a:blip r:embed="rId6">
            <a:extLst/>
          </a:blip>
          <a:stretch>
            <a:fillRect/>
          </a:stretch>
        </p:blipFill>
        <p:spPr>
          <a:xfrm>
            <a:off x="8481059" y="2875788"/>
            <a:ext cx="228601" cy="228601"/>
          </a:xfrm>
          <a:prstGeom prst="rect">
            <a:avLst/>
          </a:prstGeom>
          <a:ln w="12700">
            <a:miter lim="400000"/>
          </a:ln>
        </p:spPr>
      </p:pic>
      <p:sp>
        <p:nvSpPr>
          <p:cNvPr id="146" name="Text 7"/>
          <p:cNvSpPr txBox="1"/>
          <p:nvPr/>
        </p:nvSpPr>
        <p:spPr>
          <a:xfrm>
            <a:off x="8961119" y="2715767"/>
            <a:ext cx="2743201" cy="575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Suggested edits</a:t>
            </a:r>
          </a:p>
          <a:p>
            <a:pPr>
              <a:defRPr sz="1200">
                <a:solidFill>
                  <a:srgbClr val="3B4A57"/>
                </a:solidFill>
              </a:defRPr>
            </a:pPr>
            <a:r>
              <a:t>"Skip 221 ft of climbing via Broadway: costs busier streets, +10 lights"</a:t>
            </a:r>
          </a:p>
        </p:txBody>
      </p:sp>
      <p:sp>
        <p:nvSpPr>
          <p:cNvPr id="147" name="Fewer traffic lights circle"/>
          <p:cNvSpPr/>
          <p:nvPr/>
        </p:nvSpPr>
        <p:spPr>
          <a:xfrm>
            <a:off x="8366759" y="3785615"/>
            <a:ext cx="457201" cy="457201"/>
          </a:xfrm>
          <a:prstGeom prst="ellipse">
            <a:avLst/>
          </a:prstGeom>
          <a:solidFill>
            <a:schemeClr val="accent2"/>
          </a:solidFill>
          <a:ln w="12700">
            <a:miter lim="400000"/>
          </a:ln>
        </p:spPr>
        <p:txBody>
          <a:bodyPr lIns="45719" rIns="45719"/>
          <a:lstStyle/>
          <a:p>
            <a:pPr/>
          </a:p>
        </p:txBody>
      </p:sp>
      <p:pic>
        <p:nvPicPr>
          <p:cNvPr id="148" name="Fewer traffic lights icon" descr="Fewer traffic lights icon"/>
          <p:cNvPicPr>
            <a:picLocks noChangeAspect="1"/>
          </p:cNvPicPr>
          <p:nvPr/>
        </p:nvPicPr>
        <p:blipFill>
          <a:blip r:embed="rId7">
            <a:extLst/>
          </a:blip>
          <a:stretch>
            <a:fillRect/>
          </a:stretch>
        </p:blipFill>
        <p:spPr>
          <a:xfrm>
            <a:off x="8481059" y="3899915"/>
            <a:ext cx="228601" cy="228601"/>
          </a:xfrm>
          <a:prstGeom prst="rect">
            <a:avLst/>
          </a:prstGeom>
          <a:ln w="12700">
            <a:miter lim="400000"/>
          </a:ln>
        </p:spPr>
      </p:pic>
      <p:sp>
        <p:nvSpPr>
          <p:cNvPr id="149" name="Text 9"/>
          <p:cNvSpPr txBox="1"/>
          <p:nvPr/>
        </p:nvSpPr>
        <p:spPr>
          <a:xfrm>
            <a:off x="8961119" y="3739896"/>
            <a:ext cx="274320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Fewer traffic lights</a:t>
            </a:r>
          </a:p>
          <a:p>
            <a:pPr>
              <a:defRPr sz="1200">
                <a:solidFill>
                  <a:srgbClr val="3B4A57"/>
                </a:solidFill>
              </a:defRPr>
            </a:pPr>
            <a:r>
              <a:t>Fewer stops, and it never overrides safety</a:t>
            </a:r>
          </a:p>
        </p:txBody>
      </p:sp>
      <p:sp>
        <p:nvSpPr>
          <p:cNvPr id="150" name="Compare side by side circle"/>
          <p:cNvSpPr/>
          <p:nvPr/>
        </p:nvSpPr>
        <p:spPr>
          <a:xfrm>
            <a:off x="8366759" y="4809744"/>
            <a:ext cx="457201" cy="457201"/>
          </a:xfrm>
          <a:prstGeom prst="ellipse">
            <a:avLst/>
          </a:prstGeom>
          <a:solidFill>
            <a:schemeClr val="accent2"/>
          </a:solidFill>
          <a:ln w="12700">
            <a:miter lim="400000"/>
          </a:ln>
        </p:spPr>
        <p:txBody>
          <a:bodyPr lIns="45719" rIns="45719"/>
          <a:lstStyle/>
          <a:p>
            <a:pPr/>
          </a:p>
        </p:txBody>
      </p:sp>
      <p:pic>
        <p:nvPicPr>
          <p:cNvPr id="151" name="Compare side by side icon" descr="Compare side by side icon"/>
          <p:cNvPicPr>
            <a:picLocks noChangeAspect="1"/>
          </p:cNvPicPr>
          <p:nvPr/>
        </p:nvPicPr>
        <p:blipFill>
          <a:blip r:embed="rId8">
            <a:extLst/>
          </a:blip>
          <a:stretch>
            <a:fillRect/>
          </a:stretch>
        </p:blipFill>
        <p:spPr>
          <a:xfrm>
            <a:off x="8481059" y="4924044"/>
            <a:ext cx="228601" cy="228601"/>
          </a:xfrm>
          <a:prstGeom prst="rect">
            <a:avLst/>
          </a:prstGeom>
          <a:ln w="12700">
            <a:miter lim="400000"/>
          </a:ln>
        </p:spPr>
      </p:pic>
      <p:sp>
        <p:nvSpPr>
          <p:cNvPr id="152" name="Text 11"/>
          <p:cNvSpPr txBox="1"/>
          <p:nvPr/>
        </p:nvSpPr>
        <p:spPr>
          <a:xfrm>
            <a:off x="8961119" y="4764023"/>
            <a:ext cx="2743201" cy="385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Compare side by side</a:t>
            </a:r>
          </a:p>
          <a:p>
            <a:pPr>
              <a:defRPr sz="1200">
                <a:solidFill>
                  <a:srgbClr val="3B4A57"/>
                </a:solidFill>
              </a:defRPr>
            </a:pPr>
            <a:r>
              <a:t>Every stat, one hill scale, best value starred</a:t>
            </a:r>
          </a:p>
        </p:txBody>
      </p:sp>
      <p:sp>
        <p:nvSpPr>
          <p:cNvPr id="153" name="demo cue"/>
          <p:cNvSpPr txBox="1"/>
          <p:nvPr/>
        </p:nvSpPr>
        <p:spPr>
          <a:xfrm>
            <a:off x="5669279" y="6406961"/>
            <a:ext cx="5394962" cy="170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chemeClr val="accent1"/>
                </a:solidFill>
              </a:defRPr>
            </a:lvl1pPr>
          </a:lstStyle>
          <a:p>
            <a:pPr/>
            <a:r>
              <a:t>▶ 20s demo: Edit route + suggested edits</a:t>
            </a:r>
          </a:p>
        </p:txBody>
      </p:sp>
      <p:sp>
        <p:nvSpPr>
          <p:cNvPr id="154" name="Slide Number Placeholder 0"/>
          <p:cNvSpPr txBox="1"/>
          <p:nvPr>
            <p:ph type="sldNum" sz="quarter" idx="4294967295"/>
          </p:nvPr>
        </p:nvSpPr>
        <p:spPr>
          <a:xfrm>
            <a:off x="11627251" y="6355079"/>
            <a:ext cx="168509"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ext 0"/>
          <p:cNvSpPr txBox="1"/>
          <p:nvPr>
            <p:ph type="title"/>
          </p:nvPr>
        </p:nvSpPr>
        <p:spPr>
          <a:xfrm>
            <a:off x="640080" y="731519"/>
            <a:ext cx="10881360" cy="731521"/>
          </a:xfrm>
          <a:prstGeom prst="rect">
            <a:avLst/>
          </a:prstGeom>
        </p:spPr>
        <p:txBody>
          <a:bodyPr lIns="0" tIns="0" rIns="0" bIns="0" anchor="ctr"/>
          <a:lstStyle/>
          <a:p>
            <a:pPr/>
            <a:r>
              <a:t>Just say what kind of ride you want</a:t>
            </a:r>
          </a:p>
        </p:txBody>
      </p:sp>
      <p:sp>
        <p:nvSpPr>
          <p:cNvPr id="159" name="Route assistant conversation frame"/>
          <p:cNvSpPr/>
          <p:nvPr/>
        </p:nvSpPr>
        <p:spPr>
          <a:xfrm>
            <a:off x="658368" y="1709927"/>
            <a:ext cx="4078224" cy="3797114"/>
          </a:xfrm>
          <a:prstGeom prst="roundRect">
            <a:avLst>
              <a:gd name="adj" fmla="val 2890"/>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60" name="Route assistant conversation" descr="Route assistant conversation"/>
          <p:cNvPicPr>
            <a:picLocks noChangeAspect="1"/>
          </p:cNvPicPr>
          <p:nvPr/>
        </p:nvPicPr>
        <p:blipFill>
          <a:blip r:embed="rId3">
            <a:extLst/>
          </a:blip>
          <a:stretch>
            <a:fillRect/>
          </a:stretch>
        </p:blipFill>
        <p:spPr>
          <a:xfrm>
            <a:off x="731519" y="1783079"/>
            <a:ext cx="3931922" cy="3650810"/>
          </a:xfrm>
          <a:prstGeom prst="rect">
            <a:avLst/>
          </a:prstGeom>
          <a:ln w="12700">
            <a:miter lim="400000"/>
          </a:ln>
        </p:spPr>
      </p:pic>
      <p:sp>
        <p:nvSpPr>
          <p:cNvPr id="161" name="Assistant's For you route with stops frame"/>
          <p:cNvSpPr/>
          <p:nvPr/>
        </p:nvSpPr>
        <p:spPr>
          <a:xfrm>
            <a:off x="5001767" y="1709927"/>
            <a:ext cx="3300986" cy="3784922"/>
          </a:xfrm>
          <a:prstGeom prst="roundRect">
            <a:avLst>
              <a:gd name="adj" fmla="val 3324"/>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62" name="Assistant's For you route with stops" descr="Assistant's For you route with stops"/>
          <p:cNvPicPr>
            <a:picLocks noChangeAspect="1"/>
          </p:cNvPicPr>
          <p:nvPr/>
        </p:nvPicPr>
        <p:blipFill>
          <a:blip r:embed="rId4">
            <a:extLst/>
          </a:blip>
          <a:stretch>
            <a:fillRect/>
          </a:stretch>
        </p:blipFill>
        <p:spPr>
          <a:xfrm>
            <a:off x="5074920" y="1783079"/>
            <a:ext cx="3154680" cy="3638617"/>
          </a:xfrm>
          <a:prstGeom prst="rect">
            <a:avLst/>
          </a:prstGeom>
          <a:ln w="12700">
            <a:miter lim="400000"/>
          </a:ln>
        </p:spPr>
      </p:pic>
      <p:sp>
        <p:nvSpPr>
          <p:cNvPr id="163" name="Same controls as you circle"/>
          <p:cNvSpPr/>
          <p:nvPr/>
        </p:nvSpPr>
        <p:spPr>
          <a:xfrm>
            <a:off x="8641080" y="1783079"/>
            <a:ext cx="502921" cy="502921"/>
          </a:xfrm>
          <a:prstGeom prst="ellipse">
            <a:avLst/>
          </a:prstGeom>
          <a:solidFill>
            <a:schemeClr val="accent4"/>
          </a:solidFill>
          <a:ln w="12700">
            <a:miter lim="400000"/>
          </a:ln>
        </p:spPr>
        <p:txBody>
          <a:bodyPr lIns="45719" rIns="45719"/>
          <a:lstStyle/>
          <a:p>
            <a:pPr/>
          </a:p>
        </p:txBody>
      </p:sp>
      <p:pic>
        <p:nvPicPr>
          <p:cNvPr id="164" name="Same controls as you icon" descr="Same controls as you icon"/>
          <p:cNvPicPr>
            <a:picLocks noChangeAspect="1"/>
          </p:cNvPicPr>
          <p:nvPr/>
        </p:nvPicPr>
        <p:blipFill>
          <a:blip r:embed="rId5">
            <a:extLst/>
          </a:blip>
          <a:stretch>
            <a:fillRect/>
          </a:stretch>
        </p:blipFill>
        <p:spPr>
          <a:xfrm>
            <a:off x="8766809" y="1908810"/>
            <a:ext cx="251461" cy="251461"/>
          </a:xfrm>
          <a:prstGeom prst="rect">
            <a:avLst/>
          </a:prstGeom>
          <a:ln w="12700">
            <a:miter lim="400000"/>
          </a:ln>
        </p:spPr>
      </p:pic>
      <p:sp>
        <p:nvSpPr>
          <p:cNvPr id="165" name="Text 5"/>
          <p:cNvSpPr txBox="1"/>
          <p:nvPr/>
        </p:nvSpPr>
        <p:spPr>
          <a:xfrm>
            <a:off x="9281159" y="1737360"/>
            <a:ext cx="2377441" cy="8271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Same controls as you</a:t>
            </a:r>
          </a:p>
          <a:p>
            <a:pPr>
              <a:defRPr sz="1300">
                <a:solidFill>
                  <a:srgbClr val="3B4A57"/>
                </a:solidFill>
              </a:defRPr>
            </a:pPr>
            <a:r>
              <a:t>The AI can't break a safety rule — it can only flip the switches a rider can</a:t>
            </a:r>
          </a:p>
        </p:txBody>
      </p:sp>
      <p:sp>
        <p:nvSpPr>
          <p:cNvPr id="166" name="Visible and undoable circle"/>
          <p:cNvSpPr/>
          <p:nvPr/>
        </p:nvSpPr>
        <p:spPr>
          <a:xfrm>
            <a:off x="8641080" y="3108960"/>
            <a:ext cx="502921" cy="502921"/>
          </a:xfrm>
          <a:prstGeom prst="ellipse">
            <a:avLst/>
          </a:prstGeom>
          <a:solidFill>
            <a:schemeClr val="accent4"/>
          </a:solidFill>
          <a:ln w="12700">
            <a:miter lim="400000"/>
          </a:ln>
        </p:spPr>
        <p:txBody>
          <a:bodyPr lIns="45719" rIns="45719"/>
          <a:lstStyle/>
          <a:p>
            <a:pPr/>
          </a:p>
        </p:txBody>
      </p:sp>
      <p:pic>
        <p:nvPicPr>
          <p:cNvPr id="167" name="Visible and undoable icon" descr="Visible and undoable icon"/>
          <p:cNvPicPr>
            <a:picLocks noChangeAspect="1"/>
          </p:cNvPicPr>
          <p:nvPr/>
        </p:nvPicPr>
        <p:blipFill>
          <a:blip r:embed="rId6">
            <a:extLst/>
          </a:blip>
          <a:stretch>
            <a:fillRect/>
          </a:stretch>
        </p:blipFill>
        <p:spPr>
          <a:xfrm>
            <a:off x="8766809" y="3234689"/>
            <a:ext cx="251461" cy="251461"/>
          </a:xfrm>
          <a:prstGeom prst="rect">
            <a:avLst/>
          </a:prstGeom>
          <a:ln w="12700">
            <a:miter lim="400000"/>
          </a:ln>
        </p:spPr>
      </p:pic>
      <p:sp>
        <p:nvSpPr>
          <p:cNvPr id="168" name="Text 7"/>
          <p:cNvSpPr txBox="1"/>
          <p:nvPr/>
        </p:nvSpPr>
        <p:spPr>
          <a:xfrm>
            <a:off x="9281159" y="3063239"/>
            <a:ext cx="2377441"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Visible and undoable</a:t>
            </a:r>
          </a:p>
          <a:p>
            <a:pPr>
              <a:defRPr sz="1300">
                <a:solidFill>
                  <a:srgbClr val="3B4A57"/>
                </a:solidFill>
              </a:defRPr>
            </a:pPr>
            <a:r>
              <a:t>Every change it makes shows up in the sidebar</a:t>
            </a:r>
          </a:p>
        </p:txBody>
      </p:sp>
      <p:sp>
        <p:nvSpPr>
          <p:cNvPr id="169" name="Real places circle"/>
          <p:cNvSpPr/>
          <p:nvPr/>
        </p:nvSpPr>
        <p:spPr>
          <a:xfrm>
            <a:off x="8641080" y="4434840"/>
            <a:ext cx="502921" cy="502921"/>
          </a:xfrm>
          <a:prstGeom prst="ellipse">
            <a:avLst/>
          </a:prstGeom>
          <a:solidFill>
            <a:schemeClr val="accent4"/>
          </a:solidFill>
          <a:ln w="12700">
            <a:miter lim="400000"/>
          </a:ln>
        </p:spPr>
        <p:txBody>
          <a:bodyPr lIns="45719" rIns="45719"/>
          <a:lstStyle/>
          <a:p>
            <a:pPr/>
          </a:p>
        </p:txBody>
      </p:sp>
      <p:pic>
        <p:nvPicPr>
          <p:cNvPr id="170" name="Real places icon" descr="Real places icon"/>
          <p:cNvPicPr>
            <a:picLocks noChangeAspect="1"/>
          </p:cNvPicPr>
          <p:nvPr/>
        </p:nvPicPr>
        <p:blipFill>
          <a:blip r:embed="rId7">
            <a:extLst/>
          </a:blip>
          <a:stretch>
            <a:fillRect/>
          </a:stretch>
        </p:blipFill>
        <p:spPr>
          <a:xfrm>
            <a:off x="8766809" y="4560570"/>
            <a:ext cx="251461" cy="251461"/>
          </a:xfrm>
          <a:prstGeom prst="rect">
            <a:avLst/>
          </a:prstGeom>
          <a:ln w="12700">
            <a:miter lim="400000"/>
          </a:ln>
        </p:spPr>
      </p:pic>
      <p:sp>
        <p:nvSpPr>
          <p:cNvPr id="171" name="Text 9"/>
          <p:cNvSpPr txBox="1"/>
          <p:nvPr/>
        </p:nvSpPr>
        <p:spPr>
          <a:xfrm>
            <a:off x="9281159" y="4389120"/>
            <a:ext cx="2377441"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Real places</a:t>
            </a:r>
          </a:p>
          <a:p>
            <a:pPr>
              <a:defRPr sz="1300">
                <a:solidFill>
                  <a:srgbClr val="3B4A57"/>
                </a:solidFill>
              </a:defRPr>
            </a:pPr>
            <a:r>
              <a:t>3,712 spots from OpenStreetMap — never one inside a Severe area</a:t>
            </a:r>
          </a:p>
        </p:txBody>
      </p:sp>
      <p:sp>
        <p:nvSpPr>
          <p:cNvPr id="172" name="Text 10"/>
          <p:cNvSpPr txBox="1"/>
          <p:nvPr/>
        </p:nvSpPr>
        <p:spPr>
          <a:xfrm>
            <a:off x="731519" y="5848920"/>
            <a:ext cx="749808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3B4A57"/>
                </a:solidFill>
              </a:defRPr>
            </a:lvl1pPr>
          </a:lstStyle>
          <a:p>
            <a:pPr/>
            <a:r>
              <a:t>One sentence → a "For you" ride: Safest rules, no big hills, a boba stop and a park, 5.4 mi</a:t>
            </a:r>
          </a:p>
        </p:txBody>
      </p:sp>
      <p:sp>
        <p:nvSpPr>
          <p:cNvPr id="173" name="demo cue"/>
          <p:cNvSpPr txBox="1"/>
          <p:nvPr/>
        </p:nvSpPr>
        <p:spPr>
          <a:xfrm>
            <a:off x="5669279" y="6406961"/>
            <a:ext cx="5394962" cy="170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chemeClr val="accent1"/>
                </a:solidFill>
              </a:defRPr>
            </a:lvl1pPr>
          </a:lstStyle>
          <a:p>
            <a:pPr/>
            <a:r>
              <a:t>▶ 20s demo: Ask the route assistant</a:t>
            </a:r>
          </a:p>
        </p:txBody>
      </p:sp>
      <p:sp>
        <p:nvSpPr>
          <p:cNvPr id="174" name="Slide Number Placeholder 0"/>
          <p:cNvSpPr txBox="1"/>
          <p:nvPr>
            <p:ph type="sldNum" sz="quarter" idx="4294967295"/>
          </p:nvPr>
        </p:nvSpPr>
        <p:spPr>
          <a:xfrm>
            <a:off x="11627251" y="6355079"/>
            <a:ext cx="168509"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ext 0"/>
          <p:cNvSpPr txBox="1"/>
          <p:nvPr>
            <p:ph type="title"/>
          </p:nvPr>
        </p:nvSpPr>
        <p:spPr>
          <a:xfrm>
            <a:off x="640080" y="731519"/>
            <a:ext cx="10881360" cy="731521"/>
          </a:xfrm>
          <a:prstGeom prst="rect">
            <a:avLst/>
          </a:prstGeom>
        </p:spPr>
        <p:txBody>
          <a:bodyPr lIns="0" tIns="0" rIns="0" bIns="0" anchor="ctr"/>
          <a:lstStyle/>
          <a:p>
            <a:pPr/>
            <a:r>
              <a:t>Rides around places worth seeing</a:t>
            </a:r>
          </a:p>
        </p:txBody>
      </p:sp>
      <p:sp>
        <p:nvSpPr>
          <p:cNvPr id="179" name="Place card on the map: Mission Dolores Park frame"/>
          <p:cNvSpPr/>
          <p:nvPr/>
        </p:nvSpPr>
        <p:spPr>
          <a:xfrm>
            <a:off x="1024127" y="1618488"/>
            <a:ext cx="4901186" cy="3713356"/>
          </a:xfrm>
          <a:prstGeom prst="roundRect">
            <a:avLst>
              <a:gd name="adj" fmla="val 2955"/>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80" name="Place card on the map: Mission Dolores Park" descr="Place card on the map: Mission Dolores Park"/>
          <p:cNvPicPr>
            <a:picLocks noChangeAspect="1"/>
          </p:cNvPicPr>
          <p:nvPr/>
        </p:nvPicPr>
        <p:blipFill>
          <a:blip r:embed="rId3">
            <a:extLst/>
          </a:blip>
          <a:stretch>
            <a:fillRect/>
          </a:stretch>
        </p:blipFill>
        <p:spPr>
          <a:xfrm>
            <a:off x="1097280" y="1691639"/>
            <a:ext cx="4754880" cy="3567053"/>
          </a:xfrm>
          <a:prstGeom prst="rect">
            <a:avLst/>
          </a:prstGeom>
          <a:ln w="12700">
            <a:miter lim="400000"/>
          </a:ln>
        </p:spPr>
      </p:pic>
      <p:sp>
        <p:nvSpPr>
          <p:cNvPr id="181" name="3D tour with photo pins and a Fort Mason card frame"/>
          <p:cNvSpPr/>
          <p:nvPr/>
        </p:nvSpPr>
        <p:spPr>
          <a:xfrm>
            <a:off x="6236208" y="1618488"/>
            <a:ext cx="4901185" cy="3627183"/>
          </a:xfrm>
          <a:prstGeom prst="roundRect">
            <a:avLst>
              <a:gd name="adj" fmla="val 3025"/>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82" name="3D tour with photo pins and a Fort Mason card" descr="3D tour with photo pins and a Fort Mason card"/>
          <p:cNvPicPr>
            <a:picLocks noChangeAspect="1"/>
          </p:cNvPicPr>
          <p:nvPr/>
        </p:nvPicPr>
        <p:blipFill>
          <a:blip r:embed="rId4">
            <a:extLst/>
          </a:blip>
          <a:stretch>
            <a:fillRect/>
          </a:stretch>
        </p:blipFill>
        <p:spPr>
          <a:xfrm>
            <a:off x="6309359" y="1691639"/>
            <a:ext cx="4754881" cy="3480879"/>
          </a:xfrm>
          <a:prstGeom prst="rect">
            <a:avLst/>
          </a:prstGeom>
          <a:ln w="12700">
            <a:miter lim="400000"/>
          </a:ln>
        </p:spPr>
      </p:pic>
      <p:sp>
        <p:nvSpPr>
          <p:cNvPr id="183" name="A photo and a reason to stop circle"/>
          <p:cNvSpPr/>
          <p:nvPr/>
        </p:nvSpPr>
        <p:spPr>
          <a:xfrm>
            <a:off x="822960" y="5532120"/>
            <a:ext cx="457201" cy="457201"/>
          </a:xfrm>
          <a:prstGeom prst="ellipse">
            <a:avLst/>
          </a:prstGeom>
          <a:solidFill>
            <a:schemeClr val="accent4"/>
          </a:solidFill>
          <a:ln w="12700">
            <a:miter lim="400000"/>
          </a:ln>
        </p:spPr>
        <p:txBody>
          <a:bodyPr lIns="45719" rIns="45719"/>
          <a:lstStyle/>
          <a:p>
            <a:pPr/>
          </a:p>
        </p:txBody>
      </p:sp>
      <p:pic>
        <p:nvPicPr>
          <p:cNvPr id="184" name="A photo and a reason to stop icon" descr="A photo and a reason to stop icon"/>
          <p:cNvPicPr>
            <a:picLocks noChangeAspect="1"/>
          </p:cNvPicPr>
          <p:nvPr/>
        </p:nvPicPr>
        <p:blipFill>
          <a:blip r:embed="rId5">
            <a:extLst/>
          </a:blip>
          <a:stretch>
            <a:fillRect/>
          </a:stretch>
        </p:blipFill>
        <p:spPr>
          <a:xfrm>
            <a:off x="937260" y="5646420"/>
            <a:ext cx="228601" cy="228601"/>
          </a:xfrm>
          <a:prstGeom prst="rect">
            <a:avLst/>
          </a:prstGeom>
          <a:ln w="12700">
            <a:miter lim="400000"/>
          </a:ln>
        </p:spPr>
      </p:pic>
      <p:sp>
        <p:nvSpPr>
          <p:cNvPr id="185" name="Text 5"/>
          <p:cNvSpPr txBox="1"/>
          <p:nvPr/>
        </p:nvSpPr>
        <p:spPr>
          <a:xfrm>
            <a:off x="1417319" y="5486400"/>
            <a:ext cx="2926082"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pPr>
            <a:r>
              <a:t>A photo and a reason to stop</a:t>
            </a:r>
          </a:p>
          <a:p>
            <a:pPr>
              <a:defRPr sz="1200">
                <a:solidFill>
                  <a:srgbClr val="3B4A57"/>
                </a:solidFill>
              </a:defRPr>
            </a:pPr>
            <a:r>
              <a:t>Picture, what it is, and why go</a:t>
            </a:r>
          </a:p>
        </p:txBody>
      </p:sp>
      <p:sp>
        <p:nvSpPr>
          <p:cNvPr id="186" name="Pick what you like circle"/>
          <p:cNvSpPr/>
          <p:nvPr/>
        </p:nvSpPr>
        <p:spPr>
          <a:xfrm>
            <a:off x="4480559" y="5532120"/>
            <a:ext cx="457201" cy="457201"/>
          </a:xfrm>
          <a:prstGeom prst="ellipse">
            <a:avLst/>
          </a:prstGeom>
          <a:solidFill>
            <a:schemeClr val="accent4"/>
          </a:solidFill>
          <a:ln w="12700">
            <a:miter lim="400000"/>
          </a:ln>
        </p:spPr>
        <p:txBody>
          <a:bodyPr lIns="45719" rIns="45719"/>
          <a:lstStyle/>
          <a:p>
            <a:pPr/>
          </a:p>
        </p:txBody>
      </p:sp>
      <p:pic>
        <p:nvPicPr>
          <p:cNvPr id="187" name="Pick what you like icon" descr="Pick what you like icon"/>
          <p:cNvPicPr>
            <a:picLocks noChangeAspect="1"/>
          </p:cNvPicPr>
          <p:nvPr/>
        </p:nvPicPr>
        <p:blipFill>
          <a:blip r:embed="rId6">
            <a:extLst/>
          </a:blip>
          <a:stretch>
            <a:fillRect/>
          </a:stretch>
        </p:blipFill>
        <p:spPr>
          <a:xfrm>
            <a:off x="4594859" y="5646420"/>
            <a:ext cx="228601" cy="228601"/>
          </a:xfrm>
          <a:prstGeom prst="rect">
            <a:avLst/>
          </a:prstGeom>
          <a:ln w="12700">
            <a:miter lim="400000"/>
          </a:ln>
        </p:spPr>
      </p:pic>
      <p:sp>
        <p:nvSpPr>
          <p:cNvPr id="188" name="Text 7"/>
          <p:cNvSpPr txBox="1"/>
          <p:nvPr/>
        </p:nvSpPr>
        <p:spPr>
          <a:xfrm>
            <a:off x="5074920" y="5486400"/>
            <a:ext cx="2926081" cy="5759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pPr>
            <a:r>
              <a:t>Pick what you like</a:t>
            </a:r>
          </a:p>
          <a:p>
            <a:pPr>
              <a:defRPr sz="1200">
                <a:solidFill>
                  <a:srgbClr val="3B4A57"/>
                </a:solidFill>
              </a:defRPr>
            </a:pPr>
            <a:r>
              <a:t>Beaches, boba, coffee, parks, views: a For you ride</a:t>
            </a:r>
          </a:p>
        </p:txBody>
      </p:sp>
      <p:sp>
        <p:nvSpPr>
          <p:cNvPr id="189" name="Pinned in the 3D tour circle"/>
          <p:cNvSpPr/>
          <p:nvPr/>
        </p:nvSpPr>
        <p:spPr>
          <a:xfrm>
            <a:off x="8138159" y="5532120"/>
            <a:ext cx="457201" cy="457201"/>
          </a:xfrm>
          <a:prstGeom prst="ellipse">
            <a:avLst/>
          </a:prstGeom>
          <a:solidFill>
            <a:schemeClr val="accent4"/>
          </a:solidFill>
          <a:ln w="12700">
            <a:miter lim="400000"/>
          </a:ln>
        </p:spPr>
        <p:txBody>
          <a:bodyPr lIns="45719" rIns="45719"/>
          <a:lstStyle/>
          <a:p>
            <a:pPr/>
          </a:p>
        </p:txBody>
      </p:sp>
      <p:pic>
        <p:nvPicPr>
          <p:cNvPr id="190" name="Pinned in the 3D tour icon" descr="Pinned in the 3D tour icon"/>
          <p:cNvPicPr>
            <a:picLocks noChangeAspect="1"/>
          </p:cNvPicPr>
          <p:nvPr/>
        </p:nvPicPr>
        <p:blipFill>
          <a:blip r:embed="rId7">
            <a:extLst/>
          </a:blip>
          <a:stretch>
            <a:fillRect/>
          </a:stretch>
        </p:blipFill>
        <p:spPr>
          <a:xfrm>
            <a:off x="8252459" y="5646420"/>
            <a:ext cx="228601" cy="228601"/>
          </a:xfrm>
          <a:prstGeom prst="rect">
            <a:avLst/>
          </a:prstGeom>
          <a:ln w="12700">
            <a:miter lim="400000"/>
          </a:ln>
        </p:spPr>
      </p:pic>
      <p:sp>
        <p:nvSpPr>
          <p:cNvPr id="191" name="Text 9"/>
          <p:cNvSpPr txBox="1"/>
          <p:nvPr/>
        </p:nvSpPr>
        <p:spPr>
          <a:xfrm>
            <a:off x="8732519" y="5486400"/>
            <a:ext cx="2926081" cy="3854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pPr>
            <a:r>
              <a:t>Pinned in the 3D tour</a:t>
            </a:r>
          </a:p>
          <a:p>
            <a:pPr>
              <a:defRPr sz="1200">
                <a:solidFill>
                  <a:srgbClr val="3B4A57"/>
                </a:solidFill>
              </a:defRPr>
            </a:pPr>
            <a:r>
              <a:t>A card pops up as the tour reaches each one</a:t>
            </a:r>
          </a:p>
        </p:txBody>
      </p:sp>
      <p:sp>
        <p:nvSpPr>
          <p:cNvPr id="192" name="demo cue"/>
          <p:cNvSpPr txBox="1"/>
          <p:nvPr/>
        </p:nvSpPr>
        <p:spPr>
          <a:xfrm>
            <a:off x="5669279" y="6406961"/>
            <a:ext cx="5394962" cy="170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chemeClr val="accent1"/>
                </a:solidFill>
              </a:defRPr>
            </a:lvl1pPr>
          </a:lstStyle>
          <a:p>
            <a:pPr/>
            <a:r>
              <a:t>▶ 20s demo: Interests + place photos</a:t>
            </a:r>
          </a:p>
        </p:txBody>
      </p:sp>
      <p:sp>
        <p:nvSpPr>
          <p:cNvPr id="193" name="Slide Number Placeholder 0"/>
          <p:cNvSpPr txBox="1"/>
          <p:nvPr>
            <p:ph type="sldNum" sz="quarter" idx="4294967295"/>
          </p:nvPr>
        </p:nvSpPr>
        <p:spPr>
          <a:xfrm>
            <a:off x="11627251" y="6355079"/>
            <a:ext cx="168509"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Text 0"/>
          <p:cNvSpPr txBox="1"/>
          <p:nvPr>
            <p:ph type="title"/>
          </p:nvPr>
        </p:nvSpPr>
        <p:spPr>
          <a:xfrm>
            <a:off x="640080" y="731519"/>
            <a:ext cx="10881360" cy="731521"/>
          </a:xfrm>
          <a:prstGeom prst="rect">
            <a:avLst/>
          </a:prstGeom>
        </p:spPr>
        <p:txBody>
          <a:bodyPr lIns="0" tIns="0" rIns="0" bIns="0" anchor="ctr"/>
          <a:lstStyle/>
          <a:p>
            <a:pPr/>
            <a:r>
              <a:t>Preview the ride before you ride it</a:t>
            </a:r>
          </a:p>
        </p:txBody>
      </p:sp>
      <p:sp>
        <p:nvSpPr>
          <p:cNvPr id="198" name="3D tour protected lane callout frame"/>
          <p:cNvSpPr/>
          <p:nvPr/>
        </p:nvSpPr>
        <p:spPr>
          <a:xfrm>
            <a:off x="658368" y="1527047"/>
            <a:ext cx="5404104" cy="3995353"/>
          </a:xfrm>
          <a:prstGeom prst="roundRect">
            <a:avLst>
              <a:gd name="adj" fmla="val 2746"/>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199" name="3D tour protected lane callout" descr="3D tour protected lane callout"/>
          <p:cNvPicPr>
            <a:picLocks noChangeAspect="1"/>
          </p:cNvPicPr>
          <p:nvPr/>
        </p:nvPicPr>
        <p:blipFill>
          <a:blip r:embed="rId3">
            <a:extLst/>
          </a:blip>
          <a:stretch>
            <a:fillRect/>
          </a:stretch>
        </p:blipFill>
        <p:spPr>
          <a:xfrm>
            <a:off x="731519" y="1600200"/>
            <a:ext cx="5257801" cy="3849049"/>
          </a:xfrm>
          <a:prstGeom prst="rect">
            <a:avLst/>
          </a:prstGeom>
          <a:ln w="12700">
            <a:miter lim="400000"/>
          </a:ln>
        </p:spPr>
      </p:pic>
      <p:sp>
        <p:nvSpPr>
          <p:cNvPr id="200" name="3D tour steep climb frame"/>
          <p:cNvSpPr/>
          <p:nvPr/>
        </p:nvSpPr>
        <p:spPr>
          <a:xfrm>
            <a:off x="6190488" y="1527047"/>
            <a:ext cx="5404104" cy="3995353"/>
          </a:xfrm>
          <a:prstGeom prst="roundRect">
            <a:avLst>
              <a:gd name="adj" fmla="val 2746"/>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201" name="3D tour steep climb" descr="3D tour steep climb"/>
          <p:cNvPicPr>
            <a:picLocks noChangeAspect="1"/>
          </p:cNvPicPr>
          <p:nvPr/>
        </p:nvPicPr>
        <p:blipFill>
          <a:blip r:embed="rId4">
            <a:extLst/>
          </a:blip>
          <a:stretch>
            <a:fillRect/>
          </a:stretch>
        </p:blipFill>
        <p:spPr>
          <a:xfrm>
            <a:off x="6263640" y="1600200"/>
            <a:ext cx="5257801" cy="3849049"/>
          </a:xfrm>
          <a:prstGeom prst="rect">
            <a:avLst/>
          </a:prstGeom>
          <a:ln w="12700">
            <a:miter lim="400000"/>
          </a:ln>
        </p:spPr>
      </p:pic>
      <p:sp>
        <p:nvSpPr>
          <p:cNvPr id="202" name="Text 4"/>
          <p:cNvSpPr txBox="1"/>
          <p:nvPr/>
        </p:nvSpPr>
        <p:spPr>
          <a:xfrm>
            <a:off x="731519" y="5721729"/>
            <a:ext cx="52578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Calls out protected lanes the moment you reach them</a:t>
            </a:r>
          </a:p>
        </p:txBody>
      </p:sp>
      <p:sp>
        <p:nvSpPr>
          <p:cNvPr id="203" name="Text 5"/>
          <p:cNvSpPr txBox="1"/>
          <p:nvPr/>
        </p:nvSpPr>
        <p:spPr>
          <a:xfrm>
            <a:off x="6263640" y="5721729"/>
            <a:ext cx="52578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FFFFFF"/>
                </a:solidFill>
              </a:defRPr>
            </a:lvl1pPr>
          </a:lstStyle>
          <a:p>
            <a:pPr/>
            <a:r>
              <a:t>Shows the slope ahead — this block is a 17.7% climb</a:t>
            </a:r>
          </a:p>
        </p:txBody>
      </p:sp>
      <p:sp>
        <p:nvSpPr>
          <p:cNvPr id="204" name="Text 6"/>
          <p:cNvSpPr txBox="1"/>
          <p:nvPr/>
        </p:nvSpPr>
        <p:spPr>
          <a:xfrm>
            <a:off x="731519" y="6065959"/>
            <a:ext cx="1078992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C9D6D0"/>
                </a:solidFill>
              </a:defRPr>
            </a:lvl1pPr>
          </a:lstStyle>
          <a:p>
            <a:pPr/>
            <a:r>
              <a:t>Real aerial photos · real terrain · San Francisco's own LiDAR building heights</a:t>
            </a:r>
          </a:p>
        </p:txBody>
      </p:sp>
      <p:sp>
        <p:nvSpPr>
          <p:cNvPr id="205" name="demo cue"/>
          <p:cNvSpPr txBox="1"/>
          <p:nvPr/>
        </p:nvSpPr>
        <p:spPr>
          <a:xfrm>
            <a:off x="5669279" y="6406961"/>
            <a:ext cx="5394962" cy="170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rgbClr val="8FE3C0"/>
                </a:solidFill>
              </a:defRPr>
            </a:lvl1pPr>
          </a:lstStyle>
          <a:p>
            <a:pPr/>
            <a:r>
              <a:t>▶ 20s demo: 3D tour with Places on</a:t>
            </a:r>
          </a:p>
        </p:txBody>
      </p:sp>
      <p:sp>
        <p:nvSpPr>
          <p:cNvPr id="206" name="Slide Number Placeholder 0"/>
          <p:cNvSpPr txBox="1"/>
          <p:nvPr>
            <p:ph type="sldNum" sz="quarter" idx="4294967295"/>
          </p:nvPr>
        </p:nvSpPr>
        <p:spPr>
          <a:xfrm>
            <a:off x="11627251" y="6355079"/>
            <a:ext cx="168509"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Text 0"/>
          <p:cNvSpPr txBox="1"/>
          <p:nvPr>
            <p:ph type="title"/>
          </p:nvPr>
        </p:nvSpPr>
        <p:spPr>
          <a:xfrm>
            <a:off x="640080" y="731519"/>
            <a:ext cx="10881360" cy="731521"/>
          </a:xfrm>
          <a:prstGeom prst="rect">
            <a:avLst/>
          </a:prstGeom>
        </p:spPr>
        <p:txBody>
          <a:bodyPr lIns="0" tIns="0" rIns="0" bIns="0" anchor="ctr"/>
          <a:lstStyle/>
          <a:p>
            <a:pPr/>
            <a:r>
              <a:t>From plan to the street</a:t>
            </a:r>
          </a:p>
        </p:txBody>
      </p:sp>
      <p:sp>
        <p:nvSpPr>
          <p:cNvPr id="211" name="Turn-by-turn navigation frame"/>
          <p:cNvSpPr/>
          <p:nvPr/>
        </p:nvSpPr>
        <p:spPr>
          <a:xfrm>
            <a:off x="658368" y="1709927"/>
            <a:ext cx="5998465" cy="4430464"/>
          </a:xfrm>
          <a:prstGeom prst="roundRect">
            <a:avLst>
              <a:gd name="adj" fmla="val 2477"/>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212" name="Turn-by-turn navigation" descr="Turn-by-turn navigation"/>
          <p:cNvPicPr>
            <a:picLocks noChangeAspect="1"/>
          </p:cNvPicPr>
          <p:nvPr/>
        </p:nvPicPr>
        <p:blipFill>
          <a:blip r:embed="rId3">
            <a:extLst/>
          </a:blip>
          <a:stretch>
            <a:fillRect/>
          </a:stretch>
        </p:blipFill>
        <p:spPr>
          <a:xfrm>
            <a:off x="731519" y="1783079"/>
            <a:ext cx="5852161" cy="4284159"/>
          </a:xfrm>
          <a:prstGeom prst="rect">
            <a:avLst/>
          </a:prstGeom>
          <a:ln w="12700">
            <a:miter lim="400000"/>
          </a:ln>
        </p:spPr>
      </p:pic>
      <p:sp>
        <p:nvSpPr>
          <p:cNvPr id="213" name="Turn-by-turn with live GPS circle"/>
          <p:cNvSpPr/>
          <p:nvPr/>
        </p:nvSpPr>
        <p:spPr>
          <a:xfrm>
            <a:off x="7132319" y="1783079"/>
            <a:ext cx="502921" cy="502921"/>
          </a:xfrm>
          <a:prstGeom prst="ellipse">
            <a:avLst/>
          </a:prstGeom>
          <a:solidFill>
            <a:schemeClr val="accent2"/>
          </a:solidFill>
          <a:ln w="12700">
            <a:miter lim="400000"/>
          </a:ln>
        </p:spPr>
        <p:txBody>
          <a:bodyPr lIns="45719" rIns="45719"/>
          <a:lstStyle/>
          <a:p>
            <a:pPr/>
          </a:p>
        </p:txBody>
      </p:sp>
      <p:pic>
        <p:nvPicPr>
          <p:cNvPr id="214" name="Turn-by-turn with live GPS icon" descr="Turn-by-turn with live GPS icon"/>
          <p:cNvPicPr>
            <a:picLocks noChangeAspect="1"/>
          </p:cNvPicPr>
          <p:nvPr/>
        </p:nvPicPr>
        <p:blipFill>
          <a:blip r:embed="rId4">
            <a:extLst/>
          </a:blip>
          <a:stretch>
            <a:fillRect/>
          </a:stretch>
        </p:blipFill>
        <p:spPr>
          <a:xfrm>
            <a:off x="7258050" y="1908810"/>
            <a:ext cx="251460" cy="251461"/>
          </a:xfrm>
          <a:prstGeom prst="rect">
            <a:avLst/>
          </a:prstGeom>
          <a:ln w="12700">
            <a:miter lim="400000"/>
          </a:ln>
        </p:spPr>
      </p:pic>
      <p:sp>
        <p:nvSpPr>
          <p:cNvPr id="215" name="Text 4"/>
          <p:cNvSpPr txBox="1"/>
          <p:nvPr/>
        </p:nvSpPr>
        <p:spPr>
          <a:xfrm>
            <a:off x="7772400" y="1737360"/>
            <a:ext cx="3840480" cy="420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Turn-by-turn with live GPS</a:t>
            </a:r>
          </a:p>
          <a:p>
            <a:pPr>
              <a:defRPr sz="1300">
                <a:solidFill>
                  <a:srgbClr val="3B4A57"/>
                </a:solidFill>
              </a:defRPr>
            </a:pPr>
            <a:r>
              <a:t>Works in a phone browser today</a:t>
            </a:r>
          </a:p>
        </p:txBody>
      </p:sp>
      <p:sp>
        <p:nvSpPr>
          <p:cNvPr id="216" name="Reroutes keep your choice circle"/>
          <p:cNvSpPr/>
          <p:nvPr/>
        </p:nvSpPr>
        <p:spPr>
          <a:xfrm>
            <a:off x="7132319" y="2807207"/>
            <a:ext cx="502921" cy="502921"/>
          </a:xfrm>
          <a:prstGeom prst="ellipse">
            <a:avLst/>
          </a:prstGeom>
          <a:solidFill>
            <a:schemeClr val="accent2"/>
          </a:solidFill>
          <a:ln w="12700">
            <a:miter lim="400000"/>
          </a:ln>
        </p:spPr>
        <p:txBody>
          <a:bodyPr lIns="45719" rIns="45719"/>
          <a:lstStyle/>
          <a:p>
            <a:pPr/>
          </a:p>
        </p:txBody>
      </p:sp>
      <p:pic>
        <p:nvPicPr>
          <p:cNvPr id="217" name="Reroutes keep your choice icon" descr="Reroutes keep your choice icon"/>
          <p:cNvPicPr>
            <a:picLocks noChangeAspect="1"/>
          </p:cNvPicPr>
          <p:nvPr/>
        </p:nvPicPr>
        <p:blipFill>
          <a:blip r:embed="rId5">
            <a:extLst/>
          </a:blip>
          <a:stretch>
            <a:fillRect/>
          </a:stretch>
        </p:blipFill>
        <p:spPr>
          <a:xfrm>
            <a:off x="7258050" y="2932938"/>
            <a:ext cx="251460" cy="251461"/>
          </a:xfrm>
          <a:prstGeom prst="rect">
            <a:avLst/>
          </a:prstGeom>
          <a:ln w="12700">
            <a:miter lim="400000"/>
          </a:ln>
        </p:spPr>
      </p:pic>
      <p:sp>
        <p:nvSpPr>
          <p:cNvPr id="218" name="Text 6"/>
          <p:cNvSpPr txBox="1"/>
          <p:nvPr/>
        </p:nvSpPr>
        <p:spPr>
          <a:xfrm>
            <a:off x="7772400" y="2761488"/>
            <a:ext cx="3840480" cy="420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Reroutes keep your choice</a:t>
            </a:r>
          </a:p>
          <a:p>
            <a:pPr>
              <a:defRPr sz="1300">
                <a:solidFill>
                  <a:srgbClr val="3B4A57"/>
                </a:solidFill>
              </a:defRPr>
            </a:pPr>
            <a:r>
              <a:t>Go off route and it still plans the safe way back</a:t>
            </a:r>
          </a:p>
        </p:txBody>
      </p:sp>
      <p:sp>
        <p:nvSpPr>
          <p:cNvPr id="219" name="Compare side by side circle"/>
          <p:cNvSpPr/>
          <p:nvPr/>
        </p:nvSpPr>
        <p:spPr>
          <a:xfrm>
            <a:off x="7132319" y="3831335"/>
            <a:ext cx="502921" cy="502921"/>
          </a:xfrm>
          <a:prstGeom prst="ellipse">
            <a:avLst/>
          </a:prstGeom>
          <a:solidFill>
            <a:schemeClr val="accent2"/>
          </a:solidFill>
          <a:ln w="12700">
            <a:miter lim="400000"/>
          </a:ln>
        </p:spPr>
        <p:txBody>
          <a:bodyPr lIns="45719" rIns="45719"/>
          <a:lstStyle/>
          <a:p>
            <a:pPr/>
          </a:p>
        </p:txBody>
      </p:sp>
      <p:pic>
        <p:nvPicPr>
          <p:cNvPr id="220" name="Compare side by side icon" descr="Compare side by side icon"/>
          <p:cNvPicPr>
            <a:picLocks noChangeAspect="1"/>
          </p:cNvPicPr>
          <p:nvPr/>
        </p:nvPicPr>
        <p:blipFill>
          <a:blip r:embed="rId6">
            <a:extLst/>
          </a:blip>
          <a:stretch>
            <a:fillRect/>
          </a:stretch>
        </p:blipFill>
        <p:spPr>
          <a:xfrm>
            <a:off x="7258050" y="3957065"/>
            <a:ext cx="251460" cy="251461"/>
          </a:xfrm>
          <a:prstGeom prst="rect">
            <a:avLst/>
          </a:prstGeom>
          <a:ln w="12700">
            <a:miter lim="400000"/>
          </a:ln>
        </p:spPr>
      </p:pic>
      <p:sp>
        <p:nvSpPr>
          <p:cNvPr id="221" name="Text 8"/>
          <p:cNvSpPr txBox="1"/>
          <p:nvPr/>
        </p:nvSpPr>
        <p:spPr>
          <a:xfrm>
            <a:off x="7772400" y="3785615"/>
            <a:ext cx="3840480"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Compare side by side</a:t>
            </a:r>
          </a:p>
          <a:p>
            <a:pPr>
              <a:defRPr sz="1300">
                <a:solidFill>
                  <a:srgbClr val="3B4A57"/>
                </a:solidFill>
              </a:defRPr>
            </a:pPr>
            <a:r>
              <a:t>Every stat, one shared hill scale, best value starred</a:t>
            </a:r>
          </a:p>
        </p:txBody>
      </p:sp>
      <p:sp>
        <p:nvSpPr>
          <p:cNvPr id="222" name="Save rides, add photos circle"/>
          <p:cNvSpPr/>
          <p:nvPr/>
        </p:nvSpPr>
        <p:spPr>
          <a:xfrm>
            <a:off x="7132319" y="4855464"/>
            <a:ext cx="502921" cy="502921"/>
          </a:xfrm>
          <a:prstGeom prst="ellipse">
            <a:avLst/>
          </a:prstGeom>
          <a:solidFill>
            <a:schemeClr val="accent2"/>
          </a:solidFill>
          <a:ln w="12700">
            <a:miter lim="400000"/>
          </a:ln>
        </p:spPr>
        <p:txBody>
          <a:bodyPr lIns="45719" rIns="45719"/>
          <a:lstStyle/>
          <a:p>
            <a:pPr/>
          </a:p>
        </p:txBody>
      </p:sp>
      <p:pic>
        <p:nvPicPr>
          <p:cNvPr id="223" name="Save rides, add photos icon" descr="Save rides, add photos icon"/>
          <p:cNvPicPr>
            <a:picLocks noChangeAspect="1"/>
          </p:cNvPicPr>
          <p:nvPr/>
        </p:nvPicPr>
        <p:blipFill>
          <a:blip r:embed="rId7">
            <a:extLst/>
          </a:blip>
          <a:stretch>
            <a:fillRect/>
          </a:stretch>
        </p:blipFill>
        <p:spPr>
          <a:xfrm>
            <a:off x="7258050" y="4981194"/>
            <a:ext cx="251460" cy="251461"/>
          </a:xfrm>
          <a:prstGeom prst="rect">
            <a:avLst/>
          </a:prstGeom>
          <a:ln w="12700">
            <a:miter lim="400000"/>
          </a:ln>
        </p:spPr>
      </p:pic>
      <p:sp>
        <p:nvSpPr>
          <p:cNvPr id="224" name="Text 10"/>
          <p:cNvSpPr txBox="1"/>
          <p:nvPr/>
        </p:nvSpPr>
        <p:spPr>
          <a:xfrm>
            <a:off x="7772400" y="4809744"/>
            <a:ext cx="3840480" cy="4207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pPr>
            <a:r>
              <a:t>Save rides, add photos</a:t>
            </a:r>
          </a:p>
          <a:p>
            <a:pPr>
              <a:defRPr sz="1300">
                <a:solidFill>
                  <a:srgbClr val="3B4A57"/>
                </a:solidFill>
              </a:defRPr>
            </a:pPr>
            <a:r>
              <a:t>Routes, stops and ride photos kept together</a:t>
            </a:r>
          </a:p>
        </p:txBody>
      </p:sp>
      <p:sp>
        <p:nvSpPr>
          <p:cNvPr id="225" name="demo cue"/>
          <p:cNvSpPr txBox="1"/>
          <p:nvPr/>
        </p:nvSpPr>
        <p:spPr>
          <a:xfrm>
            <a:off x="5669279" y="6406961"/>
            <a:ext cx="5394962" cy="170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chemeClr val="accent1"/>
                </a:solidFill>
              </a:defRPr>
            </a:lvl1pPr>
          </a:lstStyle>
          <a:p>
            <a:pPr/>
            <a:r>
              <a:t>▶ 20s demo: Confirm, simulate, reroute, save</a:t>
            </a:r>
          </a:p>
        </p:txBody>
      </p:sp>
      <p:sp>
        <p:nvSpPr>
          <p:cNvPr id="226" name="Slide Number Placeholder 0"/>
          <p:cNvSpPr txBox="1"/>
          <p:nvPr>
            <p:ph type="sldNum" sz="quarter" idx="4294967295"/>
          </p:nvPr>
        </p:nvSpPr>
        <p:spPr>
          <a:xfrm>
            <a:off x="11562883" y="6355079"/>
            <a:ext cx="232877"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Text 0"/>
          <p:cNvSpPr txBox="1"/>
          <p:nvPr>
            <p:ph type="title"/>
          </p:nvPr>
        </p:nvSpPr>
        <p:spPr>
          <a:xfrm>
            <a:off x="640080" y="731519"/>
            <a:ext cx="10881360" cy="731521"/>
          </a:xfrm>
          <a:prstGeom prst="rect">
            <a:avLst/>
          </a:prstGeom>
        </p:spPr>
        <p:txBody>
          <a:bodyPr lIns="0" tIns="0" rIns="0" bIns="0" anchor="ctr"/>
          <a:lstStyle/>
          <a:p>
            <a:pPr/>
            <a:r>
              <a:t>Built like a product — and ready for the next city</a:t>
            </a:r>
          </a:p>
        </p:txBody>
      </p:sp>
      <p:sp>
        <p:nvSpPr>
          <p:cNvPr id="231" name="automated tests, all passing"/>
          <p:cNvSpPr/>
          <p:nvPr/>
        </p:nvSpPr>
        <p:spPr>
          <a:xfrm>
            <a:off x="640080" y="1783079"/>
            <a:ext cx="4937760" cy="1143001"/>
          </a:xfrm>
          <a:prstGeom prst="roundRect">
            <a:avLst>
              <a:gd name="adj" fmla="val 9600"/>
            </a:avLst>
          </a:prstGeom>
          <a:solidFill>
            <a:srgbClr val="EEF3F1"/>
          </a:solidFill>
          <a:ln w="12700">
            <a:miter lim="400000"/>
          </a:ln>
        </p:spPr>
        <p:txBody>
          <a:bodyPr lIns="45719" rIns="45719"/>
          <a:lstStyle/>
          <a:p>
            <a:pPr/>
          </a:p>
        </p:txBody>
      </p:sp>
      <p:sp>
        <p:nvSpPr>
          <p:cNvPr id="232" name="Text 2"/>
          <p:cNvSpPr txBox="1"/>
          <p:nvPr/>
        </p:nvSpPr>
        <p:spPr>
          <a:xfrm>
            <a:off x="914400" y="2151776"/>
            <a:ext cx="4572000" cy="405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solidFill>
                  <a:schemeClr val="accent1"/>
                </a:solidFill>
              </a:defRPr>
            </a:pPr>
            <a:r>
              <a:t>411  </a:t>
            </a:r>
            <a:r>
              <a:rPr b="0" sz="1600">
                <a:solidFill>
                  <a:srgbClr val="3B4A57"/>
                </a:solidFill>
              </a:rPr>
              <a:t>automated tests, all passing</a:t>
            </a:r>
          </a:p>
        </p:txBody>
      </p:sp>
      <p:sp>
        <p:nvSpPr>
          <p:cNvPr id="233" name="to plan three routes"/>
          <p:cNvSpPr/>
          <p:nvPr/>
        </p:nvSpPr>
        <p:spPr>
          <a:xfrm>
            <a:off x="640080" y="3154679"/>
            <a:ext cx="4937760" cy="1143001"/>
          </a:xfrm>
          <a:prstGeom prst="roundRect">
            <a:avLst>
              <a:gd name="adj" fmla="val 9600"/>
            </a:avLst>
          </a:prstGeom>
          <a:solidFill>
            <a:srgbClr val="EEF3F1"/>
          </a:solidFill>
          <a:ln w="12700">
            <a:miter lim="400000"/>
          </a:ln>
        </p:spPr>
        <p:txBody>
          <a:bodyPr lIns="45719" rIns="45719"/>
          <a:lstStyle/>
          <a:p>
            <a:pPr/>
          </a:p>
        </p:txBody>
      </p:sp>
      <p:sp>
        <p:nvSpPr>
          <p:cNvPr id="234" name="Text 4"/>
          <p:cNvSpPr txBox="1"/>
          <p:nvPr/>
        </p:nvSpPr>
        <p:spPr>
          <a:xfrm>
            <a:off x="914400" y="3523376"/>
            <a:ext cx="4572000" cy="405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solidFill>
                  <a:schemeClr val="accent1"/>
                </a:solidFill>
              </a:defRPr>
            </a:pPr>
            <a:r>
              <a:t>~0.1 s  </a:t>
            </a:r>
            <a:r>
              <a:rPr b="0" sz="1600">
                <a:solidFill>
                  <a:srgbClr val="3B4A57"/>
                </a:solidFill>
              </a:rPr>
              <a:t>to plan three routes</a:t>
            </a:r>
          </a:p>
        </p:txBody>
      </p:sp>
      <p:sp>
        <p:nvSpPr>
          <p:cNvPr id="235" name="open datasets, no paid data"/>
          <p:cNvSpPr/>
          <p:nvPr/>
        </p:nvSpPr>
        <p:spPr>
          <a:xfrm>
            <a:off x="640080" y="4526279"/>
            <a:ext cx="4937760" cy="1143001"/>
          </a:xfrm>
          <a:prstGeom prst="roundRect">
            <a:avLst>
              <a:gd name="adj" fmla="val 9600"/>
            </a:avLst>
          </a:prstGeom>
          <a:solidFill>
            <a:srgbClr val="EEF3F1"/>
          </a:solidFill>
          <a:ln w="12700">
            <a:miter lim="400000"/>
          </a:ln>
        </p:spPr>
        <p:txBody>
          <a:bodyPr lIns="45719" rIns="45719"/>
          <a:lstStyle/>
          <a:p>
            <a:pPr/>
          </a:p>
        </p:txBody>
      </p:sp>
      <p:sp>
        <p:nvSpPr>
          <p:cNvPr id="236" name="Text 6"/>
          <p:cNvSpPr txBox="1"/>
          <p:nvPr/>
        </p:nvSpPr>
        <p:spPr>
          <a:xfrm>
            <a:off x="914400" y="4894976"/>
            <a:ext cx="4572000" cy="405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200">
                <a:solidFill>
                  <a:schemeClr val="accent1"/>
                </a:solidFill>
              </a:defRPr>
            </a:pPr>
            <a:r>
              <a:t>6  </a:t>
            </a:r>
            <a:r>
              <a:rPr b="0" sz="1600">
                <a:solidFill>
                  <a:srgbClr val="3B4A57"/>
                </a:solidFill>
              </a:rPr>
              <a:t>open datasets, no paid data</a:t>
            </a:r>
          </a:p>
        </p:txBody>
      </p:sp>
      <p:sp>
        <p:nvSpPr>
          <p:cNvPr id="237" name="Text 7"/>
          <p:cNvSpPr txBox="1"/>
          <p:nvPr/>
        </p:nvSpPr>
        <p:spPr>
          <a:xfrm>
            <a:off x="6309359" y="1864449"/>
            <a:ext cx="5212081"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lvl1pPr>
          </a:lstStyle>
          <a:p>
            <a:pPr/>
            <a:r>
              <a:t>What's next</a:t>
            </a:r>
          </a:p>
        </p:txBody>
      </p:sp>
      <p:sp>
        <p:nvSpPr>
          <p:cNvPr id="238" name="Crash rates, not counts circle"/>
          <p:cNvSpPr/>
          <p:nvPr/>
        </p:nvSpPr>
        <p:spPr>
          <a:xfrm>
            <a:off x="6309359" y="2331720"/>
            <a:ext cx="457201" cy="457201"/>
          </a:xfrm>
          <a:prstGeom prst="ellipse">
            <a:avLst/>
          </a:prstGeom>
          <a:solidFill>
            <a:schemeClr val="accent1"/>
          </a:solidFill>
          <a:ln w="12700">
            <a:miter lim="400000"/>
          </a:ln>
        </p:spPr>
        <p:txBody>
          <a:bodyPr lIns="45719" rIns="45719"/>
          <a:lstStyle/>
          <a:p>
            <a:pPr/>
          </a:p>
        </p:txBody>
      </p:sp>
      <p:pic>
        <p:nvPicPr>
          <p:cNvPr id="239" name="Crash rates, not counts icon" descr="Crash rates, not counts icon"/>
          <p:cNvPicPr>
            <a:picLocks noChangeAspect="1"/>
          </p:cNvPicPr>
          <p:nvPr/>
        </p:nvPicPr>
        <p:blipFill>
          <a:blip r:embed="rId3">
            <a:extLst/>
          </a:blip>
          <a:stretch>
            <a:fillRect/>
          </a:stretch>
        </p:blipFill>
        <p:spPr>
          <a:xfrm>
            <a:off x="6423659" y="2446020"/>
            <a:ext cx="228601" cy="228601"/>
          </a:xfrm>
          <a:prstGeom prst="rect">
            <a:avLst/>
          </a:prstGeom>
          <a:ln w="12700">
            <a:miter lim="400000"/>
          </a:ln>
        </p:spPr>
      </p:pic>
      <p:sp>
        <p:nvSpPr>
          <p:cNvPr id="240" name="Text 9"/>
          <p:cNvSpPr txBox="1"/>
          <p:nvPr/>
        </p:nvSpPr>
        <p:spPr>
          <a:xfrm>
            <a:off x="6949440" y="2285999"/>
            <a:ext cx="4572001" cy="598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Crash rates, not counts</a:t>
            </a:r>
          </a:p>
          <a:p>
            <a:pPr>
              <a:defRPr sz="1300">
                <a:solidFill>
                  <a:srgbClr val="3B4A57"/>
                </a:solidFill>
              </a:defRPr>
            </a:pPr>
            <a:r>
              <a:t>Adjust for how many people ride each street, and learn area risk instead of hand-setting it</a:t>
            </a:r>
          </a:p>
        </p:txBody>
      </p:sp>
      <p:sp>
        <p:nvSpPr>
          <p:cNvPr id="241" name="Near-miss reports circle"/>
          <p:cNvSpPr/>
          <p:nvPr/>
        </p:nvSpPr>
        <p:spPr>
          <a:xfrm>
            <a:off x="6309359" y="3291840"/>
            <a:ext cx="457201" cy="457201"/>
          </a:xfrm>
          <a:prstGeom prst="ellipse">
            <a:avLst/>
          </a:prstGeom>
          <a:solidFill>
            <a:schemeClr val="accent1"/>
          </a:solidFill>
          <a:ln w="12700">
            <a:miter lim="400000"/>
          </a:ln>
        </p:spPr>
        <p:txBody>
          <a:bodyPr lIns="45719" rIns="45719"/>
          <a:lstStyle/>
          <a:p>
            <a:pPr/>
          </a:p>
        </p:txBody>
      </p:sp>
      <p:pic>
        <p:nvPicPr>
          <p:cNvPr id="242" name="Near-miss reports icon" descr="Near-miss reports icon"/>
          <p:cNvPicPr>
            <a:picLocks noChangeAspect="1"/>
          </p:cNvPicPr>
          <p:nvPr/>
        </p:nvPicPr>
        <p:blipFill>
          <a:blip r:embed="rId4">
            <a:extLst/>
          </a:blip>
          <a:stretch>
            <a:fillRect/>
          </a:stretch>
        </p:blipFill>
        <p:spPr>
          <a:xfrm>
            <a:off x="6423659" y="3406140"/>
            <a:ext cx="228601" cy="228601"/>
          </a:xfrm>
          <a:prstGeom prst="rect">
            <a:avLst/>
          </a:prstGeom>
          <a:ln w="12700">
            <a:miter lim="400000"/>
          </a:ln>
        </p:spPr>
      </p:pic>
      <p:sp>
        <p:nvSpPr>
          <p:cNvPr id="243" name="Text 11"/>
          <p:cNvSpPr txBox="1"/>
          <p:nvPr/>
        </p:nvSpPr>
        <p:spPr>
          <a:xfrm>
            <a:off x="6949440" y="3246120"/>
            <a:ext cx="4572001" cy="3953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Near-miss reports</a:t>
            </a:r>
          </a:p>
          <a:p>
            <a:pPr>
              <a:defRPr sz="1300">
                <a:solidFill>
                  <a:srgbClr val="3B4A57"/>
                </a:solidFill>
              </a:defRPr>
            </a:pPr>
            <a:r>
              <a:t>Add rider reports (BikeMaps.org) to the crash data</a:t>
            </a:r>
          </a:p>
        </p:txBody>
      </p:sp>
      <p:sp>
        <p:nvSpPr>
          <p:cNvPr id="244" name="More cities circle"/>
          <p:cNvSpPr/>
          <p:nvPr/>
        </p:nvSpPr>
        <p:spPr>
          <a:xfrm>
            <a:off x="6309359" y="4251959"/>
            <a:ext cx="457201" cy="457201"/>
          </a:xfrm>
          <a:prstGeom prst="ellipse">
            <a:avLst/>
          </a:prstGeom>
          <a:solidFill>
            <a:schemeClr val="accent1"/>
          </a:solidFill>
          <a:ln w="12700">
            <a:miter lim="400000"/>
          </a:ln>
        </p:spPr>
        <p:txBody>
          <a:bodyPr lIns="45719" rIns="45719"/>
          <a:lstStyle/>
          <a:p>
            <a:pPr/>
          </a:p>
        </p:txBody>
      </p:sp>
      <p:pic>
        <p:nvPicPr>
          <p:cNvPr id="245" name="More cities icon" descr="More cities icon"/>
          <p:cNvPicPr>
            <a:picLocks noChangeAspect="1"/>
          </p:cNvPicPr>
          <p:nvPr/>
        </p:nvPicPr>
        <p:blipFill>
          <a:blip r:embed="rId5">
            <a:extLst/>
          </a:blip>
          <a:stretch>
            <a:fillRect/>
          </a:stretch>
        </p:blipFill>
        <p:spPr>
          <a:xfrm>
            <a:off x="6423659" y="4366259"/>
            <a:ext cx="228601" cy="228601"/>
          </a:xfrm>
          <a:prstGeom prst="rect">
            <a:avLst/>
          </a:prstGeom>
          <a:ln w="12700">
            <a:miter lim="400000"/>
          </a:ln>
        </p:spPr>
      </p:pic>
      <p:sp>
        <p:nvSpPr>
          <p:cNvPr id="246" name="Text 13"/>
          <p:cNvSpPr txBox="1"/>
          <p:nvPr/>
        </p:nvSpPr>
        <p:spPr>
          <a:xfrm>
            <a:off x="6949440" y="4206240"/>
            <a:ext cx="4572001" cy="395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More cities</a:t>
            </a:r>
          </a:p>
          <a:p>
            <a:pPr>
              <a:defRPr sz="1300">
                <a:solidFill>
                  <a:srgbClr val="3B4A57"/>
                </a:solidFill>
              </a:defRPr>
            </a:pPr>
            <a:r>
              <a:t>Any city with open crash and bike-lane data — Vision Zero cities first</a:t>
            </a:r>
          </a:p>
        </p:txBody>
      </p:sp>
      <p:sp>
        <p:nvSpPr>
          <p:cNvPr id="247" name="Native app circle"/>
          <p:cNvSpPr/>
          <p:nvPr/>
        </p:nvSpPr>
        <p:spPr>
          <a:xfrm>
            <a:off x="6309359" y="5212079"/>
            <a:ext cx="457201" cy="457201"/>
          </a:xfrm>
          <a:prstGeom prst="ellipse">
            <a:avLst/>
          </a:prstGeom>
          <a:solidFill>
            <a:schemeClr val="accent1"/>
          </a:solidFill>
          <a:ln w="12700">
            <a:miter lim="400000"/>
          </a:ln>
        </p:spPr>
        <p:txBody>
          <a:bodyPr lIns="45719" rIns="45719"/>
          <a:lstStyle/>
          <a:p>
            <a:pPr/>
          </a:p>
        </p:txBody>
      </p:sp>
      <p:pic>
        <p:nvPicPr>
          <p:cNvPr id="248" name="Native app icon" descr="Native app icon"/>
          <p:cNvPicPr>
            <a:picLocks noChangeAspect="1"/>
          </p:cNvPicPr>
          <p:nvPr/>
        </p:nvPicPr>
        <p:blipFill>
          <a:blip r:embed="rId6">
            <a:extLst/>
          </a:blip>
          <a:stretch>
            <a:fillRect/>
          </a:stretch>
        </p:blipFill>
        <p:spPr>
          <a:xfrm>
            <a:off x="6423659" y="5326379"/>
            <a:ext cx="228601" cy="228601"/>
          </a:xfrm>
          <a:prstGeom prst="rect">
            <a:avLst/>
          </a:prstGeom>
          <a:ln w="12700">
            <a:miter lim="400000"/>
          </a:ln>
        </p:spPr>
      </p:pic>
      <p:sp>
        <p:nvSpPr>
          <p:cNvPr id="249" name="Text 15"/>
          <p:cNvSpPr txBox="1"/>
          <p:nvPr/>
        </p:nvSpPr>
        <p:spPr>
          <a:xfrm>
            <a:off x="6949440" y="5166359"/>
            <a:ext cx="4572001" cy="395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pPr>
            <a:r>
              <a:t>Native app</a:t>
            </a:r>
          </a:p>
          <a:p>
            <a:pPr>
              <a:defRPr sz="1300">
                <a:solidFill>
                  <a:srgbClr val="3B4A57"/>
                </a:solidFill>
              </a:defRPr>
            </a:pPr>
            <a:r>
              <a:t>Background GPS and alerts as you approach a danger spot</a:t>
            </a:r>
          </a:p>
        </p:txBody>
      </p:sp>
      <p:sp>
        <p:nvSpPr>
          <p:cNvPr id="250" name="demo cue"/>
          <p:cNvSpPr txBox="1"/>
          <p:nvPr/>
        </p:nvSpPr>
        <p:spPr>
          <a:xfrm>
            <a:off x="5669279" y="6406961"/>
            <a:ext cx="5394962" cy="170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100">
                <a:solidFill>
                  <a:schemeClr val="accent1"/>
                </a:solidFill>
              </a:defRPr>
            </a:lvl1pPr>
          </a:lstStyle>
          <a:p>
            <a:pPr/>
            <a:r>
              <a:t>▶ 20s demo: 411 tests passing</a:t>
            </a:r>
          </a:p>
        </p:txBody>
      </p:sp>
      <p:sp>
        <p:nvSpPr>
          <p:cNvPr id="251" name="Slide Number Placeholder 0"/>
          <p:cNvSpPr txBox="1"/>
          <p:nvPr>
            <p:ph type="sldNum" sz="quarter" idx="4294967295"/>
          </p:nvPr>
        </p:nvSpPr>
        <p:spPr>
          <a:xfrm>
            <a:off x="11562883" y="6355079"/>
            <a:ext cx="232877" cy="22851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Text 0"/>
          <p:cNvSpPr txBox="1"/>
          <p:nvPr>
            <p:ph type="title"/>
          </p:nvPr>
        </p:nvSpPr>
        <p:spPr>
          <a:xfrm>
            <a:off x="640080" y="1828800"/>
            <a:ext cx="5669280" cy="2011679"/>
          </a:xfrm>
          <a:prstGeom prst="rect">
            <a:avLst/>
          </a:prstGeom>
        </p:spPr>
        <p:txBody>
          <a:bodyPr lIns="0" tIns="0" rIns="0" bIns="0" anchor="b"/>
          <a:lstStyle/>
          <a:p>
            <a:pPr/>
            <a:r>
              <a:t>Safety shouldn't be a setting you have to find</a:t>
            </a:r>
          </a:p>
        </p:txBody>
      </p:sp>
      <p:sp>
        <p:nvSpPr>
          <p:cNvPr id="256" name="Text 0"/>
          <p:cNvSpPr txBox="1"/>
          <p:nvPr>
            <p:ph type="body" sz="quarter" idx="1"/>
          </p:nvPr>
        </p:nvSpPr>
        <p:spPr>
          <a:xfrm>
            <a:off x="640079" y="4023359"/>
            <a:ext cx="5303522" cy="1280161"/>
          </a:xfrm>
          <a:prstGeom prst="rect">
            <a:avLst/>
          </a:prstGeom>
        </p:spPr>
        <p:txBody>
          <a:bodyPr lIns="0" tIns="0" rIns="0" bIns="0"/>
          <a:lstStyle/>
          <a:p>
            <a:pPr/>
            <a:r>
              <a:t>BetterRoutes — the safe route, by default, with the trade-offs in plain sight</a:t>
            </a:r>
          </a:p>
        </p:txBody>
      </p:sp>
      <p:sp>
        <p:nvSpPr>
          <p:cNvPr id="257" name="Safest + bike lanes across the city frame"/>
          <p:cNvSpPr/>
          <p:nvPr/>
        </p:nvSpPr>
        <p:spPr>
          <a:xfrm>
            <a:off x="6693407" y="1161288"/>
            <a:ext cx="4946905" cy="3986785"/>
          </a:xfrm>
          <a:prstGeom prst="roundRect">
            <a:avLst>
              <a:gd name="adj" fmla="val 2752"/>
            </a:avLst>
          </a:prstGeom>
          <a:solidFill>
            <a:srgbClr val="FFFFFF"/>
          </a:solidFill>
          <a:ln>
            <a:solidFill>
              <a:srgbClr val="D9E2DE"/>
            </a:solidFill>
          </a:ln>
          <a:effectLst>
            <a:outerShdw sx="100000" sy="100000" kx="0" ky="0" algn="b" rotWithShape="0" blurRad="127000" dist="38100" dir="5400000">
              <a:srgbClr val="000000">
                <a:alpha val="22000"/>
              </a:srgbClr>
            </a:outerShdw>
          </a:effectLst>
        </p:spPr>
        <p:txBody>
          <a:bodyPr lIns="45719" rIns="45719"/>
          <a:lstStyle/>
          <a:p>
            <a:pPr/>
          </a:p>
        </p:txBody>
      </p:sp>
      <p:pic>
        <p:nvPicPr>
          <p:cNvPr id="258" name="Safest + bike lanes across the city" descr="Safest + bike lanes across the city"/>
          <p:cNvPicPr>
            <a:picLocks noChangeAspect="1"/>
          </p:cNvPicPr>
          <p:nvPr/>
        </p:nvPicPr>
        <p:blipFill>
          <a:blip r:embed="rId3">
            <a:extLst/>
          </a:blip>
          <a:stretch>
            <a:fillRect/>
          </a:stretch>
        </p:blipFill>
        <p:spPr>
          <a:xfrm>
            <a:off x="6766559" y="1234439"/>
            <a:ext cx="4800601" cy="384048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rgbClr val="13202B"/>
                </a:solidFill>
                <a:latin typeface="Calibri"/>
              </a:rPr>
              <a:t>Google's bike route rides past the Tenderloin</a:t>
            </a:r>
            <a:endParaRPr lang="en-US" sz="3200" dirty="0"/>
          </a:p>
        </p:txBody>
      </p:sp>
      <p:sp>
        <p:nvSpPr>
          <p:cNvPr id="3" name="Text 1"/>
          <p:cNvSpPr txBox="1"/>
          <p:nvPr/>
        </p:nvSpPr>
        <p:spPr>
          <a:xfrm>
            <a:off x="640080" y="1481328"/>
            <a:ext cx="10881360" cy="320040"/>
          </a:xfrm>
          <a:prstGeom prst="rect">
            <a:avLst/>
          </a:prstGeom>
          <a:noFill/>
          <a:ln/>
        </p:spPr>
        <p:txBody>
          <a:bodyPr wrap="square" lIns="0" tIns="0" rIns="0" bIns="0" rtlCol="0" anchor="ctr"/>
          <a:lstStyle/>
          <a:p>
            <a:pPr indent="0" marL="0">
              <a:buNone/>
            </a:pPr>
            <a:r>
              <a:rPr lang="en-US" sz="1500" dirty="0">
                <a:solidFill>
                  <a:srgbClr val="3B4A57"/>
                </a:solidFill>
                <a:latin typeface="Calibri"/>
              </a:rPr>
              <a:t>…and straight through Civic Center. Same trip: Grace Cathedral → Patricia's Green, Hayes Valley</a:t>
            </a:r>
            <a:endParaRPr lang="en-US" sz="1500" dirty="0"/>
          </a:p>
        </p:txBody>
      </p:sp>
      <p:sp>
        <p:nvSpPr>
          <p:cNvPr id="4" name="Text 2"/>
          <p:cNvSpPr txBox="1"/>
          <p:nvPr/>
        </p:nvSpPr>
        <p:spPr>
          <a:xfrm>
            <a:off x="731520" y="1901952"/>
            <a:ext cx="5120640" cy="320040"/>
          </a:xfrm>
          <a:prstGeom prst="rect">
            <a:avLst/>
          </a:prstGeom>
          <a:noFill/>
          <a:ln/>
        </p:spPr>
        <p:txBody>
          <a:bodyPr wrap="square" lIns="0" tIns="0" rIns="0" bIns="0" rtlCol="0" anchor="ctr"/>
          <a:lstStyle/>
          <a:p>
            <a:pPr indent="0" marL="0">
              <a:buNone/>
            </a:pPr>
            <a:r>
              <a:rPr lang="en-US" sz="1500" b="1" dirty="0">
                <a:solidFill>
                  <a:srgbClr val="E5484D"/>
                </a:solidFill>
                <a:latin typeface="Calibri"/>
              </a:rPr>
              <a:t>Google Maps · bicycling · 14 min, 1.9 mi</a:t>
            </a:r>
            <a:endParaRPr lang="en-US" sz="1500" dirty="0"/>
          </a:p>
        </p:txBody>
      </p:sp>
      <p:sp>
        <p:nvSpPr>
          <p:cNvPr id="5" name="Google Maps bike route down Polk St frame"/>
          <p:cNvSpPr/>
          <p:nvPr/>
        </p:nvSpPr>
        <p:spPr>
          <a:xfrm>
            <a:off x="658368" y="2212848"/>
            <a:ext cx="5266944" cy="3348706"/>
          </a:xfrm>
          <a:prstGeom prst="roundRect">
            <a:avLst>
              <a:gd name="adj" fmla="val 3277"/>
            </a:avLst>
          </a:prstGeom>
          <a:solidFill>
            <a:srgbClr val="FFFFFF"/>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6" name="Google Maps bike route down Polk St" descr="Google Maps bike route down Polk St">    </p:cNvPr>
          <p:cNvPicPr>
            <a:picLocks noChangeAspect="1"/>
          </p:cNvPicPr>
          <p:nvPr/>
        </p:nvPicPr>
        <p:blipFill>
          <a:blip r:embed="rId1"/>
          <a:stretch>
            <a:fillRect/>
          </a:stretch>
        </p:blipFill>
        <p:spPr>
          <a:xfrm>
            <a:off x="731520" y="2286000"/>
            <a:ext cx="5120640" cy="3202402"/>
          </a:xfrm>
          <a:prstGeom prst="rect">
            <a:avLst/>
          </a:prstGeom>
        </p:spPr>
      </p:pic>
      <p:sp>
        <p:nvSpPr>
          <p:cNvPr id="7" name="Text 4"/>
          <p:cNvSpPr txBox="1"/>
          <p:nvPr/>
        </p:nvSpPr>
        <p:spPr>
          <a:xfrm>
            <a:off x="731520" y="5577840"/>
            <a:ext cx="2468880" cy="777240"/>
          </a:xfrm>
          <a:prstGeom prst="rect">
            <a:avLst/>
          </a:prstGeom>
          <a:noFill/>
          <a:ln/>
        </p:spPr>
        <p:txBody>
          <a:bodyPr wrap="square" lIns="0" tIns="0" rIns="0" bIns="0" rtlCol="0" anchor="t"/>
          <a:lstStyle/>
          <a:p>
            <a:pPr indent="0" marL="0">
              <a:buNone/>
            </a:pPr>
            <a:r>
              <a:rPr lang="en-US" sz="2400" b="1" dirty="0">
                <a:solidFill>
                  <a:srgbClr val="E5484D"/>
                </a:solidFill>
                <a:latin typeface="Calibri"/>
              </a:rPr>
              <a:t>39%</a:t>
            </a:r>
            <a:endParaRPr lang="en-US" sz="2400" dirty="0"/>
          </a:p>
          <a:p>
            <a:pPr indent="0" marL="0">
              <a:buNone/>
            </a:pPr>
            <a:r>
              <a:rPr lang="en-US" sz="1200" dirty="0">
                <a:solidFill>
                  <a:srgbClr val="3B4A57"/>
                </a:solidFill>
                <a:latin typeface="Calibri"/>
              </a:rPr>
              <a:t>of the ride inside Severe areas: Civic Center 0.5 mi, Tenderloin 0.2 mi</a:t>
            </a:r>
            <a:endParaRPr lang="en-US" sz="2400" dirty="0"/>
          </a:p>
        </p:txBody>
      </p:sp>
      <p:sp>
        <p:nvSpPr>
          <p:cNvPr id="8" name="Text 5"/>
          <p:cNvSpPr txBox="1"/>
          <p:nvPr/>
        </p:nvSpPr>
        <p:spPr>
          <a:xfrm>
            <a:off x="3337560" y="5577840"/>
            <a:ext cx="2468880" cy="777240"/>
          </a:xfrm>
          <a:prstGeom prst="rect">
            <a:avLst/>
          </a:prstGeom>
          <a:noFill/>
          <a:ln/>
        </p:spPr>
        <p:txBody>
          <a:bodyPr wrap="square" lIns="0" tIns="0" rIns="0" bIns="0" rtlCol="0" anchor="t"/>
          <a:lstStyle/>
          <a:p>
            <a:pPr indent="0" marL="0">
              <a:buNone/>
            </a:pPr>
            <a:r>
              <a:rPr lang="en-US" sz="2400" b="1" dirty="0">
                <a:solidFill>
                  <a:srgbClr val="E5484D"/>
                </a:solidFill>
                <a:latin typeface="Calibri"/>
              </a:rPr>
              <a:t>67%</a:t>
            </a:r>
            <a:endParaRPr lang="en-US" sz="2400" dirty="0"/>
          </a:p>
          <a:p>
            <a:pPr indent="0" marL="0">
              <a:buNone/>
            </a:pPr>
            <a:r>
              <a:rPr lang="en-US" sz="1200" dirty="0">
                <a:solidFill>
                  <a:srgbClr val="3B4A57"/>
                </a:solidFill>
                <a:latin typeface="Calibri"/>
              </a:rPr>
              <a:t>with no protected bike lane (only parts of Polk St are protected)</a:t>
            </a:r>
            <a:endParaRPr lang="en-US" sz="2400" dirty="0"/>
          </a:p>
        </p:txBody>
      </p:sp>
      <p:sp>
        <p:nvSpPr>
          <p:cNvPr id="9" name="Text 6"/>
          <p:cNvSpPr txBox="1"/>
          <p:nvPr/>
        </p:nvSpPr>
        <p:spPr>
          <a:xfrm>
            <a:off x="6355080" y="1901952"/>
            <a:ext cx="5120640" cy="320040"/>
          </a:xfrm>
          <a:prstGeom prst="rect">
            <a:avLst/>
          </a:prstGeom>
          <a:noFill/>
          <a:ln/>
        </p:spPr>
        <p:txBody>
          <a:bodyPr wrap="square" lIns="0" tIns="0" rIns="0" bIns="0" rtlCol="0" anchor="ctr"/>
          <a:lstStyle/>
          <a:p>
            <a:pPr indent="0" marL="0">
              <a:buNone/>
            </a:pPr>
            <a:r>
              <a:rPr lang="en-US" sz="1500" b="1" dirty="0">
                <a:solidFill>
                  <a:srgbClr val="0E9F6E"/>
                </a:solidFill>
                <a:latin typeface="Calibri"/>
              </a:rPr>
              <a:t>BetterRoutes · Safest · 22 min, 2.1 mi</a:t>
            </a:r>
            <a:endParaRPr lang="en-US" sz="1500" dirty="0"/>
          </a:p>
        </p:txBody>
      </p:sp>
      <p:sp>
        <p:nvSpPr>
          <p:cNvPr id="10" name="BetterRoutes Safest route around the Severe areas frame"/>
          <p:cNvSpPr/>
          <p:nvPr/>
        </p:nvSpPr>
        <p:spPr>
          <a:xfrm>
            <a:off x="6281928" y="2212848"/>
            <a:ext cx="5266944" cy="3346704"/>
          </a:xfrm>
          <a:prstGeom prst="roundRect">
            <a:avLst>
              <a:gd name="adj" fmla="val 3279"/>
            </a:avLst>
          </a:prstGeom>
          <a:solidFill>
            <a:srgbClr val="FFFFFF"/>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11" name="BetterRoutes Safest route around the Severe areas" descr="BetterRoutes Safest route around the Severe areas">    </p:cNvPr>
          <p:cNvPicPr>
            <a:picLocks noChangeAspect="1"/>
          </p:cNvPicPr>
          <p:nvPr/>
        </p:nvPicPr>
        <p:blipFill>
          <a:blip r:embed="rId2"/>
          <a:stretch>
            <a:fillRect/>
          </a:stretch>
        </p:blipFill>
        <p:spPr>
          <a:xfrm>
            <a:off x="6355080" y="2286000"/>
            <a:ext cx="5120640" cy="3200400"/>
          </a:xfrm>
          <a:prstGeom prst="rect">
            <a:avLst/>
          </a:prstGeom>
        </p:spPr>
      </p:pic>
      <p:sp>
        <p:nvSpPr>
          <p:cNvPr id="12" name="Text 8"/>
          <p:cNvSpPr txBox="1"/>
          <p:nvPr/>
        </p:nvSpPr>
        <p:spPr>
          <a:xfrm>
            <a:off x="6355080" y="5577840"/>
            <a:ext cx="2468880" cy="777240"/>
          </a:xfrm>
          <a:prstGeom prst="rect">
            <a:avLst/>
          </a:prstGeom>
          <a:noFill/>
          <a:ln/>
        </p:spPr>
        <p:txBody>
          <a:bodyPr wrap="square" lIns="0" tIns="0" rIns="0" bIns="0" rtlCol="0" anchor="t"/>
          <a:lstStyle/>
          <a:p>
            <a:pPr indent="0" marL="0">
              <a:buNone/>
            </a:pPr>
            <a:r>
              <a:rPr lang="en-US" sz="2400" b="1" dirty="0">
                <a:solidFill>
                  <a:srgbClr val="0E9F6E"/>
                </a:solidFill>
                <a:latin typeface="Calibri"/>
              </a:rPr>
              <a:t>0%</a:t>
            </a:r>
            <a:endParaRPr lang="en-US" sz="2400" dirty="0"/>
          </a:p>
          <a:p>
            <a:pPr indent="0" marL="0">
              <a:buNone/>
            </a:pPr>
            <a:r>
              <a:rPr lang="en-US" sz="1200" dirty="0">
                <a:solidFill>
                  <a:srgbClr val="3B4A57"/>
                </a:solidFill>
                <a:latin typeface="Calibri"/>
              </a:rPr>
              <a:t>inside Severe areas, and it avoids every crash hotspot</a:t>
            </a:r>
            <a:endParaRPr lang="en-US" sz="2400" dirty="0"/>
          </a:p>
        </p:txBody>
      </p:sp>
      <p:sp>
        <p:nvSpPr>
          <p:cNvPr id="13" name="Text 9"/>
          <p:cNvSpPr txBox="1"/>
          <p:nvPr/>
        </p:nvSpPr>
        <p:spPr>
          <a:xfrm>
            <a:off x="8961120" y="5577840"/>
            <a:ext cx="2468880" cy="777240"/>
          </a:xfrm>
          <a:prstGeom prst="rect">
            <a:avLst/>
          </a:prstGeom>
          <a:noFill/>
          <a:ln/>
        </p:spPr>
        <p:txBody>
          <a:bodyPr wrap="square" lIns="0" tIns="0" rIns="0" bIns="0" rtlCol="0" anchor="t"/>
          <a:lstStyle/>
          <a:p>
            <a:pPr indent="0" marL="0">
              <a:buNone/>
            </a:pPr>
            <a:r>
              <a:rPr lang="en-US" sz="2400" b="1" dirty="0">
                <a:solidFill>
                  <a:srgbClr val="0E9F6E"/>
                </a:solidFill>
                <a:latin typeface="Calibri"/>
              </a:rPr>
              <a:t>−25%</a:t>
            </a:r>
            <a:endParaRPr lang="en-US" sz="2400" dirty="0"/>
          </a:p>
          <a:p>
            <a:pPr indent="0" marL="0">
              <a:buNone/>
            </a:pPr>
            <a:r>
              <a:rPr lang="en-US" sz="1200" dirty="0">
                <a:solidFill>
                  <a:srgbClr val="3B4A57"/>
                </a:solidFill>
                <a:latin typeface="Calibri"/>
              </a:rPr>
              <a:t>average street danger vs our fastest route, for +5 min</a:t>
            </a:r>
            <a:endParaRPr lang="en-US" sz="2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latin typeface="Calibri"/>
              </a:rPr>
              <a:t>1</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rgbClr val="13202B"/>
                </a:solidFill>
                <a:latin typeface="Calibri"/>
              </a:rPr>
              <a:t>More than safety: real SF data, shaped by you</a:t>
            </a:r>
            <a:endParaRPr lang="en-US" sz="3200" dirty="0"/>
          </a:p>
        </p:txBody>
      </p:sp>
      <p:sp>
        <p:nvSpPr>
          <p:cNvPr id="3" name="Avoid hills card"/>
          <p:cNvSpPr/>
          <p:nvPr/>
        </p:nvSpPr>
        <p:spPr>
          <a:xfrm>
            <a:off x="640080" y="1691640"/>
            <a:ext cx="5349240" cy="2057400"/>
          </a:xfrm>
          <a:prstGeom prst="roundRect">
            <a:avLst>
              <a:gd name="adj" fmla="val 5333"/>
            </a:avLst>
          </a:prstGeom>
          <a:solidFill>
            <a:srgbClr val="EEF3F1"/>
          </a:solidFill>
          <a:ln/>
        </p:spPr>
      </p:sp>
      <p:sp>
        <p:nvSpPr>
          <p:cNvPr id="4" name="Avoid hills circle"/>
          <p:cNvSpPr/>
          <p:nvPr/>
        </p:nvSpPr>
        <p:spPr>
          <a:xfrm>
            <a:off x="868680" y="1920240"/>
            <a:ext cx="502920" cy="502920"/>
          </a:xfrm>
          <a:prstGeom prst="ellipse">
            <a:avLst/>
          </a:prstGeom>
          <a:solidFill>
            <a:srgbClr val="0E9F6E"/>
          </a:solidFill>
          <a:ln/>
        </p:spPr>
      </p:sp>
      <p:pic>
        <p:nvPicPr>
          <p:cNvPr id="5" name="Avoid hills icon" descr="Avoid hills">    </p:cNvPr>
          <p:cNvPicPr>
            <a:picLocks noChangeAspect="1"/>
          </p:cNvPicPr>
          <p:nvPr/>
        </p:nvPicPr>
        <p:blipFill>
          <a:blip r:embed="rId1"/>
          <a:stretch>
            <a:fillRect/>
          </a:stretch>
        </p:blipFill>
        <p:spPr>
          <a:xfrm>
            <a:off x="994410" y="2045970"/>
            <a:ext cx="251460" cy="251460"/>
          </a:xfrm>
          <a:prstGeom prst="rect">
            <a:avLst/>
          </a:prstGeom>
        </p:spPr>
      </p:pic>
      <p:sp>
        <p:nvSpPr>
          <p:cNvPr id="6" name="Text 3"/>
          <p:cNvSpPr txBox="1"/>
          <p:nvPr/>
        </p:nvSpPr>
        <p:spPr>
          <a:xfrm>
            <a:off x="1508760" y="1874520"/>
            <a:ext cx="4343400" cy="640080"/>
          </a:xfrm>
          <a:prstGeom prst="rect">
            <a:avLst/>
          </a:prstGeom>
          <a:noFill/>
          <a:ln/>
        </p:spPr>
        <p:txBody>
          <a:bodyPr wrap="square" lIns="0" tIns="0" rIns="0" bIns="0" rtlCol="0" anchor="t"/>
          <a:lstStyle/>
          <a:p>
            <a:pPr indent="0" marL="0">
              <a:buNone/>
            </a:pPr>
            <a:r>
              <a:rPr lang="en-US" sz="1700" b="1" dirty="0">
                <a:solidFill>
                  <a:srgbClr val="13202B"/>
                </a:solidFill>
                <a:latin typeface="Calibri"/>
              </a:rPr>
              <a:t>Avoid hills</a:t>
            </a:r>
            <a:endParaRPr lang="en-US" sz="1700" dirty="0"/>
          </a:p>
          <a:p>
            <a:pPr indent="0" marL="0">
              <a:buNone/>
            </a:pPr>
            <a:r>
              <a:rPr lang="en-US" sz="1200" dirty="0">
                <a:solidFill>
                  <a:srgbClr val="64748B"/>
                </a:solidFill>
                <a:latin typeface="Calibri"/>
              </a:rPr>
              <a:t>Data: USGS elevation at 112,492 points on the street map</a:t>
            </a:r>
            <a:endParaRPr lang="en-US" sz="1700" dirty="0"/>
          </a:p>
        </p:txBody>
      </p:sp>
      <p:sp>
        <p:nvSpPr>
          <p:cNvPr id="7" name="Text 4"/>
          <p:cNvSpPr txBox="1"/>
          <p:nvPr/>
        </p:nvSpPr>
        <p:spPr>
          <a:xfrm>
            <a:off x="868680" y="2606040"/>
            <a:ext cx="4937760" cy="457200"/>
          </a:xfrm>
          <a:prstGeom prst="rect">
            <a:avLst/>
          </a:prstGeom>
          <a:noFill/>
          <a:ln/>
        </p:spPr>
        <p:txBody>
          <a:bodyPr wrap="square" lIns="0" tIns="0" rIns="0" bIns="0" rtlCol="0" anchor="ctr"/>
          <a:lstStyle/>
          <a:p>
            <a:pPr indent="0" marL="0">
              <a:buNone/>
            </a:pPr>
            <a:r>
              <a:rPr lang="en-US" sz="2400" b="1" dirty="0">
                <a:solidFill>
                  <a:srgbClr val="0E9F6E"/>
                </a:solidFill>
                <a:latin typeface="Calibri"/>
              </a:rPr>
              <a:t>21.8% → 8.6%</a:t>
            </a:r>
            <a:endParaRPr lang="en-US" sz="2400" dirty="0"/>
          </a:p>
        </p:txBody>
      </p:sp>
      <p:sp>
        <p:nvSpPr>
          <p:cNvPr id="8" name="Text 5"/>
          <p:cNvSpPr txBox="1"/>
          <p:nvPr/>
        </p:nvSpPr>
        <p:spPr>
          <a:xfrm>
            <a:off x="868680" y="3063240"/>
            <a:ext cx="4937760" cy="640080"/>
          </a:xfrm>
          <a:prstGeom prst="rect">
            <a:avLst/>
          </a:prstGeom>
          <a:noFill/>
          <a:ln/>
        </p:spPr>
        <p:txBody>
          <a:bodyPr wrap="square" lIns="0" tIns="0" rIns="0" bIns="0" rtlCol="0" anchor="t"/>
          <a:lstStyle/>
          <a:p>
            <a:pPr indent="0" marL="0">
              <a:buNone/>
            </a:pPr>
            <a:r>
              <a:rPr lang="en-US" sz="1200" dirty="0">
                <a:solidFill>
                  <a:srgbClr val="3B4A57"/>
                </a:solidFill>
                <a:latin typeface="Calibri"/>
              </a:rPr>
              <a:t>steepest climb; climbing 1,027 → 518 ft, and 7 min quicker</a:t>
            </a:r>
            <a:endParaRPr lang="en-US" sz="1200" dirty="0"/>
          </a:p>
          <a:p>
            <a:pPr indent="0" marL="0">
              <a:buNone/>
            </a:pPr>
            <a:r>
              <a:rPr lang="en-US" sz="1100" i="1" dirty="0">
                <a:solidFill>
                  <a:srgbClr val="64748B"/>
                </a:solidFill>
                <a:latin typeface="Calibri"/>
              </a:rPr>
              <a:t>Try it: Ocean Beach → Ferry Building, Safest</a:t>
            </a:r>
            <a:endParaRPr lang="en-US" sz="1200" dirty="0"/>
          </a:p>
        </p:txBody>
      </p:sp>
      <p:sp>
        <p:nvSpPr>
          <p:cNvPr id="9" name="Fewer traffic lights card"/>
          <p:cNvSpPr/>
          <p:nvPr/>
        </p:nvSpPr>
        <p:spPr>
          <a:xfrm>
            <a:off x="6172200" y="1691640"/>
            <a:ext cx="5349240" cy="2057400"/>
          </a:xfrm>
          <a:prstGeom prst="roundRect">
            <a:avLst>
              <a:gd name="adj" fmla="val 5333"/>
            </a:avLst>
          </a:prstGeom>
          <a:solidFill>
            <a:srgbClr val="EEF3F1"/>
          </a:solidFill>
          <a:ln/>
        </p:spPr>
      </p:sp>
      <p:sp>
        <p:nvSpPr>
          <p:cNvPr id="10" name="Fewer traffic lights circle"/>
          <p:cNvSpPr/>
          <p:nvPr/>
        </p:nvSpPr>
        <p:spPr>
          <a:xfrm>
            <a:off x="6400800" y="1920240"/>
            <a:ext cx="502920" cy="502920"/>
          </a:xfrm>
          <a:prstGeom prst="ellipse">
            <a:avLst/>
          </a:prstGeom>
          <a:solidFill>
            <a:srgbClr val="0E9F6E"/>
          </a:solidFill>
          <a:ln/>
        </p:spPr>
      </p:sp>
      <p:pic>
        <p:nvPicPr>
          <p:cNvPr id="11" name="Fewer traffic lights icon" descr="Fewer traffic lights">    </p:cNvPr>
          <p:cNvPicPr>
            <a:picLocks noChangeAspect="1"/>
          </p:cNvPicPr>
          <p:nvPr/>
        </p:nvPicPr>
        <p:blipFill>
          <a:blip r:embed="rId2"/>
          <a:stretch>
            <a:fillRect/>
          </a:stretch>
        </p:blipFill>
        <p:spPr>
          <a:xfrm>
            <a:off x="6526530" y="2045970"/>
            <a:ext cx="251460" cy="251460"/>
          </a:xfrm>
          <a:prstGeom prst="rect">
            <a:avLst/>
          </a:prstGeom>
        </p:spPr>
      </p:pic>
      <p:sp>
        <p:nvSpPr>
          <p:cNvPr id="12" name="Text 8"/>
          <p:cNvSpPr txBox="1"/>
          <p:nvPr/>
        </p:nvSpPr>
        <p:spPr>
          <a:xfrm>
            <a:off x="7040880" y="1874520"/>
            <a:ext cx="4343400" cy="640080"/>
          </a:xfrm>
          <a:prstGeom prst="rect">
            <a:avLst/>
          </a:prstGeom>
          <a:noFill/>
          <a:ln/>
        </p:spPr>
        <p:txBody>
          <a:bodyPr wrap="square" lIns="0" tIns="0" rIns="0" bIns="0" rtlCol="0" anchor="t"/>
          <a:lstStyle/>
          <a:p>
            <a:pPr indent="0" marL="0">
              <a:buNone/>
            </a:pPr>
            <a:r>
              <a:rPr lang="en-US" sz="1700" b="1" dirty="0">
                <a:solidFill>
                  <a:srgbClr val="13202B"/>
                </a:solidFill>
                <a:latin typeface="Calibri"/>
              </a:rPr>
              <a:t>Fewer traffic lights</a:t>
            </a:r>
            <a:endParaRPr lang="en-US" sz="1700" dirty="0"/>
          </a:p>
          <a:p>
            <a:pPr indent="0" marL="0">
              <a:buNone/>
            </a:pPr>
            <a:r>
              <a:rPr lang="en-US" sz="1200" dirty="0">
                <a:solidFill>
                  <a:srgbClr val="64748B"/>
                </a:solidFill>
                <a:latin typeface="Calibri"/>
              </a:rPr>
              <a:t>Data: 1,314 SFMTA traffic signals</a:t>
            </a:r>
            <a:endParaRPr lang="en-US" sz="1700" dirty="0"/>
          </a:p>
        </p:txBody>
      </p:sp>
      <p:sp>
        <p:nvSpPr>
          <p:cNvPr id="13" name="Text 9"/>
          <p:cNvSpPr txBox="1"/>
          <p:nvPr/>
        </p:nvSpPr>
        <p:spPr>
          <a:xfrm>
            <a:off x="6400800" y="2606040"/>
            <a:ext cx="4937760" cy="457200"/>
          </a:xfrm>
          <a:prstGeom prst="rect">
            <a:avLst/>
          </a:prstGeom>
          <a:noFill/>
          <a:ln/>
        </p:spPr>
        <p:txBody>
          <a:bodyPr wrap="square" lIns="0" tIns="0" rIns="0" bIns="0" rtlCol="0" anchor="ctr"/>
          <a:lstStyle/>
          <a:p>
            <a:pPr indent="0" marL="0">
              <a:buNone/>
            </a:pPr>
            <a:r>
              <a:rPr lang="en-US" sz="2400" b="1" dirty="0">
                <a:solidFill>
                  <a:srgbClr val="0E9F6E"/>
                </a:solidFill>
                <a:latin typeface="Calibri"/>
              </a:rPr>
              <a:t>35 → 12 lights</a:t>
            </a:r>
            <a:endParaRPr lang="en-US" sz="2400" dirty="0"/>
          </a:p>
        </p:txBody>
      </p:sp>
      <p:sp>
        <p:nvSpPr>
          <p:cNvPr id="14" name="Text 10"/>
          <p:cNvSpPr txBox="1"/>
          <p:nvPr/>
        </p:nvSpPr>
        <p:spPr>
          <a:xfrm>
            <a:off x="6400800" y="3063240"/>
            <a:ext cx="4937760" cy="640080"/>
          </a:xfrm>
          <a:prstGeom prst="rect">
            <a:avLst/>
          </a:prstGeom>
          <a:noFill/>
          <a:ln/>
        </p:spPr>
        <p:txBody>
          <a:bodyPr wrap="square" lIns="0" tIns="0" rIns="0" bIns="0" rtlCol="0" anchor="t"/>
          <a:lstStyle/>
          <a:p>
            <a:pPr indent="0" marL="0">
              <a:buNone/>
            </a:pPr>
            <a:r>
              <a:rPr lang="en-US" sz="1200" dirty="0">
                <a:solidFill>
                  <a:srgbClr val="3B4A57"/>
                </a:solidFill>
                <a:latin typeface="Calibri"/>
              </a:rPr>
              <a:t>Fastest 35, Safest 17, Safest + Fewer lights 12 (2 min quicker than Safest)</a:t>
            </a:r>
            <a:endParaRPr lang="en-US" sz="1200" dirty="0"/>
          </a:p>
          <a:p>
            <a:pPr indent="0" marL="0">
              <a:buNone/>
            </a:pPr>
            <a:r>
              <a:rPr lang="en-US" sz="1100" i="1" dirty="0">
                <a:solidFill>
                  <a:srgbClr val="64748B"/>
                </a:solidFill>
                <a:latin typeface="Calibri"/>
              </a:rPr>
              <a:t>Try it: Ocean Beach → Ferry Building</a:t>
            </a:r>
            <a:endParaRPr lang="en-US" sz="1200" dirty="0"/>
          </a:p>
        </p:txBody>
      </p:sp>
      <p:sp>
        <p:nvSpPr>
          <p:cNvPr id="15" name="Honest ride time card"/>
          <p:cNvSpPr/>
          <p:nvPr/>
        </p:nvSpPr>
        <p:spPr>
          <a:xfrm>
            <a:off x="640080" y="3931920"/>
            <a:ext cx="5349240" cy="2057400"/>
          </a:xfrm>
          <a:prstGeom prst="roundRect">
            <a:avLst>
              <a:gd name="adj" fmla="val 5333"/>
            </a:avLst>
          </a:prstGeom>
          <a:solidFill>
            <a:srgbClr val="EEF3F1"/>
          </a:solidFill>
          <a:ln/>
        </p:spPr>
      </p:sp>
      <p:sp>
        <p:nvSpPr>
          <p:cNvPr id="16" name="Honest ride time circle"/>
          <p:cNvSpPr/>
          <p:nvPr/>
        </p:nvSpPr>
        <p:spPr>
          <a:xfrm>
            <a:off x="868680" y="4160520"/>
            <a:ext cx="502920" cy="502920"/>
          </a:xfrm>
          <a:prstGeom prst="ellipse">
            <a:avLst/>
          </a:prstGeom>
          <a:solidFill>
            <a:srgbClr val="0E9F6E"/>
          </a:solidFill>
          <a:ln/>
        </p:spPr>
      </p:sp>
      <p:pic>
        <p:nvPicPr>
          <p:cNvPr id="17" name="Honest ride time icon" descr="Honest ride time">    </p:cNvPr>
          <p:cNvPicPr>
            <a:picLocks noChangeAspect="1"/>
          </p:cNvPicPr>
          <p:nvPr/>
        </p:nvPicPr>
        <p:blipFill>
          <a:blip r:embed="rId3"/>
          <a:stretch>
            <a:fillRect/>
          </a:stretch>
        </p:blipFill>
        <p:spPr>
          <a:xfrm>
            <a:off x="994410" y="4286250"/>
            <a:ext cx="251460" cy="251460"/>
          </a:xfrm>
          <a:prstGeom prst="rect">
            <a:avLst/>
          </a:prstGeom>
        </p:spPr>
      </p:pic>
      <p:sp>
        <p:nvSpPr>
          <p:cNvPr id="18" name="Text 13"/>
          <p:cNvSpPr txBox="1"/>
          <p:nvPr/>
        </p:nvSpPr>
        <p:spPr>
          <a:xfrm>
            <a:off x="1508760" y="4114800"/>
            <a:ext cx="4343400" cy="640080"/>
          </a:xfrm>
          <a:prstGeom prst="rect">
            <a:avLst/>
          </a:prstGeom>
          <a:noFill/>
          <a:ln/>
        </p:spPr>
        <p:txBody>
          <a:bodyPr wrap="square" lIns="0" tIns="0" rIns="0" bIns="0" rtlCol="0" anchor="t"/>
          <a:lstStyle/>
          <a:p>
            <a:pPr indent="0" marL="0">
              <a:buNone/>
            </a:pPr>
            <a:r>
              <a:rPr lang="en-US" sz="1700" b="1" dirty="0">
                <a:solidFill>
                  <a:srgbClr val="13202B"/>
                </a:solidFill>
                <a:latin typeface="Calibri"/>
              </a:rPr>
              <a:t>Honest ride time</a:t>
            </a:r>
            <a:endParaRPr lang="en-US" sz="1700" dirty="0"/>
          </a:p>
          <a:p>
            <a:pPr indent="0" marL="0">
              <a:buNone/>
            </a:pPr>
            <a:r>
              <a:rPr lang="en-US" sz="1200" dirty="0">
                <a:solidFill>
                  <a:srgbClr val="64748B"/>
                </a:solidFill>
                <a:latin typeface="Calibri"/>
              </a:rPr>
              <a:t>Data: Every estimate counts each climb and ~12 s per red light</a:t>
            </a:r>
            <a:endParaRPr lang="en-US" sz="1700" dirty="0"/>
          </a:p>
        </p:txBody>
      </p:sp>
      <p:sp>
        <p:nvSpPr>
          <p:cNvPr id="19" name="Text 14"/>
          <p:cNvSpPr txBox="1"/>
          <p:nvPr/>
        </p:nvSpPr>
        <p:spPr>
          <a:xfrm>
            <a:off x="868680" y="4846320"/>
            <a:ext cx="4937760" cy="457200"/>
          </a:xfrm>
          <a:prstGeom prst="rect">
            <a:avLst/>
          </a:prstGeom>
          <a:noFill/>
          <a:ln/>
        </p:spPr>
        <p:txBody>
          <a:bodyPr wrap="square" lIns="0" tIns="0" rIns="0" bIns="0" rtlCol="0" anchor="ctr"/>
          <a:lstStyle/>
          <a:p>
            <a:pPr indent="0" marL="0">
              <a:buNone/>
            </a:pPr>
            <a:r>
              <a:rPr lang="en-US" sz="2400" b="1" dirty="0">
                <a:solidFill>
                  <a:srgbClr val="0E9F6E"/>
                </a:solidFill>
                <a:latin typeface="Calibri"/>
              </a:rPr>
              <a:t>Fastest ≤ Safest</a:t>
            </a:r>
            <a:endParaRPr lang="en-US" sz="2400" dirty="0"/>
          </a:p>
        </p:txBody>
      </p:sp>
      <p:sp>
        <p:nvSpPr>
          <p:cNvPr id="20" name="Text 15"/>
          <p:cNvSpPr txBox="1"/>
          <p:nvPr/>
        </p:nvSpPr>
        <p:spPr>
          <a:xfrm>
            <a:off x="868680" y="5303520"/>
            <a:ext cx="4937760" cy="640080"/>
          </a:xfrm>
          <a:prstGeom prst="rect">
            <a:avLst/>
          </a:prstGeom>
          <a:noFill/>
          <a:ln/>
        </p:spPr>
        <p:txBody>
          <a:bodyPr wrap="square" lIns="0" tIns="0" rIns="0" bIns="0" rtlCol="0" anchor="t"/>
          <a:lstStyle/>
          <a:p>
            <a:pPr indent="0" marL="0">
              <a:buNone/>
            </a:pPr>
            <a:r>
              <a:rPr lang="en-US" sz="1200" dirty="0">
                <a:solidFill>
                  <a:srgbClr val="3B4A57"/>
                </a:solidFill>
                <a:latin typeface="Calibri"/>
              </a:rPr>
              <a:t>Because times include hills and lights, "Fastest" is never slower than a safer option — checked by automated tests</a:t>
            </a:r>
            <a:endParaRPr lang="en-US" sz="1200" dirty="0"/>
          </a:p>
          <a:p>
            <a:pPr indent="0" marL="0">
              <a:buNone/>
            </a:pPr>
            <a:r>
              <a:rPr lang="en-US" sz="1100" i="1" dirty="0">
                <a:solidFill>
                  <a:srgbClr val="64748B"/>
                </a:solidFill>
                <a:latin typeface="Calibri"/>
              </a:rPr>
              <a:t>Try it: Any trip: compare the Est. time on each route</a:t>
            </a:r>
            <a:endParaRPr lang="en-US" sz="1200" dirty="0"/>
          </a:p>
        </p:txBody>
      </p:sp>
      <p:sp>
        <p:nvSpPr>
          <p:cNvPr id="21" name="Customize with AI card"/>
          <p:cNvSpPr/>
          <p:nvPr/>
        </p:nvSpPr>
        <p:spPr>
          <a:xfrm>
            <a:off x="6172200" y="3931920"/>
            <a:ext cx="5349240" cy="2057400"/>
          </a:xfrm>
          <a:prstGeom prst="roundRect">
            <a:avLst>
              <a:gd name="adj" fmla="val 5333"/>
            </a:avLst>
          </a:prstGeom>
          <a:solidFill>
            <a:srgbClr val="EEF3F1"/>
          </a:solidFill>
          <a:ln/>
        </p:spPr>
      </p:sp>
      <p:sp>
        <p:nvSpPr>
          <p:cNvPr id="22" name="Customize with AI circle"/>
          <p:cNvSpPr/>
          <p:nvPr/>
        </p:nvSpPr>
        <p:spPr>
          <a:xfrm>
            <a:off x="6400800" y="4160520"/>
            <a:ext cx="502920" cy="502920"/>
          </a:xfrm>
          <a:prstGeom prst="ellipse">
            <a:avLst/>
          </a:prstGeom>
          <a:solidFill>
            <a:srgbClr val="0E9F6E"/>
          </a:solidFill>
          <a:ln/>
        </p:spPr>
      </p:sp>
      <p:pic>
        <p:nvPicPr>
          <p:cNvPr id="23" name="Customize with AI icon" descr="Customize with AI">    </p:cNvPr>
          <p:cNvPicPr>
            <a:picLocks noChangeAspect="1"/>
          </p:cNvPicPr>
          <p:nvPr/>
        </p:nvPicPr>
        <p:blipFill>
          <a:blip r:embed="rId4"/>
          <a:stretch>
            <a:fillRect/>
          </a:stretch>
        </p:blipFill>
        <p:spPr>
          <a:xfrm>
            <a:off x="6526530" y="4286250"/>
            <a:ext cx="251460" cy="251460"/>
          </a:xfrm>
          <a:prstGeom prst="rect">
            <a:avLst/>
          </a:prstGeom>
        </p:spPr>
      </p:pic>
      <p:sp>
        <p:nvSpPr>
          <p:cNvPr id="24" name="Text 18"/>
          <p:cNvSpPr txBox="1"/>
          <p:nvPr/>
        </p:nvSpPr>
        <p:spPr>
          <a:xfrm>
            <a:off x="7040880" y="4114800"/>
            <a:ext cx="4343400" cy="640080"/>
          </a:xfrm>
          <a:prstGeom prst="rect">
            <a:avLst/>
          </a:prstGeom>
          <a:noFill/>
          <a:ln/>
        </p:spPr>
        <p:txBody>
          <a:bodyPr wrap="square" lIns="0" tIns="0" rIns="0" bIns="0" rtlCol="0" anchor="t"/>
          <a:lstStyle/>
          <a:p>
            <a:pPr indent="0" marL="0">
              <a:buNone/>
            </a:pPr>
            <a:r>
              <a:rPr lang="en-US" sz="1700" b="1" dirty="0">
                <a:solidFill>
                  <a:srgbClr val="13202B"/>
                </a:solidFill>
                <a:latin typeface="Calibri"/>
              </a:rPr>
              <a:t>Customize with AI</a:t>
            </a:r>
            <a:endParaRPr lang="en-US" sz="1700" dirty="0"/>
          </a:p>
          <a:p>
            <a:pPr indent="0" marL="0">
              <a:buNone/>
            </a:pPr>
            <a:r>
              <a:rPr lang="en-US" sz="1200" dirty="0">
                <a:solidFill>
                  <a:srgbClr val="64748B"/>
                </a:solidFill>
                <a:latin typeface="Calibri"/>
              </a:rPr>
              <a:t>Data: Same controls you use, plus 3,712 real places</a:t>
            </a:r>
            <a:endParaRPr lang="en-US" sz="1700" dirty="0"/>
          </a:p>
        </p:txBody>
      </p:sp>
      <p:sp>
        <p:nvSpPr>
          <p:cNvPr id="25" name="Text 19"/>
          <p:cNvSpPr txBox="1"/>
          <p:nvPr/>
        </p:nvSpPr>
        <p:spPr>
          <a:xfrm>
            <a:off x="6400800" y="4846320"/>
            <a:ext cx="4937760" cy="457200"/>
          </a:xfrm>
          <a:prstGeom prst="rect">
            <a:avLst/>
          </a:prstGeom>
          <a:noFill/>
          <a:ln/>
        </p:spPr>
        <p:txBody>
          <a:bodyPr wrap="square" lIns="0" tIns="0" rIns="0" bIns="0" rtlCol="0" anchor="ctr"/>
          <a:lstStyle/>
          <a:p>
            <a:pPr indent="0" marL="0">
              <a:buNone/>
            </a:pPr>
            <a:r>
              <a:rPr lang="en-US" sz="2400" b="1" dirty="0">
                <a:solidFill>
                  <a:srgbClr val="0E9F6E"/>
                </a:solidFill>
                <a:latin typeface="Calibri"/>
              </a:rPr>
              <a:t>1 sentence</a:t>
            </a:r>
            <a:endParaRPr lang="en-US" sz="2400" dirty="0"/>
          </a:p>
        </p:txBody>
      </p:sp>
      <p:sp>
        <p:nvSpPr>
          <p:cNvPr id="26" name="Text 20"/>
          <p:cNvSpPr txBox="1"/>
          <p:nvPr/>
        </p:nvSpPr>
        <p:spPr>
          <a:xfrm>
            <a:off x="6400800" y="5303520"/>
            <a:ext cx="4937760" cy="640080"/>
          </a:xfrm>
          <a:prstGeom prst="rect">
            <a:avLst/>
          </a:prstGeom>
          <a:noFill/>
          <a:ln/>
        </p:spPr>
        <p:txBody>
          <a:bodyPr wrap="square" lIns="0" tIns="0" rIns="0" bIns="0" rtlCol="0" anchor="t"/>
          <a:lstStyle/>
          <a:p>
            <a:pPr indent="0" marL="0">
              <a:buNone/>
            </a:pPr>
            <a:r>
              <a:rPr lang="en-US" sz="1200" dirty="0">
                <a:solidFill>
                  <a:srgbClr val="3B4A57"/>
                </a:solidFill>
                <a:latin typeface="Calibri"/>
              </a:rPr>
              <a:t>"Flat ride please, with boba and a park on the way" → a For you ride, 5.4 mi, 2 stops</a:t>
            </a:r>
            <a:endParaRPr lang="en-US" sz="1200" dirty="0"/>
          </a:p>
          <a:p>
            <a:pPr indent="0" marL="0">
              <a:buNone/>
            </a:pPr>
            <a:r>
              <a:rPr lang="en-US" sz="1100" i="1" dirty="0">
                <a:solidFill>
                  <a:srgbClr val="64748B"/>
                </a:solidFill>
                <a:latin typeface="Calibri"/>
              </a:rPr>
              <a:t>Try it: Noe Valley → North Beach</a:t>
            </a:r>
            <a:endParaRPr lang="en-US" sz="1200" dirty="0"/>
          </a:p>
        </p:txBody>
      </p:sp>
      <p:sp>
        <p:nvSpPr>
          <p:cNvPr id="27" name="Text 21"/>
          <p:cNvSpPr txBox="1"/>
          <p:nvPr/>
        </p:nvSpPr>
        <p:spPr>
          <a:xfrm>
            <a:off x="640080" y="6080760"/>
            <a:ext cx="1088136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a:rPr>
              <a:t>Danger scores come from our trained model; hills, lights and ride time come straight from measured city data.</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latin typeface="Calibri"/>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rgbClr val="13202B"/>
                </a:solidFill>
                <a:latin typeface="Calibri"/>
              </a:rPr>
              <a:t>Safer routes cut time in flagged areas by 70%</a:t>
            </a:r>
            <a:endParaRPr lang="en-US" sz="3200" dirty="0"/>
          </a:p>
        </p:txBody>
      </p:sp>
      <p:sp>
        <p:nvSpPr>
          <p:cNvPr id="3" name="legend Fastest"/>
          <p:cNvSpPr/>
          <p:nvPr/>
        </p:nvSpPr>
        <p:spPr>
          <a:xfrm>
            <a:off x="3017520" y="1810512"/>
            <a:ext cx="201168" cy="201168"/>
          </a:xfrm>
          <a:prstGeom prst="rect">
            <a:avLst/>
          </a:prstGeom>
          <a:solidFill>
            <a:srgbClr val="64748B"/>
          </a:solidFill>
          <a:ln/>
        </p:spPr>
      </p:sp>
      <p:sp>
        <p:nvSpPr>
          <p:cNvPr id="4" name="Text 2"/>
          <p:cNvSpPr txBox="1"/>
          <p:nvPr/>
        </p:nvSpPr>
        <p:spPr>
          <a:xfrm>
            <a:off x="3291840" y="1737360"/>
            <a:ext cx="1097280" cy="347472"/>
          </a:xfrm>
          <a:prstGeom prst="rect">
            <a:avLst/>
          </a:prstGeom>
          <a:noFill/>
          <a:ln/>
        </p:spPr>
        <p:txBody>
          <a:bodyPr wrap="square" lIns="0" tIns="0" rIns="0" bIns="0" rtlCol="0" anchor="ctr"/>
          <a:lstStyle/>
          <a:p>
            <a:pPr indent="0" marL="0">
              <a:buNone/>
            </a:pPr>
            <a:r>
              <a:rPr lang="en-US" sz="1400" dirty="0">
                <a:solidFill>
                  <a:srgbClr val="3B4A57"/>
                </a:solidFill>
                <a:latin typeface="Calibri"/>
              </a:rPr>
              <a:t>Fastest</a:t>
            </a:r>
            <a:endParaRPr lang="en-US" sz="1400" dirty="0"/>
          </a:p>
        </p:txBody>
      </p:sp>
      <p:sp>
        <p:nvSpPr>
          <p:cNvPr id="5" name="legend Safest"/>
          <p:cNvSpPr/>
          <p:nvPr/>
        </p:nvSpPr>
        <p:spPr>
          <a:xfrm>
            <a:off x="4434840" y="1810512"/>
            <a:ext cx="201168" cy="201168"/>
          </a:xfrm>
          <a:prstGeom prst="rect">
            <a:avLst/>
          </a:prstGeom>
          <a:solidFill>
            <a:srgbClr val="0E9F6E"/>
          </a:solidFill>
          <a:ln/>
        </p:spPr>
      </p:sp>
      <p:sp>
        <p:nvSpPr>
          <p:cNvPr id="6" name="Text 4"/>
          <p:cNvSpPr txBox="1"/>
          <p:nvPr/>
        </p:nvSpPr>
        <p:spPr>
          <a:xfrm>
            <a:off x="4709160" y="1737360"/>
            <a:ext cx="2194560" cy="347472"/>
          </a:xfrm>
          <a:prstGeom prst="rect">
            <a:avLst/>
          </a:prstGeom>
          <a:noFill/>
          <a:ln/>
        </p:spPr>
        <p:txBody>
          <a:bodyPr wrap="square" lIns="0" tIns="0" rIns="0" bIns="0" rtlCol="0" anchor="ctr"/>
          <a:lstStyle/>
          <a:p>
            <a:pPr indent="0" marL="0">
              <a:buNone/>
            </a:pPr>
            <a:r>
              <a:rPr lang="en-US" sz="1400" dirty="0">
                <a:solidFill>
                  <a:srgbClr val="3B4A57"/>
                </a:solidFill>
                <a:latin typeface="Calibri"/>
              </a:rPr>
              <a:t>Safest + bike lanes</a:t>
            </a:r>
            <a:endParaRPr lang="en-US" sz="1400" dirty="0"/>
          </a:p>
        </p:txBody>
      </p:sp>
      <p:sp>
        <p:nvSpPr>
          <p:cNvPr id="7" name="Text 5"/>
          <p:cNvSpPr txBox="1"/>
          <p:nvPr/>
        </p:nvSpPr>
        <p:spPr>
          <a:xfrm>
            <a:off x="640080" y="2423160"/>
            <a:ext cx="2286000" cy="777240"/>
          </a:xfrm>
          <a:prstGeom prst="rect">
            <a:avLst/>
          </a:prstGeom>
          <a:noFill/>
          <a:ln/>
        </p:spPr>
        <p:txBody>
          <a:bodyPr wrap="square" lIns="0" tIns="0" rIns="0" bIns="0" rtlCol="0" anchor="ctr"/>
          <a:lstStyle/>
          <a:p>
            <a:pPr indent="0" marL="0">
              <a:buNone/>
            </a:pPr>
            <a:r>
              <a:rPr lang="en-US" sz="1500" b="1" dirty="0">
                <a:solidFill>
                  <a:srgbClr val="13202B"/>
                </a:solidFill>
                <a:latin typeface="Calibri"/>
              </a:rPr>
              <a:t>Ride inside flagged areas</a:t>
            </a:r>
            <a:endParaRPr lang="en-US" sz="1500" dirty="0"/>
          </a:p>
          <a:p>
            <a:pPr indent="0" marL="0">
              <a:buNone/>
            </a:pPr>
            <a:r>
              <a:rPr lang="en-US" sz="1200" dirty="0">
                <a:solidFill>
                  <a:srgbClr val="3B4A57"/>
                </a:solidFill>
                <a:latin typeface="Calibri"/>
              </a:rPr>
              <a:t>% of the ride</a:t>
            </a:r>
            <a:endParaRPr lang="en-US" sz="1500" dirty="0"/>
          </a:p>
        </p:txBody>
      </p:sp>
      <p:sp>
        <p:nvSpPr>
          <p:cNvPr id="8" name="Ride inside flagged areas — Fastest"/>
          <p:cNvSpPr/>
          <p:nvPr/>
        </p:nvSpPr>
        <p:spPr>
          <a:xfrm>
            <a:off x="3017520" y="2377440"/>
            <a:ext cx="2345253" cy="365760"/>
          </a:xfrm>
          <a:prstGeom prst="rect">
            <a:avLst/>
          </a:prstGeom>
          <a:solidFill>
            <a:srgbClr val="64748B"/>
          </a:solidFill>
          <a:ln/>
        </p:spPr>
      </p:sp>
      <p:sp>
        <p:nvSpPr>
          <p:cNvPr id="9" name="Text 7"/>
          <p:cNvSpPr txBox="1"/>
          <p:nvPr/>
        </p:nvSpPr>
        <p:spPr>
          <a:xfrm>
            <a:off x="5454213" y="2377440"/>
            <a:ext cx="731520" cy="365760"/>
          </a:xfrm>
          <a:prstGeom prst="rect">
            <a:avLst/>
          </a:prstGeom>
          <a:noFill/>
          <a:ln/>
        </p:spPr>
        <p:txBody>
          <a:bodyPr wrap="square" lIns="0" tIns="0" rIns="0" bIns="0" rtlCol="0" anchor="ctr"/>
          <a:lstStyle/>
          <a:p>
            <a:pPr indent="0" marL="0">
              <a:buNone/>
            </a:pPr>
            <a:r>
              <a:rPr lang="en-US" sz="1400" b="1" dirty="0">
                <a:solidFill>
                  <a:srgbClr val="13202B"/>
                </a:solidFill>
                <a:latin typeface="Calibri"/>
              </a:rPr>
              <a:t>45.8</a:t>
            </a:r>
            <a:endParaRPr lang="en-US" sz="1400" dirty="0"/>
          </a:p>
        </p:txBody>
      </p:sp>
      <p:sp>
        <p:nvSpPr>
          <p:cNvPr id="10" name="Ride inside flagged areas — Safest + bike lanes"/>
          <p:cNvSpPr/>
          <p:nvPr/>
        </p:nvSpPr>
        <p:spPr>
          <a:xfrm>
            <a:off x="3017520" y="2807208"/>
            <a:ext cx="711769" cy="365760"/>
          </a:xfrm>
          <a:prstGeom prst="rect">
            <a:avLst/>
          </a:prstGeom>
          <a:solidFill>
            <a:srgbClr val="0E9F6E"/>
          </a:solidFill>
          <a:ln/>
        </p:spPr>
      </p:sp>
      <p:sp>
        <p:nvSpPr>
          <p:cNvPr id="11" name="Text 9"/>
          <p:cNvSpPr txBox="1"/>
          <p:nvPr/>
        </p:nvSpPr>
        <p:spPr>
          <a:xfrm>
            <a:off x="3820729" y="2807208"/>
            <a:ext cx="731520" cy="365760"/>
          </a:xfrm>
          <a:prstGeom prst="rect">
            <a:avLst/>
          </a:prstGeom>
          <a:noFill/>
          <a:ln/>
        </p:spPr>
        <p:txBody>
          <a:bodyPr wrap="square" lIns="0" tIns="0" rIns="0" bIns="0" rtlCol="0" anchor="ctr"/>
          <a:lstStyle/>
          <a:p>
            <a:pPr indent="0" marL="0">
              <a:buNone/>
            </a:pPr>
            <a:r>
              <a:rPr lang="en-US" sz="1400" b="1" dirty="0">
                <a:solidFill>
                  <a:srgbClr val="13202B"/>
                </a:solidFill>
                <a:latin typeface="Calibri"/>
              </a:rPr>
              <a:t>13.9</a:t>
            </a:r>
            <a:endParaRPr lang="en-US" sz="1400" dirty="0"/>
          </a:p>
        </p:txBody>
      </p:sp>
      <p:sp>
        <p:nvSpPr>
          <p:cNvPr id="12" name="Text 10"/>
          <p:cNvSpPr txBox="1"/>
          <p:nvPr/>
        </p:nvSpPr>
        <p:spPr>
          <a:xfrm>
            <a:off x="640080" y="3611880"/>
            <a:ext cx="2286000" cy="777240"/>
          </a:xfrm>
          <a:prstGeom prst="rect">
            <a:avLst/>
          </a:prstGeom>
          <a:noFill/>
          <a:ln/>
        </p:spPr>
        <p:txBody>
          <a:bodyPr wrap="square" lIns="0" tIns="0" rIns="0" bIns="0" rtlCol="0" anchor="ctr"/>
          <a:lstStyle/>
          <a:p>
            <a:pPr indent="0" marL="0">
              <a:buNone/>
            </a:pPr>
            <a:r>
              <a:rPr lang="en-US" sz="1500" b="1" dirty="0">
                <a:solidFill>
                  <a:srgbClr val="13202B"/>
                </a:solidFill>
                <a:latin typeface="Calibri"/>
              </a:rPr>
              <a:t>Average street danger</a:t>
            </a:r>
            <a:endParaRPr lang="en-US" sz="1500" dirty="0"/>
          </a:p>
          <a:p>
            <a:pPr indent="0" marL="0">
              <a:buNone/>
            </a:pPr>
            <a:r>
              <a:rPr lang="en-US" sz="1200" dirty="0">
                <a:solidFill>
                  <a:srgbClr val="3B4A57"/>
                </a:solidFill>
                <a:latin typeface="Calibri"/>
              </a:rPr>
              <a:t>0–100 score</a:t>
            </a:r>
            <a:endParaRPr lang="en-US" sz="1500" dirty="0"/>
          </a:p>
        </p:txBody>
      </p:sp>
      <p:sp>
        <p:nvSpPr>
          <p:cNvPr id="13" name="Average street danger — Fastest"/>
          <p:cNvSpPr/>
          <p:nvPr/>
        </p:nvSpPr>
        <p:spPr>
          <a:xfrm>
            <a:off x="3017520" y="3566160"/>
            <a:ext cx="3563965" cy="365760"/>
          </a:xfrm>
          <a:prstGeom prst="rect">
            <a:avLst/>
          </a:prstGeom>
          <a:solidFill>
            <a:srgbClr val="64748B"/>
          </a:solidFill>
          <a:ln/>
        </p:spPr>
      </p:sp>
      <p:sp>
        <p:nvSpPr>
          <p:cNvPr id="14" name="Text 12"/>
          <p:cNvSpPr txBox="1"/>
          <p:nvPr/>
        </p:nvSpPr>
        <p:spPr>
          <a:xfrm>
            <a:off x="6672925" y="3566160"/>
            <a:ext cx="731520" cy="365760"/>
          </a:xfrm>
          <a:prstGeom prst="rect">
            <a:avLst/>
          </a:prstGeom>
          <a:noFill/>
          <a:ln/>
        </p:spPr>
        <p:txBody>
          <a:bodyPr wrap="square" lIns="0" tIns="0" rIns="0" bIns="0" rtlCol="0" anchor="ctr"/>
          <a:lstStyle/>
          <a:p>
            <a:pPr indent="0" marL="0">
              <a:buNone/>
            </a:pPr>
            <a:r>
              <a:rPr lang="en-US" sz="1400" b="1" dirty="0">
                <a:solidFill>
                  <a:srgbClr val="13202B"/>
                </a:solidFill>
                <a:latin typeface="Calibri"/>
              </a:rPr>
              <a:t>69.6</a:t>
            </a:r>
            <a:endParaRPr lang="en-US" sz="1400" dirty="0"/>
          </a:p>
        </p:txBody>
      </p:sp>
      <p:sp>
        <p:nvSpPr>
          <p:cNvPr id="15" name="Average street danger — Safest + bike lanes"/>
          <p:cNvSpPr/>
          <p:nvPr/>
        </p:nvSpPr>
        <p:spPr>
          <a:xfrm>
            <a:off x="3017520" y="3995928"/>
            <a:ext cx="2575682" cy="365760"/>
          </a:xfrm>
          <a:prstGeom prst="rect">
            <a:avLst/>
          </a:prstGeom>
          <a:solidFill>
            <a:srgbClr val="0E9F6E"/>
          </a:solidFill>
          <a:ln/>
        </p:spPr>
      </p:sp>
      <p:sp>
        <p:nvSpPr>
          <p:cNvPr id="16" name="Text 14"/>
          <p:cNvSpPr txBox="1"/>
          <p:nvPr/>
        </p:nvSpPr>
        <p:spPr>
          <a:xfrm>
            <a:off x="5684642" y="3995928"/>
            <a:ext cx="731520" cy="365760"/>
          </a:xfrm>
          <a:prstGeom prst="rect">
            <a:avLst/>
          </a:prstGeom>
          <a:noFill/>
          <a:ln/>
        </p:spPr>
        <p:txBody>
          <a:bodyPr wrap="square" lIns="0" tIns="0" rIns="0" bIns="0" rtlCol="0" anchor="ctr"/>
          <a:lstStyle/>
          <a:p>
            <a:pPr indent="0" marL="0">
              <a:buNone/>
            </a:pPr>
            <a:r>
              <a:rPr lang="en-US" sz="1400" b="1" dirty="0">
                <a:solidFill>
                  <a:srgbClr val="13202B"/>
                </a:solidFill>
                <a:latin typeface="Calibri"/>
              </a:rPr>
              <a:t>50.3</a:t>
            </a:r>
            <a:endParaRPr lang="en-US" sz="1400" dirty="0"/>
          </a:p>
        </p:txBody>
      </p:sp>
      <p:sp>
        <p:nvSpPr>
          <p:cNvPr id="17" name="Text 15"/>
          <p:cNvSpPr txBox="1"/>
          <p:nvPr/>
        </p:nvSpPr>
        <p:spPr>
          <a:xfrm>
            <a:off x="640080" y="4800600"/>
            <a:ext cx="2286000" cy="777240"/>
          </a:xfrm>
          <a:prstGeom prst="rect">
            <a:avLst/>
          </a:prstGeom>
          <a:noFill/>
          <a:ln/>
        </p:spPr>
        <p:txBody>
          <a:bodyPr wrap="square" lIns="0" tIns="0" rIns="0" bIns="0" rtlCol="0" anchor="ctr"/>
          <a:lstStyle/>
          <a:p>
            <a:pPr indent="0" marL="0">
              <a:buNone/>
            </a:pPr>
            <a:r>
              <a:rPr lang="en-US" sz="1500" b="1" dirty="0">
                <a:solidFill>
                  <a:srgbClr val="13202B"/>
                </a:solidFill>
                <a:latin typeface="Calibri"/>
              </a:rPr>
              <a:t>Ride on protected lanes</a:t>
            </a:r>
            <a:endParaRPr lang="en-US" sz="1500" dirty="0"/>
          </a:p>
          <a:p>
            <a:pPr indent="0" marL="0">
              <a:buNone/>
            </a:pPr>
            <a:r>
              <a:rPr lang="en-US" sz="1200" dirty="0">
                <a:solidFill>
                  <a:srgbClr val="3B4A57"/>
                </a:solidFill>
                <a:latin typeface="Calibri"/>
              </a:rPr>
              <a:t>% of the ride</a:t>
            </a:r>
            <a:endParaRPr lang="en-US" sz="1500" dirty="0"/>
          </a:p>
        </p:txBody>
      </p:sp>
      <p:sp>
        <p:nvSpPr>
          <p:cNvPr id="18" name="Ride on protected lanes — Fastest"/>
          <p:cNvSpPr/>
          <p:nvPr/>
        </p:nvSpPr>
        <p:spPr>
          <a:xfrm>
            <a:off x="3017520" y="4754880"/>
            <a:ext cx="947318" cy="365760"/>
          </a:xfrm>
          <a:prstGeom prst="rect">
            <a:avLst/>
          </a:prstGeom>
          <a:solidFill>
            <a:srgbClr val="64748B"/>
          </a:solidFill>
          <a:ln/>
        </p:spPr>
      </p:sp>
      <p:sp>
        <p:nvSpPr>
          <p:cNvPr id="19" name="Text 17"/>
          <p:cNvSpPr txBox="1"/>
          <p:nvPr/>
        </p:nvSpPr>
        <p:spPr>
          <a:xfrm>
            <a:off x="4056278" y="4754880"/>
            <a:ext cx="731520" cy="365760"/>
          </a:xfrm>
          <a:prstGeom prst="rect">
            <a:avLst/>
          </a:prstGeom>
          <a:noFill/>
          <a:ln/>
        </p:spPr>
        <p:txBody>
          <a:bodyPr wrap="square" lIns="0" tIns="0" rIns="0" bIns="0" rtlCol="0" anchor="ctr"/>
          <a:lstStyle/>
          <a:p>
            <a:pPr indent="0" marL="0">
              <a:buNone/>
            </a:pPr>
            <a:r>
              <a:rPr lang="en-US" sz="1400" b="1" dirty="0">
                <a:solidFill>
                  <a:srgbClr val="13202B"/>
                </a:solidFill>
                <a:latin typeface="Calibri"/>
              </a:rPr>
              <a:t>18.5</a:t>
            </a:r>
            <a:endParaRPr lang="en-US" sz="1400" dirty="0"/>
          </a:p>
        </p:txBody>
      </p:sp>
      <p:sp>
        <p:nvSpPr>
          <p:cNvPr id="20" name="Ride on protected lanes — Safest + bike lanes"/>
          <p:cNvSpPr/>
          <p:nvPr/>
        </p:nvSpPr>
        <p:spPr>
          <a:xfrm>
            <a:off x="3017520" y="5184648"/>
            <a:ext cx="1341608" cy="365760"/>
          </a:xfrm>
          <a:prstGeom prst="rect">
            <a:avLst/>
          </a:prstGeom>
          <a:solidFill>
            <a:srgbClr val="0E9F6E"/>
          </a:solidFill>
          <a:ln/>
        </p:spPr>
      </p:sp>
      <p:sp>
        <p:nvSpPr>
          <p:cNvPr id="21" name="Text 19"/>
          <p:cNvSpPr txBox="1"/>
          <p:nvPr/>
        </p:nvSpPr>
        <p:spPr>
          <a:xfrm>
            <a:off x="4450568" y="5184648"/>
            <a:ext cx="731520" cy="365760"/>
          </a:xfrm>
          <a:prstGeom prst="rect">
            <a:avLst/>
          </a:prstGeom>
          <a:noFill/>
          <a:ln/>
        </p:spPr>
        <p:txBody>
          <a:bodyPr wrap="square" lIns="0" tIns="0" rIns="0" bIns="0" rtlCol="0" anchor="ctr"/>
          <a:lstStyle/>
          <a:p>
            <a:pPr indent="0" marL="0">
              <a:buNone/>
            </a:pPr>
            <a:r>
              <a:rPr lang="en-US" sz="1400" b="1" dirty="0">
                <a:solidFill>
                  <a:srgbClr val="13202B"/>
                </a:solidFill>
                <a:latin typeface="Calibri"/>
              </a:rPr>
              <a:t>26.2</a:t>
            </a:r>
            <a:endParaRPr lang="en-US" sz="1400" dirty="0"/>
          </a:p>
        </p:txBody>
      </p:sp>
      <p:sp>
        <p:nvSpPr>
          <p:cNvPr id="22" name="Text 20"/>
          <p:cNvSpPr txBox="1"/>
          <p:nvPr/>
        </p:nvSpPr>
        <p:spPr>
          <a:xfrm>
            <a:off x="7955280" y="1783080"/>
            <a:ext cx="3657600" cy="1143000"/>
          </a:xfrm>
          <a:prstGeom prst="rect">
            <a:avLst/>
          </a:prstGeom>
          <a:noFill/>
          <a:ln/>
        </p:spPr>
        <p:txBody>
          <a:bodyPr wrap="square" lIns="0" tIns="0" rIns="0" bIns="0" rtlCol="0" anchor="t"/>
          <a:lstStyle/>
          <a:p>
            <a:pPr indent="0" marL="0">
              <a:spcAft>
                <a:spcPts val="200"/>
              </a:spcAft>
              <a:buNone/>
            </a:pPr>
            <a:r>
              <a:rPr lang="en-US" sz="3000" b="1" dirty="0">
                <a:solidFill>
                  <a:srgbClr val="0E9F6E"/>
                </a:solidFill>
                <a:latin typeface="Calibri"/>
              </a:rPr>
              <a:t>−70%</a:t>
            </a:r>
            <a:endParaRPr lang="en-US" sz="3000" dirty="0"/>
          </a:p>
          <a:p>
            <a:pPr indent="0" marL="0">
              <a:spcAft>
                <a:spcPts val="200"/>
              </a:spcAft>
              <a:buNone/>
            </a:pPr>
            <a:r>
              <a:rPr lang="en-US" sz="1500" dirty="0">
                <a:solidFill>
                  <a:srgbClr val="3B4A57"/>
                </a:solidFill>
                <a:latin typeface="Calibri"/>
              </a:rPr>
              <a:t>time spent inside flagged areas</a:t>
            </a:r>
            <a:endParaRPr lang="en-US" sz="3000" dirty="0"/>
          </a:p>
        </p:txBody>
      </p:sp>
      <p:sp>
        <p:nvSpPr>
          <p:cNvPr id="23" name="Text 21"/>
          <p:cNvSpPr txBox="1"/>
          <p:nvPr/>
        </p:nvSpPr>
        <p:spPr>
          <a:xfrm>
            <a:off x="7955280" y="2807208"/>
            <a:ext cx="3657600" cy="1143000"/>
          </a:xfrm>
          <a:prstGeom prst="rect">
            <a:avLst/>
          </a:prstGeom>
          <a:noFill/>
          <a:ln/>
        </p:spPr>
        <p:txBody>
          <a:bodyPr wrap="square" lIns="0" tIns="0" rIns="0" bIns="0" rtlCol="0" anchor="t"/>
          <a:lstStyle/>
          <a:p>
            <a:pPr indent="0" marL="0">
              <a:spcAft>
                <a:spcPts val="200"/>
              </a:spcAft>
              <a:buNone/>
            </a:pPr>
            <a:r>
              <a:rPr lang="en-US" sz="3000" b="1" dirty="0">
                <a:solidFill>
                  <a:srgbClr val="0E9F6E"/>
                </a:solidFill>
                <a:latin typeface="Calibri"/>
              </a:rPr>
              <a:t>7 → 1</a:t>
            </a:r>
            <a:endParaRPr lang="en-US" sz="3000" dirty="0"/>
          </a:p>
          <a:p>
            <a:pPr indent="0" marL="0">
              <a:spcAft>
                <a:spcPts val="200"/>
              </a:spcAft>
              <a:buNone/>
            </a:pPr>
            <a:r>
              <a:rPr lang="en-US" sz="1500" dirty="0">
                <a:solidFill>
                  <a:srgbClr val="3B4A57"/>
                </a:solidFill>
                <a:latin typeface="Calibri"/>
              </a:rPr>
              <a:t>of 10 trips enter a Severe area</a:t>
            </a:r>
            <a:endParaRPr lang="en-US" sz="3000" dirty="0"/>
          </a:p>
        </p:txBody>
      </p:sp>
      <p:sp>
        <p:nvSpPr>
          <p:cNvPr id="24" name="Text 22"/>
          <p:cNvSpPr txBox="1"/>
          <p:nvPr/>
        </p:nvSpPr>
        <p:spPr>
          <a:xfrm>
            <a:off x="7955280" y="3831336"/>
            <a:ext cx="3657600" cy="1143000"/>
          </a:xfrm>
          <a:prstGeom prst="rect">
            <a:avLst/>
          </a:prstGeom>
          <a:noFill/>
          <a:ln/>
        </p:spPr>
        <p:txBody>
          <a:bodyPr wrap="square" lIns="0" tIns="0" rIns="0" bIns="0" rtlCol="0" anchor="t"/>
          <a:lstStyle/>
          <a:p>
            <a:pPr indent="0" marL="0">
              <a:spcAft>
                <a:spcPts val="200"/>
              </a:spcAft>
              <a:buNone/>
            </a:pPr>
            <a:r>
              <a:rPr lang="en-US" sz="3000" b="1" dirty="0">
                <a:solidFill>
                  <a:srgbClr val="0E9F6E"/>
                </a:solidFill>
                <a:latin typeface="Calibri"/>
              </a:rPr>
              <a:t>−28%</a:t>
            </a:r>
            <a:endParaRPr lang="en-US" sz="3000" dirty="0"/>
          </a:p>
          <a:p>
            <a:pPr indent="0" marL="0">
              <a:spcAft>
                <a:spcPts val="200"/>
              </a:spcAft>
              <a:buNone/>
            </a:pPr>
            <a:r>
              <a:rPr lang="en-US" sz="1500" dirty="0">
                <a:solidFill>
                  <a:srgbClr val="3B4A57"/>
                </a:solidFill>
                <a:latin typeface="Calibri"/>
              </a:rPr>
              <a:t>average street danger; 1.4× protected lanes</a:t>
            </a:r>
            <a:endParaRPr lang="en-US" sz="3000" dirty="0"/>
          </a:p>
        </p:txBody>
      </p:sp>
      <p:sp>
        <p:nvSpPr>
          <p:cNvPr id="25" name="Text 23"/>
          <p:cNvSpPr txBox="1"/>
          <p:nvPr/>
        </p:nvSpPr>
        <p:spPr>
          <a:xfrm>
            <a:off x="7955280" y="4855464"/>
            <a:ext cx="3657600" cy="1143000"/>
          </a:xfrm>
          <a:prstGeom prst="rect">
            <a:avLst/>
          </a:prstGeom>
          <a:noFill/>
          <a:ln/>
        </p:spPr>
        <p:txBody>
          <a:bodyPr wrap="square" lIns="0" tIns="0" rIns="0" bIns="0" rtlCol="0" anchor="t"/>
          <a:lstStyle/>
          <a:p>
            <a:pPr indent="0" marL="0">
              <a:spcAft>
                <a:spcPts val="200"/>
              </a:spcAft>
              <a:buNone/>
            </a:pPr>
            <a:r>
              <a:rPr lang="en-US" sz="3000" b="1" dirty="0">
                <a:solidFill>
                  <a:srgbClr val="D97706"/>
                </a:solidFill>
                <a:latin typeface="Calibri"/>
              </a:rPr>
              <a:t>+33%</a:t>
            </a:r>
            <a:endParaRPr lang="en-US" sz="3000" dirty="0"/>
          </a:p>
          <a:p>
            <a:pPr indent="0" marL="0">
              <a:spcAft>
                <a:spcPts val="200"/>
              </a:spcAft>
              <a:buNone/>
            </a:pPr>
            <a:r>
              <a:rPr lang="en-US" sz="1500" dirty="0">
                <a:solidFill>
                  <a:srgbClr val="3B4A57"/>
                </a:solidFill>
                <a:latin typeface="Calibri"/>
              </a:rPr>
              <a:t>ride time — the honest cost, shown on every route</a:t>
            </a:r>
            <a:endParaRPr lang="en-US" sz="3000" dirty="0"/>
          </a:p>
        </p:txBody>
      </p:sp>
      <p:sp>
        <p:nvSpPr>
          <p:cNvPr id="26" name="Text 24"/>
          <p:cNvSpPr txBox="1"/>
          <p:nvPr/>
        </p:nvSpPr>
        <p:spPr>
          <a:xfrm>
            <a:off x="640080" y="5943600"/>
            <a:ext cx="694944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a:rPr>
              <a:t>10 trips typed into the app (first address suggestion), averaged per trip, Oct 14, 2026. Full list in the appendix.</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latin typeface="Calibri"/>
              </a:rPr>
              <a:t>3</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rgbClr val="13202B"/>
                </a:solidFill>
                <a:latin typeface="Calibri"/>
              </a:rPr>
              <a:t>Appendix: where every number comes from</a:t>
            </a:r>
            <a:endParaRPr lang="en-US" sz="3200" dirty="0"/>
          </a:p>
        </p:txBody>
      </p:sp>
      <p:graphicFrame>
        <p:nvGraphicFramePr>
          <p:cNvPr id="5" name="Sources for every number"/>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3931920"/>
                <a:gridCol w="4206240"/>
                <a:gridCol w="274320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Number in the deck</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Show it live (From → To, as typed)</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1,103 cyclists killed, 52,887 injured (US, 2024)</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NHTSA Traffic Safety Facts, 2024 Data: Bicyclists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4% of SF street miles hold 55% of severe/fatal bike injuries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SFMTA Vision Zero High Injury Network (cyclist corridors)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Neighborhood view on any trip</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About half of big-city adults want to bike but worry about safety</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Dill &amp; McNeil, Transportation Research Record 2587 (2016)</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Google route: 39% in Severe areas, 67% unprotected</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Google Maps bicycling directions, captured Oct 14, 2026; SFMTA bike-network data</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Grace Cathedral → Patricia's Green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−70% flagged, −28% danger, 1.4× lanes, +33% time, 7→1 of 10</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BetterRoutes, 10 trips (next slide)</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Any trip on the next slide</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Danger 62 → 32, protected 11% → 53%, +26 min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BetterRoutes, Safest + bike lanes vs Fastest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Steepest 21.8% → 8.6%, climbing 1,027 → 518 ft, −7 min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BetterRoutes, Safest with Avoid hills off/on</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Traffic lights 35 → 17 → 12</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BetterRoutes: Fastest / Safest / Safest + Fewer traffic lights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3,558 crashes · 5,455 lane segments · 5,566 highways · 1,314 signals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DataSF crashes 2019+; SFMTA bike network &amp; signals; OpenStreetMap</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lib/data/*.json in the repo</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211,221 street segments · 3,712 places · 177,023 buildings</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OpenStreetMap; DataSF building footprints (LiDAR)</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3D tour shows the building count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411 automated tests, all passing</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Vitest suite in the repo</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npm test</a:t>
                      </a:r>
                      <a:endParaRPr lang="en-US" sz="1100" dirty="0">
                        <a:latin typeface="Calibri" charset="0"/>
                        <a:ea typeface="Calibri" charset="0"/>
                        <a:cs typeface="Calibri" charset="0"/>
                      </a:endParaRPr>
                    </a:p>
                  </a:txBody>
                  <a:tcPr marL="54864" marR="54864" marT="54864" marB="54864"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latin typeface="Calibri"/>
              </a:rPr>
              <a:t>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rgbClr val="13202B"/>
                </a:solidFill>
                <a:latin typeface="Calibri"/>
              </a:rPr>
              <a:t>Appendix: the 10 trips behind the results</a:t>
            </a:r>
            <a:endParaRPr lang="en-US" sz="3200" dirty="0"/>
          </a:p>
        </p:txBody>
      </p:sp>
      <p:graphicFrame>
        <p:nvGraphicFramePr>
          <p:cNvPr id="6" name="10-trip evidence table"/>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3749040"/>
                <a:gridCol w="1600200"/>
                <a:gridCol w="1691640"/>
                <a:gridCol w="1188720"/>
                <a:gridCol w="1463040"/>
                <a:gridCol w="118872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From → To (as typed)</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Fastest: in flagged areas</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Safest + lanes: in flagged areas</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Danger</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Protected lanes</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13202B"/>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Ocean Beach → Ferry Building</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23.9%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62.1 → 31.9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10.6% → 53.1%</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70 → 96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Pacific Heights → Mission Street &amp; 17th Street</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53.7%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74.6 → 56.8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1.5% → 27.2%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25 → 42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Marina Green → Dolores Park</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27.2%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17.1%</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56.6 → 45.3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0.9% → 18.3%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37 → 43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Noe Valley → North Beach</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45.2%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14.5%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71 → 48.5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32.9% → 1.3%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43 → 53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Grace Cathedral → Hayes Valley</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78.3%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88.6 → 69.9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11.8% → 8.4%</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15 → 17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Chinatown → Dolores Park</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58.1%</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14.6%</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74.1 → 67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39.2% → 19.7%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34 → 41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Union Square → Lower Haight</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57.2%</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74 → 68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30.2% → 1.7%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21 → 30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Clement Street &amp; 6th Avenue → Potrero Hill</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36.8%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66.6 → 49.4</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4.2% → 12.5%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53 → 66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Marina Green → Potrero Hill</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47.3%</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63.6 → 34.7</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33.7% → 65%</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55 → 72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EEF3F1"/>
                    </a:solidFill>
                  </a:tcPr>
                </a:tc>
              </a:tr>
              <a:tr h="365760">
                <a:tc>
                  <a:txBody>
                    <a:bodyPr/>
                    <a:lstStyle/>
                    <a:p>
                      <a:pPr algn="l" indent="0" marL="0">
                        <a:buNone/>
                      </a:pPr>
                      <a:r>
                        <a:rPr lang="en-US" sz="1100" dirty="0">
                          <a:solidFill>
                            <a:srgbClr val="13202B"/>
                          </a:solidFill>
                          <a:latin typeface="Calibri" pitchFamily="34" charset="0"/>
                          <a:ea typeface="Calibri" pitchFamily="34" charset="-122"/>
                          <a:cs typeface="Calibri" pitchFamily="34" charset="-120"/>
                        </a:rPr>
                        <a:t>Golden Gate Park → Ferry Building</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65.3 → 31.9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20.2% → 54.9%</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3202B"/>
                          </a:solidFill>
                          <a:latin typeface="Calibri" pitchFamily="34" charset="0"/>
                          <a:ea typeface="Calibri" pitchFamily="34" charset="-122"/>
                          <a:cs typeface="Calibri" pitchFamily="34" charset="-120"/>
                        </a:rPr>
                        <a:t>56 → 84 min</a:t>
                      </a:r>
                      <a:endParaRPr lang="en-US" sz="1100" dirty="0">
                        <a:latin typeface="Calibri" charset="0"/>
                        <a:ea typeface="Calibri" charset="0"/>
                        <a:cs typeface="Calibri" charset="0"/>
                      </a:endParaRPr>
                    </a:p>
                  </a:txBody>
                  <a:tcPr marL="45720" marR="45720" marT="45720" marB="45720" anchor="ctr">
                    <a:lnL w="6350" cap="flat" cmpd="sng" algn="ctr">
                      <a:solidFill>
                        <a:srgbClr val="D9E2DE"/>
                      </a:solidFill>
                      <a:prstDash val="solid"/>
                      <a:round/>
                      <a:headEnd type="none" w="med" len="med"/>
                      <a:tailEnd type="none" w="med" len="med"/>
                    </a:lnL>
                    <a:lnR w="6350" cap="flat" cmpd="sng" algn="ctr">
                      <a:solidFill>
                        <a:srgbClr val="D9E2DE"/>
                      </a:solidFill>
                      <a:prstDash val="solid"/>
                      <a:round/>
                      <a:headEnd type="none" w="med" len="med"/>
                      <a:tailEnd type="none" w="med" len="med"/>
                    </a:lnR>
                    <a:lnT w="6350" cap="flat" cmpd="sng" algn="ctr">
                      <a:solidFill>
                        <a:srgbClr val="D9E2DE"/>
                      </a:solidFill>
                      <a:prstDash val="solid"/>
                      <a:round/>
                      <a:headEnd type="none" w="med" len="med"/>
                      <a:tailEnd type="none" w="med" len="med"/>
                    </a:lnT>
                    <a:lnB w="6350" cap="flat" cmpd="sng" algn="ctr">
                      <a:solidFill>
                        <a:srgbClr val="D9E2DE"/>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40080" y="5943600"/>
            <a:ext cx="1088136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a:rPr>
              <a:t>Pick the first address suggestion. "Safest + lanes" is the app's "Safest + bike lanes" option. Measured Oct 14, 2026.</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latin typeface="Calibri"/>
              </a:rPr>
              <a:t>5</a:t>
            </a:fld>
            <a:endParaRPr lang="en-US"/>
          </a:p>
        </p:txBody>
      </p:sp>
    </p:spTree>
  </p:cSld>
  <p:clrMapOvr>
    <a:masterClrMapping/>
  </p:clrMapOvr>
</p:sld>
</file>

<file path=ppt/theme/theme1.xml><?xml version="1.0" encoding="utf-8"?>
<a:theme xmlns:a="http://schemas.openxmlformats.org/drawingml/2006/main" xmlns:r="http://schemas.openxmlformats.org/officeDocument/2006/relationships" name="BetterRoutes">
  <a:themeElements>
    <a:clrScheme name="BetterRoutes">
      <a:dk1>
        <a:srgbClr val="13202B"/>
      </a:dk1>
      <a:lt1>
        <a:srgbClr val="13202B"/>
      </a:lt1>
      <a:dk2>
        <a:srgbClr val="A7A7A7"/>
      </a:dk2>
      <a:lt2>
        <a:srgbClr val="535353"/>
      </a:lt2>
      <a:accent1>
        <a:srgbClr val="0E9F6E"/>
      </a:accent1>
      <a:accent2>
        <a:srgbClr val="D97706"/>
      </a:accent2>
      <a:accent3>
        <a:srgbClr val="E5484D"/>
      </a:accent3>
      <a:accent4>
        <a:srgbClr val="7C3AED"/>
      </a:accent4>
      <a:accent5>
        <a:srgbClr val="64748B"/>
      </a:accent5>
      <a:accent6>
        <a:srgbClr val="0EA5E9"/>
      </a:accent6>
      <a:hlink>
        <a:srgbClr val="0000FF"/>
      </a:hlink>
      <a:folHlink>
        <a:srgbClr val="FF00FF"/>
      </a:folHlink>
    </a:clrScheme>
    <a:fontScheme name="BetterRoutes">
      <a:majorFont>
        <a:latin typeface="Calibri"/>
        <a:ea typeface="Calibri"/>
        <a:cs typeface="Calibri"/>
      </a:majorFont>
      <a:minorFont>
        <a:latin typeface="Helvetica"/>
        <a:ea typeface="Helvetica"/>
        <a:cs typeface="Helvetica"/>
      </a:minorFont>
    </a:fontScheme>
    <a:fmtScheme name="BetterRout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etterRoutes">
  <a:themeElements>
    <a:clrScheme name="BetterRoutes">
      <a:dk1>
        <a:srgbClr val="13202B"/>
      </a:dk1>
      <a:lt1>
        <a:srgbClr val="2B2118"/>
      </a:lt1>
      <a:dk2>
        <a:srgbClr val="A7A7A7"/>
      </a:dk2>
      <a:lt2>
        <a:srgbClr val="535353"/>
      </a:lt2>
      <a:accent1>
        <a:srgbClr val="0E9F6E"/>
      </a:accent1>
      <a:accent2>
        <a:srgbClr val="D97706"/>
      </a:accent2>
      <a:accent3>
        <a:srgbClr val="E5484D"/>
      </a:accent3>
      <a:accent4>
        <a:srgbClr val="7C3AED"/>
      </a:accent4>
      <a:accent5>
        <a:srgbClr val="64748B"/>
      </a:accent5>
      <a:accent6>
        <a:srgbClr val="0EA5E9"/>
      </a:accent6>
      <a:hlink>
        <a:srgbClr val="0000FF"/>
      </a:hlink>
      <a:folHlink>
        <a:srgbClr val="FF00FF"/>
      </a:folHlink>
    </a:clrScheme>
    <a:fontScheme name="BetterRoutes">
      <a:majorFont>
        <a:latin typeface="Calibri"/>
        <a:ea typeface="Calibri"/>
        <a:cs typeface="Calibri"/>
      </a:majorFont>
      <a:minorFont>
        <a:latin typeface="Helvetica"/>
        <a:ea typeface="Helvetica"/>
        <a:cs typeface="Helvetica"/>
      </a:minorFont>
    </a:fontScheme>
    <a:fmtScheme name="BetterRout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13202B"/>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